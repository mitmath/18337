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26"/>
  </p:normalViewPr>
  <p:slideViewPr>
    <p:cSldViewPr>
      <p:cViewPr varScale="1">
        <p:scale>
          <a:sx n="120" d="100"/>
          <a:sy n="120" d="100"/>
        </p:scale>
        <p:origin x="1944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  <p:sld r:id="rId2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_rels/viewProps.xml.rels><?xml version="1.0" encoding="UTF-8" standalone="yes"?>
<Relationships xmlns="http://schemas.openxmlformats.org/package/2006/relationships"><Relationship Id="rId2" Type="http://schemas.openxmlformats.org/officeDocument/2006/relationships/slide" Target="slides/slide32.xml"/><Relationship Id="rId1" Type="http://schemas.openxmlformats.org/officeDocument/2006/relationships/slide" Target="slides/slide2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E03F5A8-F3E1-4D9D-BF2D-88CD22F402A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AD6547E-4894-25ED-BD2C-90A0496954A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B9C601F0-C542-B262-F9A5-EF825A554D8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45D81C5-0B29-CD4E-8C5E-99B28DE5B0A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512000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D1291D8-FB05-7340-F707-92F03264AFD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4B57AFAC-8FDA-2BCD-9FEB-E53D60C9426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9C1E557-7A79-11D8-8200-6E76FBD0BB7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2E78224-766F-3848-A3AC-35D8E0EC212E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206000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35AC638-99FE-7631-1890-21CF4A0DE46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F3B7F6AF-BC0F-B117-B241-3A8024CEC67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528BB22-4EEE-AC81-2A7A-BFAA63651F1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4463ADB-CB73-2E4C-8394-1B10F45AFDE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5023128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898F174-1BC2-409E-4C98-FCE77A36661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E355AF-5FD3-6310-8433-AF59C9CE204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BCA3918-6549-A8A5-F68C-C1B1F80CCDE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2250AEA-5787-B844-9107-F955F8ADA122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46533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CCA180BE-077A-F992-E2E6-A99B95735E5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FFE8F986-56EA-B27D-D96F-685F277FCAE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8504B96E-A528-80F2-B399-296B5BA8C92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699B8EB-0EF9-144D-ACA4-5954F47C8136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10588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73A7FEC3-8388-7014-773D-8C012B09DD9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3F10E97-9478-6F9C-A6A8-7E047C1500A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3F2926E9-9084-6C8E-5C58-4A3105DA88C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411FC67-2271-9541-9B5D-6CB3492A232E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340309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2C3E2931-4E49-BB0B-5FC4-ADCE1BD6362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0978C01-0F29-3122-DAE0-2FC90792160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9AEFF56A-78F4-678B-74F1-1195AAB8763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E1CAD1E-BED7-7040-93BF-9929716AE56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368791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11D507-6E53-DBDA-7292-9DD0C08ED16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CA4D1E1-9108-BFFD-AA8F-1099D991C71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7E8CE4-B699-95C8-D67F-B435ED6075D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ACBC3BD-28BA-2D45-8716-BADC9ECF4B7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550248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E7D492A-EC39-BCA6-ED5D-A899C01D5CA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1DA1839-C5E3-5EB9-546B-599A31FC10E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5FB130-DD3E-40E3-4AD7-1233EC95C81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CCCF372-16A6-9E48-84A4-7AA06CBE513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431558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32F71EB-40A6-8EDC-5C4C-07C5ED7631C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AAEA9ED-A38E-52E3-8657-6EE864826F6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F716380-8B99-BE07-4BCE-05495E3E166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4D1B33F-0C19-024B-BD0A-829DA73C885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97939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5BC3935-8D89-3171-2440-5470F8097F8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BC5B5F0C-5156-851E-142B-76260DD41FE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6831B35-DB0F-2F8E-DCB6-2ACBDA7C40F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C87542A-0F61-FE46-A2C4-A9AE778F8543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336084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6E711944-B591-C8AB-8535-B92BC05B01F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9D1E8FFF-68E1-D088-947E-23290176F5A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1F619F60-A536-F8A5-482E-CF0A6C0230AB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smtClean="0">
                <a:latin typeface="Arial" charset="0"/>
                <a:ea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A2B2E4EA-33CE-AD46-52B9-F41D3274B8BA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 smtClean="0">
                <a:latin typeface="Arial" charset="0"/>
                <a:ea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4F8CB64E-2AD0-417A-1699-DE6633B147BB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1A9ED143-7B86-254A-98E5-B6415F6917FA}" type="slidenum">
              <a:rPr lang="en-US" altLang="en-US"/>
              <a:pPr/>
              <a:t>‹#›</a:t>
            </a:fld>
            <a:endParaRPr lang="en-US" altLang="en-US"/>
          </a:p>
        </p:txBody>
      </p:sp>
      <p:pic>
        <p:nvPicPr>
          <p:cNvPr id="1031" name="Picture 7" descr="mit_logo">
            <a:extLst>
              <a:ext uri="{FF2B5EF4-FFF2-40B4-BE49-F238E27FC236}">
                <a16:creationId xmlns:a16="http://schemas.microsoft.com/office/drawing/2014/main" id="{3BECD005-D0D5-12B3-03BF-D4EDD99D607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5124"/>
          <a:stretch>
            <a:fillRect/>
          </a:stretch>
        </p:blipFill>
        <p:spPr bwMode="auto">
          <a:xfrm>
            <a:off x="228600" y="6519863"/>
            <a:ext cx="99060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2" name="Text Box 8">
            <a:extLst>
              <a:ext uri="{FF2B5EF4-FFF2-40B4-BE49-F238E27FC236}">
                <a16:creationId xmlns:a16="http://schemas.microsoft.com/office/drawing/2014/main" id="{08E84F01-2DAF-DBC1-76F0-66F1BE09610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711200" y="6565900"/>
            <a:ext cx="725488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1400">
                <a:solidFill>
                  <a:srgbClr val="CC3300"/>
                </a:solidFill>
                <a:latin typeface="Arial" charset="0"/>
                <a:ea typeface="ＭＳ Ｐゴシック" charset="0"/>
              </a:rPr>
              <a:t>18.337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ＭＳ Ｐゴシック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ＭＳ Ｐゴシック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ＭＳ Ｐゴシック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ＭＳ Ｐゴシック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ＭＳ Ｐゴシック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ＭＳ Ｐゴシック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ＭＳ Ｐゴシック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ＭＳ Ｐゴシック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7" Type="http://schemas.openxmlformats.org/officeDocument/2006/relationships/oleObject" Target="../embeddings/oleObject4.bin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4.emf"/><Relationship Id="rId4" Type="http://schemas.openxmlformats.org/officeDocument/2006/relationships/oleObject" Target="../embeddings/oleObject2.bin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1C6EA820-8565-0245-62AA-26A96CA1BB35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/>
              <a:t>18.337 Parallel Prefix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B7502011-580B-B4F5-402A-ECDAAD23F99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/>
              <a:t>The Parallel Prefix Method</a:t>
            </a:r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B13D35E3-613F-3F81-6C62-9EFFD688DC6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lvl="1" eaLnBrk="1" hangingPunct="1">
              <a:lnSpc>
                <a:spcPct val="90000"/>
              </a:lnSpc>
            </a:pPr>
            <a:r>
              <a:rPr lang="en-US" altLang="en-US" sz="2400" dirty="0"/>
              <a:t>This is our first example of a parallel algorithm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400" dirty="0"/>
              <a:t>Watch closely what is being optimized for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en-US" sz="2000" dirty="0"/>
              <a:t>Parallel steps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400" dirty="0"/>
              <a:t>Beautiful idea with surprising uses</a:t>
            </a:r>
          </a:p>
          <a:p>
            <a:pPr lvl="1" eaLnBrk="1" hangingPunct="1">
              <a:lnSpc>
                <a:spcPct val="90000"/>
              </a:lnSpc>
            </a:pPr>
            <a:endParaRPr lang="en-US" altLang="en-US" sz="2400" dirty="0"/>
          </a:p>
          <a:p>
            <a:pPr lvl="1" eaLnBrk="1" hangingPunct="1">
              <a:lnSpc>
                <a:spcPct val="90000"/>
              </a:lnSpc>
            </a:pPr>
            <a:endParaRPr lang="en-US" altLang="en-US" sz="2400" dirty="0"/>
          </a:p>
          <a:p>
            <a:pPr marL="457200" lvl="1" indent="0" eaLnBrk="1" hangingPunct="1">
              <a:lnSpc>
                <a:spcPct val="90000"/>
              </a:lnSpc>
              <a:buNone/>
            </a:pPr>
            <a:r>
              <a:rPr lang="en-US" altLang="en-US" sz="2400" dirty="0"/>
              <a:t>- Though in practice there is a lot more that needs to </a:t>
            </a:r>
            <a:r>
              <a:rPr lang="en-US" altLang="en-US" sz="2400"/>
              <a:t>be known</a:t>
            </a:r>
            <a:endParaRPr lang="en-US" altLang="en-US" sz="2400" dirty="0"/>
          </a:p>
          <a:p>
            <a:pPr lvl="1" eaLnBrk="1" hangingPunct="1">
              <a:lnSpc>
                <a:spcPct val="90000"/>
              </a:lnSpc>
            </a:pPr>
            <a:endParaRPr lang="en-US" altLang="en-US" sz="2400" dirty="0"/>
          </a:p>
          <a:p>
            <a:pPr eaLnBrk="1" hangingPunct="1">
              <a:lnSpc>
                <a:spcPct val="90000"/>
              </a:lnSpc>
              <a:buFontTx/>
              <a:buNone/>
            </a:pPr>
            <a:r>
              <a:rPr lang="en-US" altLang="en-US" sz="2800" dirty="0"/>
              <a:t>	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1E25715A-BF4C-2411-1185-6DA2E161D7E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/>
              <a:t>Students early mental models</a:t>
            </a:r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5F87C2D4-DDD3-4CDD-906A-20371178CFF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/>
              <a:t>Look up or figure out how to do things in parallel</a:t>
            </a:r>
          </a:p>
          <a:p>
            <a:pPr eaLnBrk="1" hangingPunct="1">
              <a:defRPr/>
            </a:pPr>
            <a:r>
              <a:rPr lang="en-US"/>
              <a:t>Then we get speedups!</a:t>
            </a:r>
          </a:p>
          <a:p>
            <a:pPr lvl="1" eaLnBrk="1" hangingPunct="1">
              <a:defRPr/>
            </a:pPr>
            <a:r>
              <a:rPr lang="en-US"/>
              <a:t>NOT!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7" name="Rectangle 3">
            <a:extLst>
              <a:ext uri="{FF2B5EF4-FFF2-40B4-BE49-F238E27FC236}">
                <a16:creationId xmlns:a16="http://schemas.microsoft.com/office/drawing/2014/main" id="{6E240829-7326-A21C-56D7-33F06FE7522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lnSpc>
                <a:spcPct val="80000"/>
              </a:lnSpc>
              <a:buFontTx/>
              <a:buAutoNum type="arabicPeriod"/>
            </a:pPr>
            <a:r>
              <a:rPr lang="en-US" altLang="en-US" sz="3600"/>
              <a:t>A theoretical (may or may not be practical) secret to turning serial into parallel</a:t>
            </a:r>
          </a:p>
          <a:p>
            <a:pPr marL="609600" indent="-609600" eaLnBrk="1" hangingPunct="1">
              <a:lnSpc>
                <a:spcPct val="80000"/>
              </a:lnSpc>
              <a:buFontTx/>
              <a:buAutoNum type="arabicPeriod"/>
            </a:pPr>
            <a:r>
              <a:rPr lang="en-US" altLang="en-US" sz="3600"/>
              <a:t>Suppose you bump into a parallel algorithm that surprises you</a:t>
            </a:r>
            <a:r>
              <a:rPr lang="en-US" altLang="en-US" sz="3600">
                <a:sym typeface="Wingdings" pitchFamily="2" charset="2"/>
              </a:rPr>
              <a:t> </a:t>
            </a:r>
            <a:r>
              <a:rPr lang="ja-JP" altLang="en-US" sz="3600">
                <a:sym typeface="Wingdings" pitchFamily="2" charset="2"/>
              </a:rPr>
              <a:t>“</a:t>
            </a:r>
            <a:r>
              <a:rPr lang="en-US" altLang="ja-JP" sz="3600">
                <a:sym typeface="Wingdings" pitchFamily="2" charset="2"/>
              </a:rPr>
              <a:t>there is no way to parallelize this algorithm</a:t>
            </a:r>
            <a:r>
              <a:rPr lang="ja-JP" altLang="en-US" sz="3600">
                <a:sym typeface="Wingdings" pitchFamily="2" charset="2"/>
              </a:rPr>
              <a:t>”</a:t>
            </a:r>
            <a:r>
              <a:rPr lang="en-US" altLang="ja-JP" sz="3600">
                <a:sym typeface="Wingdings" pitchFamily="2" charset="2"/>
              </a:rPr>
              <a:t> you say</a:t>
            </a:r>
          </a:p>
          <a:p>
            <a:pPr marL="609600" indent="-609600" eaLnBrk="1" hangingPunct="1">
              <a:lnSpc>
                <a:spcPct val="80000"/>
              </a:lnSpc>
              <a:buFontTx/>
              <a:buAutoNum type="arabicPeriod"/>
            </a:pPr>
            <a:r>
              <a:rPr lang="en-US" altLang="en-US" sz="3600">
                <a:sym typeface="Wingdings" pitchFamily="2" charset="2"/>
              </a:rPr>
              <a:t>Probably a variation on parallel prefix!</a:t>
            </a:r>
            <a:endParaRPr lang="en-US" altLang="en-US" sz="3600"/>
          </a:p>
          <a:p>
            <a:pPr marL="609600" indent="-609600" eaLnBrk="1" hangingPunct="1">
              <a:lnSpc>
                <a:spcPct val="80000"/>
              </a:lnSpc>
            </a:pPr>
            <a:endParaRPr lang="en-US" altLang="en-US" sz="2800"/>
          </a:p>
        </p:txBody>
      </p:sp>
      <p:sp>
        <p:nvSpPr>
          <p:cNvPr id="16390" name="Rectangle 6">
            <a:extLst>
              <a:ext uri="{FF2B5EF4-FFF2-40B4-BE49-F238E27FC236}">
                <a16:creationId xmlns:a16="http://schemas.microsoft.com/office/drawing/2014/main" id="{1AF01D6D-8B8C-0328-6D9B-6E560EE33BB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/>
              <a:t>Parallel Prefix Algorithms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>
            <a:extLst>
              <a:ext uri="{FF2B5EF4-FFF2-40B4-BE49-F238E27FC236}">
                <a16:creationId xmlns:a16="http://schemas.microsoft.com/office/drawing/2014/main" id="{0463327D-6260-9195-7828-D9F2AC5B4EE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/>
              <a:t>Example of a prefix</a:t>
            </a:r>
          </a:p>
        </p:txBody>
      </p:sp>
      <p:sp>
        <p:nvSpPr>
          <p:cNvPr id="17411" name="Rectangle 3">
            <a:extLst>
              <a:ext uri="{FF2B5EF4-FFF2-40B4-BE49-F238E27FC236}">
                <a16:creationId xmlns:a16="http://schemas.microsoft.com/office/drawing/2014/main" id="{187F9A06-DAA7-CB37-A62D-0A8E1C7916E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buFontTx/>
              <a:buNone/>
            </a:pPr>
            <a:r>
              <a:rPr lang="en-US" altLang="en-US" u="sng"/>
              <a:t>Sum Prefix</a:t>
            </a:r>
            <a:endParaRPr lang="en-US" altLang="en-US"/>
          </a:p>
          <a:p>
            <a:pPr eaLnBrk="1" hangingPunct="1">
              <a:buFontTx/>
              <a:buNone/>
            </a:pPr>
            <a:r>
              <a:rPr lang="en-US" altLang="en-US"/>
              <a:t> 		Input		        x = (x1, x2, . . ., xn)</a:t>
            </a:r>
          </a:p>
          <a:p>
            <a:pPr eaLnBrk="1" hangingPunct="1">
              <a:buFontTx/>
              <a:buNone/>
            </a:pPr>
            <a:r>
              <a:rPr lang="en-US" altLang="en-US"/>
              <a:t> 		Output	        y = (y1, y2, . . ., yn)</a:t>
            </a:r>
          </a:p>
          <a:p>
            <a:pPr eaLnBrk="1" hangingPunct="1">
              <a:buFontTx/>
              <a:buNone/>
            </a:pPr>
            <a:r>
              <a:rPr lang="en-US" altLang="en-US"/>
              <a:t> 			y</a:t>
            </a:r>
            <a:r>
              <a:rPr lang="en-US" altLang="en-US" baseline="-25000"/>
              <a:t>i</a:t>
            </a:r>
            <a:r>
              <a:rPr lang="en-US" altLang="en-US"/>
              <a:t> =  </a:t>
            </a:r>
            <a:r>
              <a:rPr lang="el-GR" altLang="en-US">
                <a:cs typeface="Arial" panose="020B0604020202020204" pitchFamily="34" charset="0"/>
              </a:rPr>
              <a:t>Σ</a:t>
            </a:r>
            <a:r>
              <a:rPr lang="en-US" altLang="en-US" baseline="-25000">
                <a:cs typeface="Arial" panose="020B0604020202020204" pitchFamily="34" charset="0"/>
              </a:rPr>
              <a:t>j=1:I </a:t>
            </a:r>
            <a:r>
              <a:rPr lang="en-US" altLang="en-US"/>
              <a:t>x</a:t>
            </a:r>
            <a:r>
              <a:rPr lang="en-US" altLang="en-US" baseline="-25000"/>
              <a:t>j</a:t>
            </a:r>
          </a:p>
          <a:p>
            <a:pPr eaLnBrk="1" hangingPunct="1">
              <a:buFontTx/>
              <a:buNone/>
            </a:pPr>
            <a:r>
              <a:rPr lang="en-US" altLang="en-US" u="sng"/>
              <a:t>Example</a:t>
            </a:r>
            <a:endParaRPr lang="en-US" altLang="en-US"/>
          </a:p>
          <a:p>
            <a:pPr eaLnBrk="1" hangingPunct="1">
              <a:buFontTx/>
              <a:buNone/>
            </a:pPr>
            <a:r>
              <a:rPr lang="en-US" altLang="en-US"/>
              <a:t> 		x = ( 1, 2, 3,  4,   5,   6,   7,  8 )</a:t>
            </a:r>
          </a:p>
          <a:p>
            <a:pPr eaLnBrk="1" hangingPunct="1">
              <a:buFontTx/>
              <a:buNone/>
            </a:pPr>
            <a:r>
              <a:rPr lang="en-US" altLang="en-US"/>
              <a:t> 		y = ( 1, 3, 6, 10, 15, 21, 28, 36)</a:t>
            </a:r>
          </a:p>
          <a:p>
            <a:pPr eaLnBrk="1" hangingPunct="1">
              <a:buFontTx/>
              <a:buNone/>
            </a:pPr>
            <a:endParaRPr lang="en-US" altLang="en-US"/>
          </a:p>
        </p:txBody>
      </p:sp>
      <p:sp>
        <p:nvSpPr>
          <p:cNvPr id="17412" name="Text Box 4">
            <a:extLst>
              <a:ext uri="{FF2B5EF4-FFF2-40B4-BE49-F238E27FC236}">
                <a16:creationId xmlns:a16="http://schemas.microsoft.com/office/drawing/2014/main" id="{0EB57566-82EC-F8D5-474A-B0A8C8C725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55725" y="6056313"/>
            <a:ext cx="5708650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u="sng">
                <a:latin typeface="Arial" charset="0"/>
                <a:ea typeface="ＭＳ Ｐゴシック" charset="0"/>
              </a:rPr>
              <a:t>Prefix</a:t>
            </a:r>
            <a:r>
              <a:rPr lang="en-US">
                <a:latin typeface="Arial" charset="0"/>
                <a:ea typeface="ＭＳ Ｐゴシック" charset="0"/>
              </a:rPr>
              <a:t> Functions-- outputs depend upon an </a:t>
            </a:r>
            <a:r>
              <a:rPr lang="en-US" i="1">
                <a:latin typeface="Arial" charset="0"/>
                <a:ea typeface="ＭＳ Ｐゴシック" charset="0"/>
              </a:rPr>
              <a:t>initial</a:t>
            </a:r>
            <a:r>
              <a:rPr lang="en-US">
                <a:latin typeface="Arial" charset="0"/>
                <a:ea typeface="ＭＳ Ｐゴシック" charset="0"/>
              </a:rPr>
              <a:t> string</a:t>
            </a:r>
          </a:p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>
            <a:extLst>
              <a:ext uri="{FF2B5EF4-FFF2-40B4-BE49-F238E27FC236}">
                <a16:creationId xmlns:a16="http://schemas.microsoft.com/office/drawing/2014/main" id="{1340CF66-BB43-6211-104F-FC8D9BC102B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/>
              <a:t>What do you think?</a:t>
            </a:r>
          </a:p>
        </p:txBody>
      </p:sp>
      <p:sp>
        <p:nvSpPr>
          <p:cNvPr id="18435" name="Rectangle 3">
            <a:extLst>
              <a:ext uri="{FF2B5EF4-FFF2-40B4-BE49-F238E27FC236}">
                <a16:creationId xmlns:a16="http://schemas.microsoft.com/office/drawing/2014/main" id="{DE43AFDA-DC77-1633-0C35-A0268DAC6EC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/>
              <a:t>Can we really parallelize this?</a:t>
            </a:r>
          </a:p>
          <a:p>
            <a:pPr eaLnBrk="1" hangingPunct="1">
              <a:defRPr/>
            </a:pPr>
            <a:r>
              <a:rPr lang="en-US"/>
              <a:t>It looks like this sort of code:</a:t>
            </a:r>
          </a:p>
          <a:p>
            <a:pPr lvl="1" eaLnBrk="1" hangingPunct="1">
              <a:buFontTx/>
              <a:buNone/>
              <a:defRPr/>
            </a:pPr>
            <a:r>
              <a:rPr lang="en-US"/>
              <a:t>y=0;</a:t>
            </a:r>
          </a:p>
          <a:p>
            <a:pPr lvl="1" eaLnBrk="1" hangingPunct="1">
              <a:buFontTx/>
              <a:buNone/>
              <a:defRPr/>
            </a:pPr>
            <a:r>
              <a:rPr lang="en-US"/>
              <a:t>for i=2:n, y(i)=y(i-1)+x(i); end</a:t>
            </a:r>
          </a:p>
          <a:p>
            <a:pPr eaLnBrk="1" hangingPunct="1">
              <a:defRPr/>
            </a:pPr>
            <a:r>
              <a:rPr lang="en-US"/>
              <a:t>The ith iteration of the loop is not at all decoupled from the (i-1)st iteration.</a:t>
            </a:r>
          </a:p>
          <a:p>
            <a:pPr eaLnBrk="1" hangingPunct="1">
              <a:defRPr/>
            </a:pPr>
            <a:r>
              <a:rPr lang="en-US"/>
              <a:t>Impossible to parallelize right?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>
            <a:extLst>
              <a:ext uri="{FF2B5EF4-FFF2-40B4-BE49-F238E27FC236}">
                <a16:creationId xmlns:a16="http://schemas.microsoft.com/office/drawing/2014/main" id="{01ADCFA4-3A76-3A67-F455-5641B1F5A80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/>
              <a:t>A clue?</a:t>
            </a:r>
          </a:p>
        </p:txBody>
      </p:sp>
      <p:sp>
        <p:nvSpPr>
          <p:cNvPr id="19459" name="Rectangle 3">
            <a:extLst>
              <a:ext uri="{FF2B5EF4-FFF2-40B4-BE49-F238E27FC236}">
                <a16:creationId xmlns:a16="http://schemas.microsoft.com/office/drawing/2014/main" id="{A4E6B9B3-B958-C1FA-430C-2A141B2ADB9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buFontTx/>
              <a:buNone/>
              <a:defRPr/>
            </a:pPr>
            <a:r>
              <a:rPr lang="en-US"/>
              <a:t>        x = ( 1, 2, 3,  4,   5,   6,   7,  8 )</a:t>
            </a:r>
          </a:p>
          <a:p>
            <a:pPr eaLnBrk="1" hangingPunct="1">
              <a:buFontTx/>
              <a:buNone/>
              <a:defRPr/>
            </a:pPr>
            <a:r>
              <a:rPr lang="en-US"/>
              <a:t> 		y = ( 1, 3, 6, 10, 15, 21, 28, 36)</a:t>
            </a:r>
          </a:p>
          <a:p>
            <a:pPr eaLnBrk="1" hangingPunct="1">
              <a:buFontTx/>
              <a:buNone/>
              <a:defRPr/>
            </a:pPr>
            <a:endParaRPr lang="en-US"/>
          </a:p>
          <a:p>
            <a:pPr eaLnBrk="1" hangingPunct="1">
              <a:buFontTx/>
              <a:buNone/>
              <a:defRPr/>
            </a:pPr>
            <a:r>
              <a:rPr lang="en-US"/>
              <a:t>Is there any value in adding, say, 4+5+6+7?</a:t>
            </a:r>
          </a:p>
          <a:p>
            <a:pPr eaLnBrk="1" hangingPunct="1">
              <a:buFontTx/>
              <a:buNone/>
              <a:defRPr/>
            </a:pPr>
            <a:r>
              <a:rPr lang="en-US"/>
              <a:t>Note if we separately have 1+2+3, what can we do?</a:t>
            </a:r>
          </a:p>
          <a:p>
            <a:pPr eaLnBrk="1" hangingPunct="1">
              <a:buFontTx/>
              <a:buNone/>
              <a:defRPr/>
            </a:pPr>
            <a:r>
              <a:rPr lang="en-US"/>
              <a:t>Suppose we added 1+2, 3+4, etc. pairwise, what could we do?</a:t>
            </a:r>
          </a:p>
          <a:p>
            <a:pPr eaLnBrk="1" hangingPunct="1">
              <a:buFontTx/>
              <a:buNone/>
              <a:defRPr/>
            </a:pPr>
            <a:endParaRPr lang="en-US"/>
          </a:p>
          <a:p>
            <a:pPr eaLnBrk="1" hangingPunct="1">
              <a:defRPr/>
            </a:pPr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4" name="Rectangle 4">
            <a:extLst>
              <a:ext uri="{FF2B5EF4-FFF2-40B4-BE49-F238E27FC236}">
                <a16:creationId xmlns:a16="http://schemas.microsoft.com/office/drawing/2014/main" id="{5D8C26AC-7C1D-69BE-A118-D058F2A150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0"/>
            <a:ext cx="89916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>
            <a:lvl1pPr marL="342900" indent="-3429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spcBef>
                <a:spcPct val="20000"/>
              </a:spcBef>
            </a:pPr>
            <a:r>
              <a:rPr lang="en-US" altLang="en-US" sz="2800" b="1" u="sng">
                <a:latin typeface="Times New Roman" panose="02020603050405020304" pitchFamily="18" charset="0"/>
              </a:rPr>
              <a:t>Prefix</a:t>
            </a:r>
            <a:r>
              <a:rPr lang="en-US" altLang="en-US" sz="2800" b="1">
                <a:latin typeface="Times New Roman" panose="02020603050405020304" pitchFamily="18" charset="0"/>
              </a:rPr>
              <a:t> Functions -- outputs depend upon an </a:t>
            </a:r>
            <a:r>
              <a:rPr lang="en-US" altLang="en-US" sz="2800" b="1" i="1">
                <a:latin typeface="Times New Roman" panose="02020603050405020304" pitchFamily="18" charset="0"/>
              </a:rPr>
              <a:t>initial</a:t>
            </a:r>
            <a:r>
              <a:rPr lang="en-US" altLang="en-US" sz="2800" b="1">
                <a:latin typeface="Times New Roman" panose="02020603050405020304" pitchFamily="18" charset="0"/>
              </a:rPr>
              <a:t>  string</a:t>
            </a:r>
          </a:p>
          <a:p>
            <a:pPr eaLnBrk="1" hangingPunct="1">
              <a:spcBef>
                <a:spcPct val="20000"/>
              </a:spcBef>
            </a:pPr>
            <a:r>
              <a:rPr lang="en-US" altLang="en-US" sz="2800" b="1" u="sng">
                <a:latin typeface="Times New Roman" panose="02020603050405020304" pitchFamily="18" charset="0"/>
              </a:rPr>
              <a:t>Suffix</a:t>
            </a:r>
            <a:r>
              <a:rPr lang="en-US" altLang="en-US" sz="2800" b="1">
                <a:latin typeface="Times New Roman" panose="02020603050405020304" pitchFamily="18" charset="0"/>
              </a:rPr>
              <a:t> Functions -- outputs depend upon a </a:t>
            </a:r>
            <a:r>
              <a:rPr lang="en-US" altLang="en-US" sz="2800" b="1" i="1">
                <a:latin typeface="Times New Roman" panose="02020603050405020304" pitchFamily="18" charset="0"/>
              </a:rPr>
              <a:t>final</a:t>
            </a:r>
            <a:r>
              <a:rPr lang="en-US" altLang="en-US" sz="2800" b="1">
                <a:latin typeface="Times New Roman" panose="02020603050405020304" pitchFamily="18" charset="0"/>
              </a:rPr>
              <a:t>  string</a:t>
            </a:r>
          </a:p>
          <a:p>
            <a:pPr eaLnBrk="1" hangingPunct="1">
              <a:spcBef>
                <a:spcPct val="20000"/>
              </a:spcBef>
            </a:pPr>
            <a:endParaRPr lang="en-US" altLang="en-US" sz="2800" b="1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20000"/>
              </a:spcBef>
            </a:pPr>
            <a:r>
              <a:rPr lang="en-US" altLang="en-US" sz="2800" b="1" u="sng">
                <a:latin typeface="Times New Roman" panose="02020603050405020304" pitchFamily="18" charset="0"/>
              </a:rPr>
              <a:t>Other Notations</a:t>
            </a:r>
            <a:endParaRPr lang="en-US" altLang="en-US" sz="2800" b="1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20000"/>
              </a:spcBef>
              <a:buFontTx/>
              <a:buAutoNum type="arabicPeriod"/>
            </a:pPr>
            <a:r>
              <a:rPr lang="en-US" altLang="en-US" sz="3200" b="1">
                <a:latin typeface="Times New Roman" panose="02020603050405020304" pitchFamily="18" charset="0"/>
              </a:rPr>
              <a:t>+\  </a:t>
            </a:r>
            <a:r>
              <a:rPr lang="ja-JP" altLang="en-US" sz="3200" b="1"/>
              <a:t>“</a:t>
            </a:r>
            <a:r>
              <a:rPr lang="en-US" altLang="ja-JP" sz="3200" b="1">
                <a:latin typeface="Times New Roman" panose="02020603050405020304" pitchFamily="18" charset="0"/>
              </a:rPr>
              <a:t>plus scan</a:t>
            </a:r>
            <a:r>
              <a:rPr lang="ja-JP" altLang="en-US" sz="3200" b="1"/>
              <a:t>”</a:t>
            </a:r>
            <a:r>
              <a:rPr lang="en-US" altLang="ja-JP" sz="3200" b="1">
                <a:latin typeface="Times New Roman" panose="02020603050405020304" pitchFamily="18" charset="0"/>
              </a:rPr>
              <a:t>  APL  (</a:t>
            </a:r>
            <a:r>
              <a:rPr lang="ja-JP" altLang="en-US" sz="3200" b="1"/>
              <a:t>“</a:t>
            </a:r>
            <a:r>
              <a:rPr lang="en-US" altLang="ja-JP" sz="3200" b="1">
                <a:latin typeface="Times New Roman" panose="02020603050405020304" pitchFamily="18" charset="0"/>
              </a:rPr>
              <a:t>A Programming Language</a:t>
            </a:r>
            <a:r>
              <a:rPr lang="ja-JP" altLang="en-US" sz="3200" b="1"/>
              <a:t>”</a:t>
            </a:r>
            <a:r>
              <a:rPr lang="en-US" altLang="ja-JP" sz="3200" b="1">
                <a:latin typeface="Times New Roman" panose="02020603050405020304" pitchFamily="18" charset="0"/>
              </a:rPr>
              <a:t> source of the very name </a:t>
            </a:r>
            <a:r>
              <a:rPr lang="ja-JP" altLang="en-US" sz="3200" b="1"/>
              <a:t>“</a:t>
            </a:r>
            <a:r>
              <a:rPr lang="en-US" altLang="ja-JP" sz="3200" b="1">
                <a:latin typeface="Times New Roman" panose="02020603050405020304" pitchFamily="18" charset="0"/>
              </a:rPr>
              <a:t>scan</a:t>
            </a:r>
            <a:r>
              <a:rPr lang="ja-JP" altLang="en-US" sz="3200" b="1"/>
              <a:t>”</a:t>
            </a:r>
            <a:r>
              <a:rPr lang="en-US" altLang="ja-JP" sz="3200" b="1">
                <a:latin typeface="Times New Roman" panose="02020603050405020304" pitchFamily="18" charset="0"/>
              </a:rPr>
              <a:t>, an array based language that was ahead of its time)</a:t>
            </a:r>
          </a:p>
          <a:p>
            <a:pPr eaLnBrk="1" hangingPunct="1">
              <a:spcBef>
                <a:spcPct val="20000"/>
              </a:spcBef>
              <a:buFontTx/>
              <a:buAutoNum type="arabicPeriod"/>
            </a:pPr>
            <a:r>
              <a:rPr lang="en-US" altLang="en-US" sz="3200" b="1">
                <a:latin typeface="Times New Roman" panose="02020603050405020304" pitchFamily="18" charset="0"/>
              </a:rPr>
              <a:t>MPI_scan</a:t>
            </a:r>
          </a:p>
          <a:p>
            <a:pPr eaLnBrk="1" hangingPunct="1">
              <a:spcBef>
                <a:spcPct val="20000"/>
              </a:spcBef>
              <a:buFontTx/>
              <a:buAutoNum type="arabicPeriod"/>
            </a:pPr>
            <a:r>
              <a:rPr lang="en-US" altLang="en-US" sz="3200" b="1">
                <a:latin typeface="Times New Roman" panose="02020603050405020304" pitchFamily="18" charset="0"/>
              </a:rPr>
              <a:t>MATLAB command: y=cumsum(x)</a:t>
            </a:r>
          </a:p>
          <a:p>
            <a:pPr eaLnBrk="1" hangingPunct="1">
              <a:spcBef>
                <a:spcPct val="20000"/>
              </a:spcBef>
              <a:buFontTx/>
              <a:buAutoNum type="arabicPeriod"/>
            </a:pPr>
            <a:r>
              <a:rPr lang="en-US" altLang="en-US" sz="3200" b="1">
                <a:latin typeface="Times New Roman" panose="02020603050405020304" pitchFamily="18" charset="0"/>
              </a:rPr>
              <a:t>MATLAB matmul: y=tril(ones(n))*x</a:t>
            </a:r>
          </a:p>
          <a:p>
            <a:pPr eaLnBrk="1" hangingPunct="1">
              <a:spcBef>
                <a:spcPct val="20000"/>
              </a:spcBef>
              <a:buFontTx/>
              <a:buAutoNum type="arabicPeriod"/>
            </a:pPr>
            <a:endParaRPr lang="en-US" altLang="en-US" sz="3200" b="1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20000"/>
              </a:spcBef>
              <a:buFontTx/>
              <a:buAutoNum type="arabicPeriod"/>
            </a:pPr>
            <a:endParaRPr lang="en-US" altLang="en-US" sz="3200" b="1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20000"/>
              </a:spcBef>
            </a:pPr>
            <a:r>
              <a:rPr lang="en-US" altLang="en-US" b="1">
                <a:latin typeface="Times New Roman" panose="02020603050405020304" pitchFamily="18" charset="0"/>
              </a:rPr>
              <a:t> 	</a:t>
            </a:r>
          </a:p>
        </p:txBody>
      </p:sp>
      <p:sp>
        <p:nvSpPr>
          <p:cNvPr id="20486" name="Rectangle 6">
            <a:extLst>
              <a:ext uri="{FF2B5EF4-FFF2-40B4-BE49-F238E27FC236}">
                <a16:creationId xmlns:a16="http://schemas.microsoft.com/office/drawing/2014/main" id="{C75C89BB-E407-62F2-5A2A-DD2BABDA8C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11750" y="2978150"/>
            <a:ext cx="3035300" cy="2273300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20488" name="Line 8">
            <a:extLst>
              <a:ext uri="{FF2B5EF4-FFF2-40B4-BE49-F238E27FC236}">
                <a16:creationId xmlns:a16="http://schemas.microsoft.com/office/drawing/2014/main" id="{1E2A0420-75C2-2CF8-F3E0-FFCA0F86A670}"/>
              </a:ext>
            </a:extLst>
          </p:cNvPr>
          <p:cNvSpPr>
            <a:spLocks noChangeShapeType="1"/>
          </p:cNvSpPr>
          <p:nvPr/>
        </p:nvSpPr>
        <p:spPr bwMode="auto">
          <a:xfrm>
            <a:off x="3276600" y="2895600"/>
            <a:ext cx="0" cy="289560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20495" name="Line 15">
            <a:extLst>
              <a:ext uri="{FF2B5EF4-FFF2-40B4-BE49-F238E27FC236}">
                <a16:creationId xmlns:a16="http://schemas.microsoft.com/office/drawing/2014/main" id="{D3ED9574-C292-8494-7888-2CF9745FF24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24200" y="2895600"/>
            <a:ext cx="1524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20496" name="Line 16">
            <a:extLst>
              <a:ext uri="{FF2B5EF4-FFF2-40B4-BE49-F238E27FC236}">
                <a16:creationId xmlns:a16="http://schemas.microsoft.com/office/drawing/2014/main" id="{BD3B38A4-A568-9D3E-3318-9F0188BA9EE1}"/>
              </a:ext>
            </a:extLst>
          </p:cNvPr>
          <p:cNvSpPr>
            <a:spLocks noChangeShapeType="1"/>
          </p:cNvSpPr>
          <p:nvPr/>
        </p:nvSpPr>
        <p:spPr bwMode="auto">
          <a:xfrm>
            <a:off x="914400" y="2895600"/>
            <a:ext cx="0" cy="289560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20497" name="Line 17">
            <a:extLst>
              <a:ext uri="{FF2B5EF4-FFF2-40B4-BE49-F238E27FC236}">
                <a16:creationId xmlns:a16="http://schemas.microsoft.com/office/drawing/2014/main" id="{20C96AEC-1D9F-EDCD-6AF7-98AF6C0371B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14400" y="2895600"/>
            <a:ext cx="1524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20500" name="Line 20">
            <a:extLst>
              <a:ext uri="{FF2B5EF4-FFF2-40B4-BE49-F238E27FC236}">
                <a16:creationId xmlns:a16="http://schemas.microsoft.com/office/drawing/2014/main" id="{C9889AB5-656F-2C0F-5EFF-B1E52C038A10}"/>
              </a:ext>
            </a:extLst>
          </p:cNvPr>
          <p:cNvSpPr>
            <a:spLocks noChangeShapeType="1"/>
          </p:cNvSpPr>
          <p:nvPr/>
        </p:nvSpPr>
        <p:spPr bwMode="auto">
          <a:xfrm>
            <a:off x="3429000" y="3048000"/>
            <a:ext cx="0" cy="289560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20501" name="Line 21">
            <a:extLst>
              <a:ext uri="{FF2B5EF4-FFF2-40B4-BE49-F238E27FC236}">
                <a16:creationId xmlns:a16="http://schemas.microsoft.com/office/drawing/2014/main" id="{5CB6F456-0169-05F0-6B6B-1443923206E6}"/>
              </a:ext>
            </a:extLst>
          </p:cNvPr>
          <p:cNvSpPr>
            <a:spLocks noChangeShapeType="1"/>
          </p:cNvSpPr>
          <p:nvPr/>
        </p:nvSpPr>
        <p:spPr bwMode="auto">
          <a:xfrm>
            <a:off x="1066800" y="3048000"/>
            <a:ext cx="0" cy="289560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8" name="Rectangle 4">
            <a:extLst>
              <a:ext uri="{FF2B5EF4-FFF2-40B4-BE49-F238E27FC236}">
                <a16:creationId xmlns:a16="http://schemas.microsoft.com/office/drawing/2014/main" id="{2E608DDA-043F-69DE-515C-9EA8E7AAF4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0"/>
            <a:ext cx="7772400" cy="1143000"/>
          </a:xfrm>
          <a:prstGeom prst="rect">
            <a:avLst/>
          </a:prstGeom>
          <a:noFill/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90488" tIns="44450" rIns="90488" bIns="44450" anchor="ctr"/>
          <a:lstStyle/>
          <a:p>
            <a:pPr algn="ctr">
              <a:defRPr/>
            </a:pPr>
            <a:r>
              <a:rPr lang="en-US" sz="4400">
                <a:solidFill>
                  <a:schemeClr val="tx2"/>
                </a:solidFill>
                <a:latin typeface="Arial" charset="0"/>
                <a:ea typeface="ＭＳ Ｐゴシック" charset="0"/>
              </a:rPr>
              <a:t>Parallel Prefix Recursive View</a:t>
            </a:r>
          </a:p>
        </p:txBody>
      </p:sp>
      <p:sp>
        <p:nvSpPr>
          <p:cNvPr id="21509" name="Rectangle 5">
            <a:extLst>
              <a:ext uri="{FF2B5EF4-FFF2-40B4-BE49-F238E27FC236}">
                <a16:creationId xmlns:a16="http://schemas.microsoft.com/office/drawing/2014/main" id="{880359B6-3205-0BA6-6754-AD01DE03F6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63" y="1612900"/>
            <a:ext cx="8858250" cy="5499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508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>
            <a:lvl1pPr marL="342900" indent="-3429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65000"/>
              </a:lnSpc>
              <a:spcBef>
                <a:spcPct val="20000"/>
              </a:spcBef>
            </a:pPr>
            <a:r>
              <a:rPr lang="en-US" altLang="en-US" sz="2800"/>
              <a:t>    1  2  3  4   5  6    7  8</a:t>
            </a:r>
          </a:p>
          <a:p>
            <a:pPr eaLnBrk="1" hangingPunct="1">
              <a:lnSpc>
                <a:spcPct val="65000"/>
              </a:lnSpc>
              <a:spcBef>
                <a:spcPct val="20000"/>
              </a:spcBef>
            </a:pPr>
            <a:r>
              <a:rPr lang="en-US" altLang="en-US" sz="2800"/>
              <a:t>                                             Pairwise sums</a:t>
            </a:r>
          </a:p>
          <a:p>
            <a:pPr eaLnBrk="1" hangingPunct="1">
              <a:lnSpc>
                <a:spcPct val="65000"/>
              </a:lnSpc>
              <a:spcBef>
                <a:spcPct val="20000"/>
              </a:spcBef>
            </a:pPr>
            <a:r>
              <a:rPr lang="en-US" altLang="en-US" sz="2800"/>
              <a:t>        3      7      11     15</a:t>
            </a:r>
          </a:p>
          <a:p>
            <a:pPr eaLnBrk="1" hangingPunct="1">
              <a:lnSpc>
                <a:spcPct val="65000"/>
              </a:lnSpc>
              <a:spcBef>
                <a:spcPct val="20000"/>
              </a:spcBef>
            </a:pPr>
            <a:r>
              <a:rPr lang="en-US" altLang="en-US" sz="2800"/>
              <a:t>                                             Recursive prefix</a:t>
            </a:r>
          </a:p>
          <a:p>
            <a:pPr eaLnBrk="1" hangingPunct="1">
              <a:lnSpc>
                <a:spcPct val="65000"/>
              </a:lnSpc>
              <a:spcBef>
                <a:spcPct val="20000"/>
              </a:spcBef>
            </a:pPr>
            <a:r>
              <a:rPr lang="en-US" altLang="en-US" sz="2800"/>
              <a:t>        3     10     21     36</a:t>
            </a:r>
          </a:p>
          <a:p>
            <a:pPr eaLnBrk="1" hangingPunct="1">
              <a:lnSpc>
                <a:spcPct val="65000"/>
              </a:lnSpc>
              <a:spcBef>
                <a:spcPct val="20000"/>
              </a:spcBef>
            </a:pPr>
            <a:r>
              <a:rPr lang="en-US" altLang="en-US" sz="2800"/>
              <a:t>                                             Update </a:t>
            </a:r>
            <a:r>
              <a:rPr lang="ja-JP" altLang="en-US" sz="2800"/>
              <a:t>“</a:t>
            </a:r>
            <a:r>
              <a:rPr lang="en-US" altLang="ja-JP" sz="2800"/>
              <a:t>odds</a:t>
            </a:r>
            <a:r>
              <a:rPr lang="ja-JP" altLang="en-US" sz="2800"/>
              <a:t>”</a:t>
            </a:r>
            <a:endParaRPr lang="en-US" altLang="ja-JP" sz="2800"/>
          </a:p>
          <a:p>
            <a:pPr eaLnBrk="1" hangingPunct="1">
              <a:lnSpc>
                <a:spcPct val="65000"/>
              </a:lnSpc>
              <a:spcBef>
                <a:spcPct val="20000"/>
              </a:spcBef>
            </a:pPr>
            <a:r>
              <a:rPr lang="en-US" altLang="en-US" sz="2800"/>
              <a:t>      1  3  6 10 15 21 28 36</a:t>
            </a:r>
          </a:p>
          <a:p>
            <a:pPr eaLnBrk="1" hangingPunct="1">
              <a:spcBef>
                <a:spcPct val="20000"/>
              </a:spcBef>
              <a:buFontTx/>
              <a:buChar char="•"/>
            </a:pPr>
            <a:r>
              <a:rPr lang="en-US" altLang="en-US" sz="2800">
                <a:solidFill>
                  <a:srgbClr val="51DC00"/>
                </a:solidFill>
              </a:rPr>
              <a:t>Any </a:t>
            </a:r>
            <a:r>
              <a:rPr lang="en-US" altLang="en-US" sz="2800">
                <a:solidFill>
                  <a:srgbClr val="FC0128"/>
                </a:solidFill>
              </a:rPr>
              <a:t>associative</a:t>
            </a:r>
            <a:r>
              <a:rPr lang="en-US" altLang="en-US" sz="2800">
                <a:solidFill>
                  <a:srgbClr val="51DC00"/>
                </a:solidFill>
              </a:rPr>
              <a:t> operator</a:t>
            </a:r>
          </a:p>
          <a:p>
            <a:pPr eaLnBrk="1" hangingPunct="1">
              <a:spcBef>
                <a:spcPct val="20000"/>
              </a:spcBef>
              <a:buFontTx/>
              <a:buChar char="•"/>
            </a:pPr>
            <a:endParaRPr lang="en-US" altLang="en-US" sz="2800"/>
          </a:p>
          <a:p>
            <a:pPr eaLnBrk="1" hangingPunct="1">
              <a:lnSpc>
                <a:spcPct val="50000"/>
              </a:lnSpc>
              <a:spcBef>
                <a:spcPct val="20000"/>
              </a:spcBef>
            </a:pPr>
            <a:r>
              <a:rPr lang="en-US" altLang="en-US" sz="2800"/>
              <a:t>       1 0 0</a:t>
            </a:r>
          </a:p>
          <a:p>
            <a:pPr eaLnBrk="1" hangingPunct="1">
              <a:lnSpc>
                <a:spcPct val="50000"/>
              </a:lnSpc>
              <a:spcBef>
                <a:spcPct val="20000"/>
              </a:spcBef>
            </a:pPr>
            <a:r>
              <a:rPr lang="en-US" altLang="en-US" sz="2800"/>
              <a:t>       1 1 0</a:t>
            </a:r>
          </a:p>
          <a:p>
            <a:pPr eaLnBrk="1" hangingPunct="1">
              <a:lnSpc>
                <a:spcPct val="50000"/>
              </a:lnSpc>
              <a:spcBef>
                <a:spcPct val="20000"/>
              </a:spcBef>
            </a:pPr>
            <a:r>
              <a:rPr lang="en-US" altLang="en-US" sz="2800"/>
              <a:t>       1 1 1</a:t>
            </a:r>
          </a:p>
          <a:p>
            <a:pPr eaLnBrk="1" hangingPunct="1">
              <a:spcBef>
                <a:spcPct val="20000"/>
              </a:spcBef>
            </a:pPr>
            <a:r>
              <a:rPr lang="en-US" altLang="en-US" sz="2800"/>
              <a:t>	</a:t>
            </a:r>
          </a:p>
          <a:p>
            <a:pPr eaLnBrk="1" hangingPunct="1">
              <a:spcBef>
                <a:spcPct val="20000"/>
              </a:spcBef>
            </a:pPr>
            <a:endParaRPr lang="en-US" altLang="en-US" sz="2800"/>
          </a:p>
        </p:txBody>
      </p:sp>
      <p:sp>
        <p:nvSpPr>
          <p:cNvPr id="21510" name="Rectangle 6">
            <a:extLst>
              <a:ext uri="{FF2B5EF4-FFF2-40B4-BE49-F238E27FC236}">
                <a16:creationId xmlns:a16="http://schemas.microsoft.com/office/drawing/2014/main" id="{3E6DEE3F-75AC-48C3-670C-65BE2BA02D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838200"/>
            <a:ext cx="7535863" cy="5159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marL="342900" indent="-3429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None/>
            </a:pPr>
            <a:r>
              <a:rPr lang="en-US" altLang="en-US" sz="2800">
                <a:solidFill>
                  <a:srgbClr val="000000"/>
                </a:solidFill>
              </a:rPr>
              <a:t>prefix</a:t>
            </a:r>
            <a:r>
              <a:rPr lang="en-US" altLang="en-US" sz="2800">
                <a:solidFill>
                  <a:srgbClr val="414141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(</a:t>
            </a:r>
            <a:r>
              <a:rPr lang="en-US" altLang="en-US" sz="2800">
                <a:solidFill>
                  <a:srgbClr val="00FF00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 </a:t>
            </a:r>
            <a:r>
              <a:rPr lang="en-US" altLang="en-US" sz="2800">
                <a:solidFill>
                  <a:schemeClr val="bg2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[</a:t>
            </a:r>
            <a:r>
              <a:rPr lang="en-US" altLang="en-US" sz="2800">
                <a:solidFill>
                  <a:srgbClr val="FC0128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1 2 3 4 5 6 7 8</a:t>
            </a:r>
            <a:r>
              <a:rPr lang="en-US" altLang="en-US" sz="2800">
                <a:solidFill>
                  <a:schemeClr val="bg2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])=[</a:t>
            </a:r>
            <a:r>
              <a:rPr lang="en-US" altLang="en-US" sz="2800">
                <a:solidFill>
                  <a:srgbClr val="FC0128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1 3 6 10 15 21 28 36</a:t>
            </a:r>
            <a:r>
              <a:rPr lang="en-US" altLang="en-US" sz="2800">
                <a:solidFill>
                  <a:schemeClr val="bg2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]</a:t>
            </a:r>
          </a:p>
        </p:txBody>
      </p:sp>
      <p:grpSp>
        <p:nvGrpSpPr>
          <p:cNvPr id="10244" name="Group 7">
            <a:extLst>
              <a:ext uri="{FF2B5EF4-FFF2-40B4-BE49-F238E27FC236}">
                <a16:creationId xmlns:a16="http://schemas.microsoft.com/office/drawing/2014/main" id="{ACD2181B-EB59-7322-23B4-87C3E2EB1EDC}"/>
              </a:ext>
            </a:extLst>
          </p:cNvPr>
          <p:cNvGrpSpPr>
            <a:grpSpLocks/>
          </p:cNvGrpSpPr>
          <p:nvPr/>
        </p:nvGrpSpPr>
        <p:grpSpPr bwMode="auto">
          <a:xfrm>
            <a:off x="609600" y="5181600"/>
            <a:ext cx="1231900" cy="1041400"/>
            <a:chOff x="544" y="3512"/>
            <a:chExt cx="776" cy="656"/>
          </a:xfrm>
        </p:grpSpPr>
        <p:sp>
          <p:nvSpPr>
            <p:cNvPr id="21512" name="Line 8">
              <a:extLst>
                <a:ext uri="{FF2B5EF4-FFF2-40B4-BE49-F238E27FC236}">
                  <a16:creationId xmlns:a16="http://schemas.microsoft.com/office/drawing/2014/main" id="{EEBA6889-8AD1-5052-C776-BE5D2C8D75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0" y="3520"/>
              <a:ext cx="0" cy="648"/>
            </a:xfrm>
            <a:prstGeom prst="line">
              <a:avLst/>
            </a:prstGeom>
            <a:noFill/>
            <a:ln w="508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21513" name="Line 9">
              <a:extLst>
                <a:ext uri="{FF2B5EF4-FFF2-40B4-BE49-F238E27FC236}">
                  <a16:creationId xmlns:a16="http://schemas.microsoft.com/office/drawing/2014/main" id="{CC410196-3657-CE6F-C0D1-B4D913032A1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4" y="4160"/>
              <a:ext cx="128" cy="0"/>
            </a:xfrm>
            <a:prstGeom prst="line">
              <a:avLst/>
            </a:prstGeom>
            <a:noFill/>
            <a:ln w="508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21514" name="Line 10">
              <a:extLst>
                <a:ext uri="{FF2B5EF4-FFF2-40B4-BE49-F238E27FC236}">
                  <a16:creationId xmlns:a16="http://schemas.microsoft.com/office/drawing/2014/main" id="{50123912-6F26-79EA-AE4E-C40010EB657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2" y="3536"/>
              <a:ext cx="96" cy="0"/>
            </a:xfrm>
            <a:prstGeom prst="line">
              <a:avLst/>
            </a:prstGeom>
            <a:noFill/>
            <a:ln w="508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21515" name="Line 11">
              <a:extLst>
                <a:ext uri="{FF2B5EF4-FFF2-40B4-BE49-F238E27FC236}">
                  <a16:creationId xmlns:a16="http://schemas.microsoft.com/office/drawing/2014/main" id="{054D7EC9-119D-E753-EF4D-94B9E9B75A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24" y="3528"/>
              <a:ext cx="96" cy="0"/>
            </a:xfrm>
            <a:prstGeom prst="line">
              <a:avLst/>
            </a:prstGeom>
            <a:noFill/>
            <a:ln w="508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21516" name="Line 12">
              <a:extLst>
                <a:ext uri="{FF2B5EF4-FFF2-40B4-BE49-F238E27FC236}">
                  <a16:creationId xmlns:a16="http://schemas.microsoft.com/office/drawing/2014/main" id="{B3E82E97-C2F4-75F1-3AF2-C581B02E9F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16" y="4144"/>
              <a:ext cx="96" cy="0"/>
            </a:xfrm>
            <a:prstGeom prst="line">
              <a:avLst/>
            </a:prstGeom>
            <a:noFill/>
            <a:ln w="508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21517" name="Line 13">
              <a:extLst>
                <a:ext uri="{FF2B5EF4-FFF2-40B4-BE49-F238E27FC236}">
                  <a16:creationId xmlns:a16="http://schemas.microsoft.com/office/drawing/2014/main" id="{69C19460-8B9B-CB87-45EB-3633880A5FD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12" y="3512"/>
              <a:ext cx="0" cy="648"/>
            </a:xfrm>
            <a:prstGeom prst="line">
              <a:avLst/>
            </a:prstGeom>
            <a:noFill/>
            <a:ln w="508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10245" name="Group 14">
            <a:extLst>
              <a:ext uri="{FF2B5EF4-FFF2-40B4-BE49-F238E27FC236}">
                <a16:creationId xmlns:a16="http://schemas.microsoft.com/office/drawing/2014/main" id="{BBBA6958-CA7D-37D4-DE6E-031B077AD3FC}"/>
              </a:ext>
            </a:extLst>
          </p:cNvPr>
          <p:cNvGrpSpPr>
            <a:grpSpLocks/>
          </p:cNvGrpSpPr>
          <p:nvPr/>
        </p:nvGrpSpPr>
        <p:grpSpPr bwMode="auto">
          <a:xfrm>
            <a:off x="838200" y="1905000"/>
            <a:ext cx="381000" cy="368300"/>
            <a:chOff x="656" y="1272"/>
            <a:chExt cx="240" cy="232"/>
          </a:xfrm>
        </p:grpSpPr>
        <p:sp>
          <p:nvSpPr>
            <p:cNvPr id="21519" name="Line 15">
              <a:extLst>
                <a:ext uri="{FF2B5EF4-FFF2-40B4-BE49-F238E27FC236}">
                  <a16:creationId xmlns:a16="http://schemas.microsoft.com/office/drawing/2014/main" id="{951E0DD0-0F91-6A59-4D06-89AAB363E5C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" y="1272"/>
              <a:ext cx="96" cy="232"/>
            </a:xfrm>
            <a:prstGeom prst="line">
              <a:avLst/>
            </a:prstGeom>
            <a:noFill/>
            <a:ln w="508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21520" name="Line 16">
              <a:extLst>
                <a:ext uri="{FF2B5EF4-FFF2-40B4-BE49-F238E27FC236}">
                  <a16:creationId xmlns:a16="http://schemas.microsoft.com/office/drawing/2014/main" id="{BE704CB3-F6C4-121B-1858-577F65FC9B1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00" y="1280"/>
              <a:ext cx="96" cy="216"/>
            </a:xfrm>
            <a:prstGeom prst="line">
              <a:avLst/>
            </a:prstGeom>
            <a:noFill/>
            <a:ln w="508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10246" name="Group 17">
            <a:extLst>
              <a:ext uri="{FF2B5EF4-FFF2-40B4-BE49-F238E27FC236}">
                <a16:creationId xmlns:a16="http://schemas.microsoft.com/office/drawing/2014/main" id="{92AA3E20-C77D-503D-BD39-52D38C0EF71B}"/>
              </a:ext>
            </a:extLst>
          </p:cNvPr>
          <p:cNvGrpSpPr>
            <a:grpSpLocks/>
          </p:cNvGrpSpPr>
          <p:nvPr/>
        </p:nvGrpSpPr>
        <p:grpSpPr bwMode="auto">
          <a:xfrm>
            <a:off x="1524000" y="1905000"/>
            <a:ext cx="381000" cy="368300"/>
            <a:chOff x="1232" y="1248"/>
            <a:chExt cx="240" cy="232"/>
          </a:xfrm>
        </p:grpSpPr>
        <p:sp>
          <p:nvSpPr>
            <p:cNvPr id="21522" name="Line 18">
              <a:extLst>
                <a:ext uri="{FF2B5EF4-FFF2-40B4-BE49-F238E27FC236}">
                  <a16:creationId xmlns:a16="http://schemas.microsoft.com/office/drawing/2014/main" id="{C1D3A910-7F32-8AFC-D562-6B2107033A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32" y="1248"/>
              <a:ext cx="96" cy="232"/>
            </a:xfrm>
            <a:prstGeom prst="line">
              <a:avLst/>
            </a:prstGeom>
            <a:noFill/>
            <a:ln w="508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21523" name="Line 19">
              <a:extLst>
                <a:ext uri="{FF2B5EF4-FFF2-40B4-BE49-F238E27FC236}">
                  <a16:creationId xmlns:a16="http://schemas.microsoft.com/office/drawing/2014/main" id="{78B3F8B4-23BA-A180-B658-B14ADA0BAD3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376" y="1256"/>
              <a:ext cx="96" cy="216"/>
            </a:xfrm>
            <a:prstGeom prst="line">
              <a:avLst/>
            </a:prstGeom>
            <a:noFill/>
            <a:ln w="508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10247" name="Group 20">
            <a:extLst>
              <a:ext uri="{FF2B5EF4-FFF2-40B4-BE49-F238E27FC236}">
                <a16:creationId xmlns:a16="http://schemas.microsoft.com/office/drawing/2014/main" id="{EFAFEFD3-EDA3-087A-9080-588D1D089A3A}"/>
              </a:ext>
            </a:extLst>
          </p:cNvPr>
          <p:cNvGrpSpPr>
            <a:grpSpLocks/>
          </p:cNvGrpSpPr>
          <p:nvPr/>
        </p:nvGrpSpPr>
        <p:grpSpPr bwMode="auto">
          <a:xfrm>
            <a:off x="2362200" y="1905000"/>
            <a:ext cx="381000" cy="368300"/>
            <a:chOff x="1872" y="1232"/>
            <a:chExt cx="240" cy="232"/>
          </a:xfrm>
        </p:grpSpPr>
        <p:sp>
          <p:nvSpPr>
            <p:cNvPr id="21525" name="Line 21">
              <a:extLst>
                <a:ext uri="{FF2B5EF4-FFF2-40B4-BE49-F238E27FC236}">
                  <a16:creationId xmlns:a16="http://schemas.microsoft.com/office/drawing/2014/main" id="{43279E71-FF82-FBE0-E9ED-AF3C54BF6B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72" y="1232"/>
              <a:ext cx="96" cy="232"/>
            </a:xfrm>
            <a:prstGeom prst="line">
              <a:avLst/>
            </a:prstGeom>
            <a:noFill/>
            <a:ln w="508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21526" name="Line 22">
              <a:extLst>
                <a:ext uri="{FF2B5EF4-FFF2-40B4-BE49-F238E27FC236}">
                  <a16:creationId xmlns:a16="http://schemas.microsoft.com/office/drawing/2014/main" id="{0A635D0C-BB40-B53A-BD79-9139DA94A24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016" y="1240"/>
              <a:ext cx="96" cy="216"/>
            </a:xfrm>
            <a:prstGeom prst="line">
              <a:avLst/>
            </a:prstGeom>
            <a:noFill/>
            <a:ln w="508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10248" name="Group 23">
            <a:extLst>
              <a:ext uri="{FF2B5EF4-FFF2-40B4-BE49-F238E27FC236}">
                <a16:creationId xmlns:a16="http://schemas.microsoft.com/office/drawing/2014/main" id="{056CB514-828A-D77A-FDDE-B130DCBE1BFA}"/>
              </a:ext>
            </a:extLst>
          </p:cNvPr>
          <p:cNvGrpSpPr>
            <a:grpSpLocks/>
          </p:cNvGrpSpPr>
          <p:nvPr/>
        </p:nvGrpSpPr>
        <p:grpSpPr bwMode="auto">
          <a:xfrm>
            <a:off x="3276600" y="1905000"/>
            <a:ext cx="381000" cy="368300"/>
            <a:chOff x="2568" y="1248"/>
            <a:chExt cx="240" cy="232"/>
          </a:xfrm>
        </p:grpSpPr>
        <p:sp>
          <p:nvSpPr>
            <p:cNvPr id="21528" name="Line 24">
              <a:extLst>
                <a:ext uri="{FF2B5EF4-FFF2-40B4-BE49-F238E27FC236}">
                  <a16:creationId xmlns:a16="http://schemas.microsoft.com/office/drawing/2014/main" id="{C359646C-F815-A692-8B82-6FB8F939BA2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68" y="1248"/>
              <a:ext cx="96" cy="232"/>
            </a:xfrm>
            <a:prstGeom prst="line">
              <a:avLst/>
            </a:prstGeom>
            <a:noFill/>
            <a:ln w="508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21529" name="Line 25">
              <a:extLst>
                <a:ext uri="{FF2B5EF4-FFF2-40B4-BE49-F238E27FC236}">
                  <a16:creationId xmlns:a16="http://schemas.microsoft.com/office/drawing/2014/main" id="{E9228A25-9645-8D08-849A-0809A772158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12" y="1256"/>
              <a:ext cx="96" cy="216"/>
            </a:xfrm>
            <a:prstGeom prst="line">
              <a:avLst/>
            </a:prstGeom>
            <a:noFill/>
            <a:ln w="508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sp>
        <p:nvSpPr>
          <p:cNvPr id="21530" name="Line 26">
            <a:extLst>
              <a:ext uri="{FF2B5EF4-FFF2-40B4-BE49-F238E27FC236}">
                <a16:creationId xmlns:a16="http://schemas.microsoft.com/office/drawing/2014/main" id="{CA8CB10A-A611-0359-AB87-F9684903505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14400" y="3429000"/>
            <a:ext cx="152400" cy="368300"/>
          </a:xfrm>
          <a:prstGeom prst="line">
            <a:avLst/>
          </a:prstGeom>
          <a:noFill/>
          <a:ln w="5080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21531" name="Line 27">
            <a:extLst>
              <a:ext uri="{FF2B5EF4-FFF2-40B4-BE49-F238E27FC236}">
                <a16:creationId xmlns:a16="http://schemas.microsoft.com/office/drawing/2014/main" id="{CC6EAFB4-D039-23EF-57D5-EE7B6EEB9729}"/>
              </a:ext>
            </a:extLst>
          </p:cNvPr>
          <p:cNvSpPr>
            <a:spLocks noChangeShapeType="1"/>
          </p:cNvSpPr>
          <p:nvPr/>
        </p:nvSpPr>
        <p:spPr bwMode="auto">
          <a:xfrm>
            <a:off x="1066800" y="3429000"/>
            <a:ext cx="152400" cy="342900"/>
          </a:xfrm>
          <a:prstGeom prst="line">
            <a:avLst/>
          </a:prstGeom>
          <a:noFill/>
          <a:ln w="5080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21532" name="Line 28">
            <a:extLst>
              <a:ext uri="{FF2B5EF4-FFF2-40B4-BE49-F238E27FC236}">
                <a16:creationId xmlns:a16="http://schemas.microsoft.com/office/drawing/2014/main" id="{EB7AE00E-3E81-DAC0-18C2-221AEA869E0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600200" y="3352800"/>
            <a:ext cx="152400" cy="368300"/>
          </a:xfrm>
          <a:prstGeom prst="line">
            <a:avLst/>
          </a:prstGeom>
          <a:noFill/>
          <a:ln w="5080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21533" name="Line 29">
            <a:extLst>
              <a:ext uri="{FF2B5EF4-FFF2-40B4-BE49-F238E27FC236}">
                <a16:creationId xmlns:a16="http://schemas.microsoft.com/office/drawing/2014/main" id="{23A47D2D-C5D5-84F7-E064-E92054B8952F}"/>
              </a:ext>
            </a:extLst>
          </p:cNvPr>
          <p:cNvSpPr>
            <a:spLocks noChangeShapeType="1"/>
          </p:cNvSpPr>
          <p:nvPr/>
        </p:nvSpPr>
        <p:spPr bwMode="auto">
          <a:xfrm>
            <a:off x="1828800" y="3429000"/>
            <a:ext cx="152400" cy="342900"/>
          </a:xfrm>
          <a:prstGeom prst="line">
            <a:avLst/>
          </a:prstGeom>
          <a:noFill/>
          <a:ln w="5080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21534" name="Line 30">
            <a:extLst>
              <a:ext uri="{FF2B5EF4-FFF2-40B4-BE49-F238E27FC236}">
                <a16:creationId xmlns:a16="http://schemas.microsoft.com/office/drawing/2014/main" id="{C25539EF-8D74-A426-DB33-005422922E0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362200" y="3352800"/>
            <a:ext cx="152400" cy="368300"/>
          </a:xfrm>
          <a:prstGeom prst="line">
            <a:avLst/>
          </a:prstGeom>
          <a:noFill/>
          <a:ln w="5080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21535" name="Line 31">
            <a:extLst>
              <a:ext uri="{FF2B5EF4-FFF2-40B4-BE49-F238E27FC236}">
                <a16:creationId xmlns:a16="http://schemas.microsoft.com/office/drawing/2014/main" id="{230C280C-FF1A-915F-EF75-52B603CA470D}"/>
              </a:ext>
            </a:extLst>
          </p:cNvPr>
          <p:cNvSpPr>
            <a:spLocks noChangeShapeType="1"/>
          </p:cNvSpPr>
          <p:nvPr/>
        </p:nvSpPr>
        <p:spPr bwMode="auto">
          <a:xfrm>
            <a:off x="2667000" y="3352800"/>
            <a:ext cx="152400" cy="342900"/>
          </a:xfrm>
          <a:prstGeom prst="line">
            <a:avLst/>
          </a:prstGeom>
          <a:noFill/>
          <a:ln w="5080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21536" name="Line 32">
            <a:extLst>
              <a:ext uri="{FF2B5EF4-FFF2-40B4-BE49-F238E27FC236}">
                <a16:creationId xmlns:a16="http://schemas.microsoft.com/office/drawing/2014/main" id="{CA61E881-15BD-D7CA-1383-D43F4F78D57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76600" y="3352800"/>
            <a:ext cx="152400" cy="368300"/>
          </a:xfrm>
          <a:prstGeom prst="line">
            <a:avLst/>
          </a:prstGeom>
          <a:noFill/>
          <a:ln w="5080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21537" name="Line 33">
            <a:extLst>
              <a:ext uri="{FF2B5EF4-FFF2-40B4-BE49-F238E27FC236}">
                <a16:creationId xmlns:a16="http://schemas.microsoft.com/office/drawing/2014/main" id="{54ACAE06-E248-C17C-E7A4-4E40AC8D7CB6}"/>
              </a:ext>
            </a:extLst>
          </p:cNvPr>
          <p:cNvSpPr>
            <a:spLocks noChangeShapeType="1"/>
          </p:cNvSpPr>
          <p:nvPr/>
        </p:nvSpPr>
        <p:spPr bwMode="auto">
          <a:xfrm>
            <a:off x="3505200" y="3429000"/>
            <a:ext cx="152400" cy="342900"/>
          </a:xfrm>
          <a:prstGeom prst="line">
            <a:avLst/>
          </a:prstGeom>
          <a:noFill/>
          <a:ln w="5080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21538" name="Line 34">
            <a:extLst>
              <a:ext uri="{FF2B5EF4-FFF2-40B4-BE49-F238E27FC236}">
                <a16:creationId xmlns:a16="http://schemas.microsoft.com/office/drawing/2014/main" id="{BF50D193-ECDF-08AE-EAA7-368543B8922A}"/>
              </a:ext>
            </a:extLst>
          </p:cNvPr>
          <p:cNvSpPr>
            <a:spLocks noChangeShapeType="1"/>
          </p:cNvSpPr>
          <p:nvPr/>
        </p:nvSpPr>
        <p:spPr bwMode="auto">
          <a:xfrm>
            <a:off x="1066800" y="2667000"/>
            <a:ext cx="0" cy="342900"/>
          </a:xfrm>
          <a:prstGeom prst="line">
            <a:avLst/>
          </a:prstGeom>
          <a:noFill/>
          <a:ln w="5080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21539" name="Line 35">
            <a:extLst>
              <a:ext uri="{FF2B5EF4-FFF2-40B4-BE49-F238E27FC236}">
                <a16:creationId xmlns:a16="http://schemas.microsoft.com/office/drawing/2014/main" id="{2A70FA25-312F-8D7F-5D89-73DF8C9C6F77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2667000"/>
            <a:ext cx="0" cy="342900"/>
          </a:xfrm>
          <a:prstGeom prst="line">
            <a:avLst/>
          </a:prstGeom>
          <a:noFill/>
          <a:ln w="5080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21540" name="Line 36">
            <a:extLst>
              <a:ext uri="{FF2B5EF4-FFF2-40B4-BE49-F238E27FC236}">
                <a16:creationId xmlns:a16="http://schemas.microsoft.com/office/drawing/2014/main" id="{448A6A51-7351-0745-A3FE-984ADECC8379}"/>
              </a:ext>
            </a:extLst>
          </p:cNvPr>
          <p:cNvSpPr>
            <a:spLocks noChangeShapeType="1"/>
          </p:cNvSpPr>
          <p:nvPr/>
        </p:nvSpPr>
        <p:spPr bwMode="auto">
          <a:xfrm>
            <a:off x="2590800" y="2667000"/>
            <a:ext cx="0" cy="342900"/>
          </a:xfrm>
          <a:prstGeom prst="line">
            <a:avLst/>
          </a:prstGeom>
          <a:noFill/>
          <a:ln w="5080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21541" name="Line 37">
            <a:extLst>
              <a:ext uri="{FF2B5EF4-FFF2-40B4-BE49-F238E27FC236}">
                <a16:creationId xmlns:a16="http://schemas.microsoft.com/office/drawing/2014/main" id="{3179D4A2-C731-B4D0-BD08-B632B6EEB268}"/>
              </a:ext>
            </a:extLst>
          </p:cNvPr>
          <p:cNvSpPr>
            <a:spLocks noChangeShapeType="1"/>
          </p:cNvSpPr>
          <p:nvPr/>
        </p:nvSpPr>
        <p:spPr bwMode="auto">
          <a:xfrm>
            <a:off x="3429000" y="2667000"/>
            <a:ext cx="0" cy="342900"/>
          </a:xfrm>
          <a:prstGeom prst="line">
            <a:avLst/>
          </a:prstGeom>
          <a:noFill/>
          <a:ln w="5080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5" name="Rectangle 3">
            <a:extLst>
              <a:ext uri="{FF2B5EF4-FFF2-40B4-BE49-F238E27FC236}">
                <a16:creationId xmlns:a16="http://schemas.microsoft.com/office/drawing/2014/main" id="{83E60FF1-A7B7-5C4A-BE63-44D7A02C2BD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81000" y="838200"/>
            <a:ext cx="8229600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  <a:buFontTx/>
              <a:buNone/>
              <a:defRPr/>
            </a:pPr>
            <a:r>
              <a:rPr lang="en-US" sz="2000" dirty="0"/>
              <a:t>function prefix!(x, *)</a:t>
            </a:r>
          </a:p>
          <a:p>
            <a:pPr eaLnBrk="1" hangingPunct="1">
              <a:lnSpc>
                <a:spcPct val="90000"/>
              </a:lnSpc>
              <a:buFontTx/>
              <a:buNone/>
              <a:defRPr/>
            </a:pPr>
            <a:r>
              <a:rPr lang="en-US" sz="2000" dirty="0"/>
              <a:t>    n=length(x)</a:t>
            </a:r>
          </a:p>
          <a:p>
            <a:pPr eaLnBrk="1" hangingPunct="1">
              <a:lnSpc>
                <a:spcPct val="90000"/>
              </a:lnSpc>
              <a:buFontTx/>
              <a:buNone/>
              <a:defRPr/>
            </a:pPr>
            <a:endParaRPr lang="en-US" sz="2000" dirty="0"/>
          </a:p>
          <a:p>
            <a:pPr eaLnBrk="1" hangingPunct="1">
              <a:lnSpc>
                <a:spcPct val="90000"/>
              </a:lnSpc>
              <a:buFontTx/>
              <a:buNone/>
              <a:defRPr/>
            </a:pPr>
            <a:r>
              <a:rPr lang="en-US" sz="2000" dirty="0"/>
              <a:t>    if n&lt;=1</a:t>
            </a:r>
          </a:p>
          <a:p>
            <a:pPr eaLnBrk="1" hangingPunct="1">
              <a:lnSpc>
                <a:spcPct val="90000"/>
              </a:lnSpc>
              <a:buFontTx/>
              <a:buNone/>
              <a:defRPr/>
            </a:pPr>
            <a:r>
              <a:rPr lang="en-US" sz="2000" dirty="0"/>
              <a:t>        return()</a:t>
            </a:r>
          </a:p>
          <a:p>
            <a:pPr eaLnBrk="1" hangingPunct="1">
              <a:lnSpc>
                <a:spcPct val="90000"/>
              </a:lnSpc>
              <a:buFontTx/>
              <a:buNone/>
              <a:defRPr/>
            </a:pPr>
            <a:r>
              <a:rPr lang="en-US" sz="2000" dirty="0"/>
              <a:t>    end</a:t>
            </a:r>
          </a:p>
          <a:p>
            <a:pPr eaLnBrk="1" hangingPunct="1">
              <a:lnSpc>
                <a:spcPct val="90000"/>
              </a:lnSpc>
              <a:buFontTx/>
              <a:buNone/>
              <a:defRPr/>
            </a:pPr>
            <a:r>
              <a:rPr lang="en-US" sz="2000" dirty="0"/>
              <a:t>    </a:t>
            </a:r>
          </a:p>
          <a:p>
            <a:pPr eaLnBrk="1" hangingPunct="1">
              <a:lnSpc>
                <a:spcPct val="90000"/>
              </a:lnSpc>
              <a:buFontTx/>
              <a:buNone/>
              <a:defRPr/>
            </a:pPr>
            <a:r>
              <a:rPr lang="en-US" sz="2000" dirty="0"/>
              <a:t>    for </a:t>
            </a:r>
            <a:r>
              <a:rPr lang="en-US" sz="2000" dirty="0" err="1"/>
              <a:t>i</a:t>
            </a:r>
            <a:r>
              <a:rPr lang="en-US" sz="2000" dirty="0"/>
              <a:t>=2:2:n    # even: pairwise sums</a:t>
            </a:r>
          </a:p>
          <a:p>
            <a:pPr eaLnBrk="1" hangingPunct="1">
              <a:lnSpc>
                <a:spcPct val="90000"/>
              </a:lnSpc>
              <a:buFontTx/>
              <a:buNone/>
              <a:defRPr/>
            </a:pPr>
            <a:r>
              <a:rPr lang="en-US" sz="2000" dirty="0"/>
              <a:t>        x[</a:t>
            </a:r>
            <a:r>
              <a:rPr lang="en-US" sz="2000" dirty="0" err="1"/>
              <a:t>i</a:t>
            </a:r>
            <a:r>
              <a:rPr lang="en-US" sz="2000" dirty="0"/>
              <a:t>] *= x[i-1] </a:t>
            </a:r>
          </a:p>
          <a:p>
            <a:pPr eaLnBrk="1" hangingPunct="1">
              <a:lnSpc>
                <a:spcPct val="90000"/>
              </a:lnSpc>
              <a:buFontTx/>
              <a:buNone/>
              <a:defRPr/>
            </a:pPr>
            <a:r>
              <a:rPr lang="en-US" sz="2000" dirty="0"/>
              <a:t>    end</a:t>
            </a:r>
          </a:p>
          <a:p>
            <a:pPr eaLnBrk="1" hangingPunct="1">
              <a:lnSpc>
                <a:spcPct val="90000"/>
              </a:lnSpc>
              <a:buFontTx/>
              <a:buNone/>
              <a:defRPr/>
            </a:pPr>
            <a:endParaRPr lang="en-US" sz="2000" dirty="0"/>
          </a:p>
          <a:p>
            <a:pPr eaLnBrk="1" hangingPunct="1">
              <a:lnSpc>
                <a:spcPct val="90000"/>
              </a:lnSpc>
              <a:buFontTx/>
              <a:buNone/>
              <a:defRPr/>
            </a:pPr>
            <a:r>
              <a:rPr lang="en-US" sz="2000" dirty="0"/>
              <a:t>    prefix!(view(x,2:2:n),*) # recursive prefix (in place!)</a:t>
            </a:r>
          </a:p>
          <a:p>
            <a:pPr eaLnBrk="1" hangingPunct="1">
              <a:lnSpc>
                <a:spcPct val="90000"/>
              </a:lnSpc>
              <a:buFontTx/>
              <a:buNone/>
              <a:defRPr/>
            </a:pPr>
            <a:endParaRPr lang="en-US" sz="2000" dirty="0"/>
          </a:p>
          <a:p>
            <a:pPr eaLnBrk="1" hangingPunct="1">
              <a:lnSpc>
                <a:spcPct val="90000"/>
              </a:lnSpc>
              <a:buFontTx/>
              <a:buNone/>
              <a:defRPr/>
            </a:pPr>
            <a:r>
              <a:rPr lang="en-US" sz="2000" dirty="0"/>
              <a:t>    for </a:t>
            </a:r>
            <a:r>
              <a:rPr lang="en-US" sz="2000" dirty="0" err="1"/>
              <a:t>i</a:t>
            </a:r>
            <a:r>
              <a:rPr lang="en-US" sz="2000" dirty="0"/>
              <a:t> = 3:2:n  # odd: x[i-1] is a </a:t>
            </a:r>
            <a:r>
              <a:rPr lang="en-US" sz="2000" dirty="0" err="1"/>
              <a:t>cumsum,x</a:t>
            </a:r>
            <a:r>
              <a:rPr lang="en-US" sz="2000" dirty="0"/>
              <a:t>[</a:t>
            </a:r>
            <a:r>
              <a:rPr lang="en-US" sz="2000" dirty="0" err="1"/>
              <a:t>i</a:t>
            </a:r>
            <a:r>
              <a:rPr lang="en-US" sz="2000" dirty="0"/>
              <a:t>] is raw data</a:t>
            </a:r>
          </a:p>
          <a:p>
            <a:pPr eaLnBrk="1" hangingPunct="1">
              <a:lnSpc>
                <a:spcPct val="90000"/>
              </a:lnSpc>
              <a:buFontTx/>
              <a:buNone/>
              <a:defRPr/>
            </a:pPr>
            <a:r>
              <a:rPr lang="en-US" sz="2000" dirty="0"/>
              <a:t>        x[</a:t>
            </a:r>
            <a:r>
              <a:rPr lang="en-US" sz="2000" dirty="0" err="1"/>
              <a:t>i</a:t>
            </a:r>
            <a:r>
              <a:rPr lang="en-US" sz="2000" dirty="0"/>
              <a:t>] *= x[i-1]</a:t>
            </a:r>
          </a:p>
          <a:p>
            <a:pPr eaLnBrk="1" hangingPunct="1">
              <a:lnSpc>
                <a:spcPct val="90000"/>
              </a:lnSpc>
              <a:buFontTx/>
              <a:buNone/>
              <a:defRPr/>
            </a:pPr>
            <a:r>
              <a:rPr lang="en-US" sz="2000" dirty="0"/>
              <a:t>    end</a:t>
            </a:r>
          </a:p>
          <a:p>
            <a:pPr eaLnBrk="1" hangingPunct="1">
              <a:lnSpc>
                <a:spcPct val="90000"/>
              </a:lnSpc>
              <a:buFontTx/>
              <a:buNone/>
              <a:defRPr/>
            </a:pPr>
            <a:r>
              <a:rPr lang="en-US" sz="2000" dirty="0"/>
              <a:t> end</a:t>
            </a:r>
          </a:p>
        </p:txBody>
      </p:sp>
      <p:sp>
        <p:nvSpPr>
          <p:cNvPr id="23556" name="Text Box 4">
            <a:extLst>
              <a:ext uri="{FF2B5EF4-FFF2-40B4-BE49-F238E27FC236}">
                <a16:creationId xmlns:a16="http://schemas.microsoft.com/office/drawing/2014/main" id="{6656FDFC-EC12-5AC8-3FEB-C27F3A67BA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38600" y="6324600"/>
            <a:ext cx="47148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defRPr/>
            </a:pPr>
            <a:r>
              <a:rPr lang="en-US">
                <a:latin typeface="Arial" charset="0"/>
                <a:ea typeface="ＭＳ Ｐゴシック" charset="0"/>
              </a:rPr>
              <a:t>What does this reveal? What does this hide?</a:t>
            </a:r>
          </a:p>
        </p:txBody>
      </p:sp>
      <p:pic>
        <p:nvPicPr>
          <p:cNvPr id="11267" name="Picture 2">
            <a:extLst>
              <a:ext uri="{FF2B5EF4-FFF2-40B4-BE49-F238E27FC236}">
                <a16:creationId xmlns:a16="http://schemas.microsoft.com/office/drawing/2014/main" id="{E13940EF-6DB9-6A98-56BF-431FE2CE53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0550" y="-14287"/>
            <a:ext cx="1486788" cy="1004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C36414C3-D7D3-8FF7-7092-6F85BED2AAC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/>
              <a:t>Operation Count</a:t>
            </a:r>
          </a:p>
        </p:txBody>
      </p:sp>
      <p:sp>
        <p:nvSpPr>
          <p:cNvPr id="22531" name="Rectangle 3">
            <a:extLst>
              <a:ext uri="{FF2B5EF4-FFF2-40B4-BE49-F238E27FC236}">
                <a16:creationId xmlns:a16="http://schemas.microsoft.com/office/drawing/2014/main" id="{49F270E5-341C-D98F-51DD-7BF7F7D3621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u="sng"/>
              <a:t>Notice</a:t>
            </a:r>
            <a:endParaRPr lang="en-US"/>
          </a:p>
          <a:p>
            <a:pPr eaLnBrk="1" hangingPunct="1">
              <a:defRPr/>
            </a:pPr>
            <a:r>
              <a:rPr lang="en-US"/>
              <a:t># adds = 2n</a:t>
            </a:r>
          </a:p>
          <a:p>
            <a:pPr eaLnBrk="1" hangingPunct="1">
              <a:defRPr/>
            </a:pPr>
            <a:r>
              <a:rPr lang="en-US"/>
              <a:t># required = n</a:t>
            </a:r>
          </a:p>
          <a:p>
            <a:pPr eaLnBrk="1" hangingPunct="1">
              <a:defRPr/>
            </a:pPr>
            <a:endParaRPr lang="en-US"/>
          </a:p>
          <a:p>
            <a:pPr eaLnBrk="1" hangingPunct="1">
              <a:defRPr/>
            </a:pPr>
            <a:r>
              <a:rPr lang="en-US"/>
              <a:t>Parallelism at the cost of </a:t>
            </a:r>
            <a:r>
              <a:rPr lang="en-US" u="sng"/>
              <a:t>more</a:t>
            </a:r>
            <a:r>
              <a:rPr lang="en-US"/>
              <a:t> work!</a:t>
            </a:r>
          </a:p>
          <a:p>
            <a:pPr eaLnBrk="1" hangingPunct="1">
              <a:defRPr/>
            </a:pPr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>
            <a:extLst>
              <a:ext uri="{FF2B5EF4-FFF2-40B4-BE49-F238E27FC236}">
                <a16:creationId xmlns:a16="http://schemas.microsoft.com/office/drawing/2014/main" id="{BB506931-8ADB-B7B0-9801-AF70803D22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43200" y="3810000"/>
            <a:ext cx="2514600" cy="266541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algn="ctr"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800">
                <a:latin typeface="Times New Roman" charset="0"/>
                <a:ea typeface="ＭＳ Ｐゴシック" charset="0"/>
              </a:rPr>
              <a:t>All (=and) </a:t>
            </a:r>
          </a:p>
          <a:p>
            <a:pPr algn="ctr"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800">
                <a:latin typeface="Times New Roman" charset="0"/>
                <a:ea typeface="ＭＳ Ｐゴシック" charset="0"/>
              </a:rPr>
              <a:t>Any (= or)</a:t>
            </a:r>
          </a:p>
          <a:p>
            <a:pPr algn="ctr" eaLnBrk="0" hangingPunct="0">
              <a:lnSpc>
                <a:spcPct val="90000"/>
              </a:lnSpc>
              <a:spcBef>
                <a:spcPct val="50000"/>
              </a:spcBef>
              <a:defRPr/>
            </a:pPr>
            <a:endParaRPr lang="en-US" sz="2800">
              <a:latin typeface="Times New Roman" charset="0"/>
              <a:ea typeface="ＭＳ Ｐゴシック" charset="0"/>
            </a:endParaRPr>
          </a:p>
          <a:p>
            <a:pPr algn="ctr"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800">
                <a:latin typeface="Times New Roman" charset="0"/>
                <a:ea typeface="ＭＳ Ｐゴシック" charset="0"/>
              </a:rPr>
              <a:t>Input: Bits (Boolean)</a:t>
            </a:r>
          </a:p>
        </p:txBody>
      </p:sp>
      <p:sp>
        <p:nvSpPr>
          <p:cNvPr id="24579" name="Rectangle 3">
            <a:extLst>
              <a:ext uri="{FF2B5EF4-FFF2-40B4-BE49-F238E27FC236}">
                <a16:creationId xmlns:a16="http://schemas.microsoft.com/office/drawing/2014/main" id="{8DDD16C2-3D09-A8A2-AE4F-A880BAD3CC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" y="3657600"/>
            <a:ext cx="2197100" cy="3035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24580" name="Line 4">
            <a:extLst>
              <a:ext uri="{FF2B5EF4-FFF2-40B4-BE49-F238E27FC236}">
                <a16:creationId xmlns:a16="http://schemas.microsoft.com/office/drawing/2014/main" id="{D5B5D5B6-5EB1-2C53-A601-3A738A7BB85A}"/>
              </a:ext>
            </a:extLst>
          </p:cNvPr>
          <p:cNvSpPr>
            <a:spLocks noChangeShapeType="1"/>
          </p:cNvSpPr>
          <p:nvPr/>
        </p:nvSpPr>
        <p:spPr bwMode="auto">
          <a:xfrm>
            <a:off x="228600" y="6019800"/>
            <a:ext cx="22098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24581" name="Rectangle 5">
            <a:extLst>
              <a:ext uri="{FF2B5EF4-FFF2-40B4-BE49-F238E27FC236}">
                <a16:creationId xmlns:a16="http://schemas.microsoft.com/office/drawing/2014/main" id="{A6BDDB2B-B070-96F7-A36F-CFC95172CE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87738" y="1979613"/>
            <a:ext cx="1073150" cy="339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24582" name="Rectangle 6">
            <a:extLst>
              <a:ext uri="{FF2B5EF4-FFF2-40B4-BE49-F238E27FC236}">
                <a16:creationId xmlns:a16="http://schemas.microsoft.com/office/drawing/2014/main" id="{346D429D-503E-0DC4-2B3A-339150E4B3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3657600"/>
            <a:ext cx="1978025" cy="3465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algn="ctr"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800">
                <a:latin typeface="Times New Roman" charset="0"/>
                <a:ea typeface="ＭＳ Ｐゴシック" charset="0"/>
              </a:rPr>
              <a:t>Sum (+)</a:t>
            </a:r>
          </a:p>
          <a:p>
            <a:pPr algn="ctr"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800">
                <a:latin typeface="Times New Roman" charset="0"/>
                <a:ea typeface="ＭＳ Ｐゴシック" charset="0"/>
              </a:rPr>
              <a:t>Product (*)</a:t>
            </a:r>
          </a:p>
          <a:p>
            <a:pPr algn="ctr"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800">
                <a:latin typeface="Times New Roman" charset="0"/>
                <a:ea typeface="ＭＳ Ｐゴシック" charset="0"/>
              </a:rPr>
              <a:t>Max</a:t>
            </a:r>
          </a:p>
          <a:p>
            <a:pPr algn="ctr"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800">
                <a:latin typeface="Times New Roman" charset="0"/>
                <a:ea typeface="ＭＳ Ｐゴシック" charset="0"/>
              </a:rPr>
              <a:t>Min</a:t>
            </a:r>
          </a:p>
          <a:p>
            <a:pPr algn="ctr"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800">
                <a:latin typeface="Times New Roman" charset="0"/>
                <a:ea typeface="ＭＳ Ｐゴシック" charset="0"/>
              </a:rPr>
              <a:t>Input: Reals</a:t>
            </a:r>
          </a:p>
          <a:p>
            <a:pPr algn="ctr" eaLnBrk="0" hangingPunct="0">
              <a:lnSpc>
                <a:spcPct val="90000"/>
              </a:lnSpc>
              <a:spcBef>
                <a:spcPct val="50000"/>
              </a:spcBef>
              <a:defRPr/>
            </a:pPr>
            <a:endParaRPr lang="en-US" sz="2800">
              <a:latin typeface="Times New Roman" charset="0"/>
              <a:ea typeface="ＭＳ Ｐゴシック" charset="0"/>
            </a:endParaRPr>
          </a:p>
        </p:txBody>
      </p:sp>
      <p:sp>
        <p:nvSpPr>
          <p:cNvPr id="24583" name="Rectangle 7">
            <a:extLst>
              <a:ext uri="{FF2B5EF4-FFF2-40B4-BE49-F238E27FC236}">
                <a16:creationId xmlns:a16="http://schemas.microsoft.com/office/drawing/2014/main" id="{B8A7F66B-5E81-C8C8-A5A7-6D53EE0D43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" y="152400"/>
            <a:ext cx="86868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 anchor="ctr"/>
          <a:lstStyle/>
          <a:p>
            <a:pPr algn="ctr">
              <a:defRPr/>
            </a:pPr>
            <a:r>
              <a:rPr lang="en-US" sz="4400">
                <a:latin typeface="Times New Roman" charset="0"/>
                <a:ea typeface="ＭＳ Ｐゴシック" charset="0"/>
              </a:rPr>
              <a:t>Any Associative Operation works</a:t>
            </a:r>
          </a:p>
        </p:txBody>
      </p:sp>
      <p:sp>
        <p:nvSpPr>
          <p:cNvPr id="24584" name="Text Box 8">
            <a:extLst>
              <a:ext uri="{FF2B5EF4-FFF2-40B4-BE49-F238E27FC236}">
                <a16:creationId xmlns:a16="http://schemas.microsoft.com/office/drawing/2014/main" id="{30864947-BA4D-2C2A-C007-0225D9C7F1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1752600"/>
            <a:ext cx="2743200" cy="1084263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800">
                <a:latin typeface="Times New Roman" charset="0"/>
                <a:ea typeface="ＭＳ Ｐゴシック" charset="0"/>
              </a:rPr>
              <a:t>Associative:</a:t>
            </a:r>
          </a:p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800">
                <a:latin typeface="Times New Roman" charset="0"/>
                <a:ea typeface="ＭＳ Ｐゴシック" charset="0"/>
              </a:rPr>
              <a:t>(a  b)  c = a  (b  c)</a:t>
            </a:r>
          </a:p>
        </p:txBody>
      </p:sp>
      <p:sp>
        <p:nvSpPr>
          <p:cNvPr id="24585" name="Text Box 9">
            <a:extLst>
              <a:ext uri="{FF2B5EF4-FFF2-40B4-BE49-F238E27FC236}">
                <a16:creationId xmlns:a16="http://schemas.microsoft.com/office/drawing/2014/main" id="{A2825D39-3A96-30B8-AE37-A6A4E15B03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000" y="4800600"/>
            <a:ext cx="2511425" cy="10842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800">
                <a:latin typeface="Times New Roman" charset="0"/>
                <a:ea typeface="ＭＳ Ｐゴシック" charset="0"/>
              </a:rPr>
              <a:t>MatMul</a:t>
            </a:r>
          </a:p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800">
                <a:latin typeface="Times New Roman" charset="0"/>
                <a:ea typeface="ＭＳ Ｐゴシック" charset="0"/>
              </a:rPr>
              <a:t>Inputs: Matrices</a:t>
            </a:r>
            <a:endParaRPr lang="en-US" sz="2400">
              <a:latin typeface="Times New Roman" charset="0"/>
              <a:ea typeface="ＭＳ Ｐゴシック" charset="0"/>
            </a:endParaRPr>
          </a:p>
        </p:txBody>
      </p:sp>
      <p:sp>
        <p:nvSpPr>
          <p:cNvPr id="24586" name="Line 10">
            <a:extLst>
              <a:ext uri="{FF2B5EF4-FFF2-40B4-BE49-F238E27FC236}">
                <a16:creationId xmlns:a16="http://schemas.microsoft.com/office/drawing/2014/main" id="{63FFF71B-5643-422F-2965-C24CE99532EF}"/>
              </a:ext>
            </a:extLst>
          </p:cNvPr>
          <p:cNvSpPr>
            <a:spLocks noChangeShapeType="1"/>
          </p:cNvSpPr>
          <p:nvPr/>
        </p:nvSpPr>
        <p:spPr bwMode="auto">
          <a:xfrm>
            <a:off x="2743200" y="5486400"/>
            <a:ext cx="2514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24587" name="Line 11">
            <a:extLst>
              <a:ext uri="{FF2B5EF4-FFF2-40B4-BE49-F238E27FC236}">
                <a16:creationId xmlns:a16="http://schemas.microsoft.com/office/drawing/2014/main" id="{0472A040-4D59-4659-8F63-F9644E4C9B57}"/>
              </a:ext>
            </a:extLst>
          </p:cNvPr>
          <p:cNvSpPr>
            <a:spLocks noChangeShapeType="1"/>
          </p:cNvSpPr>
          <p:nvPr/>
        </p:nvSpPr>
        <p:spPr bwMode="auto">
          <a:xfrm>
            <a:off x="5715000" y="5334000"/>
            <a:ext cx="2514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grpSp>
        <p:nvGrpSpPr>
          <p:cNvPr id="13323" name="Group 15">
            <a:extLst>
              <a:ext uri="{FF2B5EF4-FFF2-40B4-BE49-F238E27FC236}">
                <a16:creationId xmlns:a16="http://schemas.microsoft.com/office/drawing/2014/main" id="{3E22A74C-1016-C74A-A63A-CA8CF33998B8}"/>
              </a:ext>
            </a:extLst>
          </p:cNvPr>
          <p:cNvGrpSpPr>
            <a:grpSpLocks/>
          </p:cNvGrpSpPr>
          <p:nvPr/>
        </p:nvGrpSpPr>
        <p:grpSpPr bwMode="auto">
          <a:xfrm>
            <a:off x="1295400" y="2362200"/>
            <a:ext cx="350838" cy="457200"/>
            <a:chOff x="4262" y="1174"/>
            <a:chExt cx="221" cy="288"/>
          </a:xfrm>
        </p:grpSpPr>
        <p:sp>
          <p:nvSpPr>
            <p:cNvPr id="24592" name="Text Box 16">
              <a:extLst>
                <a:ext uri="{FF2B5EF4-FFF2-40B4-BE49-F238E27FC236}">
                  <a16:creationId xmlns:a16="http://schemas.microsoft.com/office/drawing/2014/main" id="{8A156F2F-C101-F6FB-95B4-2910C55A96A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2" y="1174"/>
              <a:ext cx="221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en-US" sz="2400">
                  <a:latin typeface="Symbol" charset="0"/>
                  <a:ea typeface="ＭＳ Ｐゴシック" charset="0"/>
                </a:rPr>
                <a:t>+</a:t>
              </a:r>
            </a:p>
          </p:txBody>
        </p:sp>
        <p:sp>
          <p:nvSpPr>
            <p:cNvPr id="24593" name="Oval 17">
              <a:extLst>
                <a:ext uri="{FF2B5EF4-FFF2-40B4-BE49-F238E27FC236}">
                  <a16:creationId xmlns:a16="http://schemas.microsoft.com/office/drawing/2014/main" id="{84E36ED3-B01F-D403-0E75-AEE584531B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0" y="1296"/>
              <a:ext cx="96" cy="96"/>
            </a:xfrm>
            <a:prstGeom prst="ellipse">
              <a:avLst/>
            </a:prstGeom>
            <a:noFill/>
            <a:ln w="9525">
              <a:solidFill>
                <a:srgbClr val="FFFF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13324" name="Group 18">
            <a:extLst>
              <a:ext uri="{FF2B5EF4-FFF2-40B4-BE49-F238E27FC236}">
                <a16:creationId xmlns:a16="http://schemas.microsoft.com/office/drawing/2014/main" id="{089719A8-0DD0-EF7F-19C4-0EEB83C56811}"/>
              </a:ext>
            </a:extLst>
          </p:cNvPr>
          <p:cNvGrpSpPr>
            <a:grpSpLocks/>
          </p:cNvGrpSpPr>
          <p:nvPr/>
        </p:nvGrpSpPr>
        <p:grpSpPr bwMode="auto">
          <a:xfrm>
            <a:off x="1752600" y="2362200"/>
            <a:ext cx="350838" cy="457200"/>
            <a:chOff x="4262" y="1174"/>
            <a:chExt cx="221" cy="288"/>
          </a:xfrm>
        </p:grpSpPr>
        <p:sp>
          <p:nvSpPr>
            <p:cNvPr id="24595" name="Text Box 19">
              <a:extLst>
                <a:ext uri="{FF2B5EF4-FFF2-40B4-BE49-F238E27FC236}">
                  <a16:creationId xmlns:a16="http://schemas.microsoft.com/office/drawing/2014/main" id="{5B8A9128-8012-EC27-04C8-1C41F76E9E2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2" y="1174"/>
              <a:ext cx="221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en-US" sz="2400">
                  <a:latin typeface="Symbol" charset="0"/>
                  <a:ea typeface="ＭＳ Ｐゴシック" charset="0"/>
                </a:rPr>
                <a:t>+</a:t>
              </a:r>
            </a:p>
          </p:txBody>
        </p:sp>
        <p:sp>
          <p:nvSpPr>
            <p:cNvPr id="24596" name="Oval 20">
              <a:extLst>
                <a:ext uri="{FF2B5EF4-FFF2-40B4-BE49-F238E27FC236}">
                  <a16:creationId xmlns:a16="http://schemas.microsoft.com/office/drawing/2014/main" id="{0E74695A-57D6-B30D-1848-299B56E7B8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0" y="1296"/>
              <a:ext cx="96" cy="96"/>
            </a:xfrm>
            <a:prstGeom prst="ellipse">
              <a:avLst/>
            </a:prstGeom>
            <a:noFill/>
            <a:ln w="9525">
              <a:solidFill>
                <a:srgbClr val="FFFF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13325" name="Group 21">
            <a:extLst>
              <a:ext uri="{FF2B5EF4-FFF2-40B4-BE49-F238E27FC236}">
                <a16:creationId xmlns:a16="http://schemas.microsoft.com/office/drawing/2014/main" id="{014FE454-2BC5-111E-197F-CF0CE8B37E29}"/>
              </a:ext>
            </a:extLst>
          </p:cNvPr>
          <p:cNvGrpSpPr>
            <a:grpSpLocks/>
          </p:cNvGrpSpPr>
          <p:nvPr/>
        </p:nvGrpSpPr>
        <p:grpSpPr bwMode="auto">
          <a:xfrm>
            <a:off x="3124200" y="2362200"/>
            <a:ext cx="350838" cy="457200"/>
            <a:chOff x="4262" y="1174"/>
            <a:chExt cx="221" cy="288"/>
          </a:xfrm>
        </p:grpSpPr>
        <p:sp>
          <p:nvSpPr>
            <p:cNvPr id="24598" name="Text Box 22">
              <a:extLst>
                <a:ext uri="{FF2B5EF4-FFF2-40B4-BE49-F238E27FC236}">
                  <a16:creationId xmlns:a16="http://schemas.microsoft.com/office/drawing/2014/main" id="{325E453A-15F6-FC0C-232F-20E95C017F6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2" y="1174"/>
              <a:ext cx="221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en-US" sz="2400">
                  <a:latin typeface="Symbol" charset="0"/>
                  <a:ea typeface="ＭＳ Ｐゴシック" charset="0"/>
                </a:rPr>
                <a:t>+</a:t>
              </a:r>
            </a:p>
          </p:txBody>
        </p:sp>
        <p:sp>
          <p:nvSpPr>
            <p:cNvPr id="24599" name="Oval 23">
              <a:extLst>
                <a:ext uri="{FF2B5EF4-FFF2-40B4-BE49-F238E27FC236}">
                  <a16:creationId xmlns:a16="http://schemas.microsoft.com/office/drawing/2014/main" id="{CCE27EB2-EA1B-E450-ED9F-081F6A9397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0" y="1296"/>
              <a:ext cx="96" cy="96"/>
            </a:xfrm>
            <a:prstGeom prst="ellipse">
              <a:avLst/>
            </a:prstGeom>
            <a:noFill/>
            <a:ln w="9525">
              <a:solidFill>
                <a:srgbClr val="FFFF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13326" name="Group 24">
            <a:extLst>
              <a:ext uri="{FF2B5EF4-FFF2-40B4-BE49-F238E27FC236}">
                <a16:creationId xmlns:a16="http://schemas.microsoft.com/office/drawing/2014/main" id="{55A33EDE-E3E4-BB6A-8E7D-975706800CC9}"/>
              </a:ext>
            </a:extLst>
          </p:cNvPr>
          <p:cNvGrpSpPr>
            <a:grpSpLocks/>
          </p:cNvGrpSpPr>
          <p:nvPr/>
        </p:nvGrpSpPr>
        <p:grpSpPr bwMode="auto">
          <a:xfrm>
            <a:off x="2667000" y="2362200"/>
            <a:ext cx="350838" cy="457200"/>
            <a:chOff x="4262" y="1174"/>
            <a:chExt cx="221" cy="288"/>
          </a:xfrm>
        </p:grpSpPr>
        <p:sp>
          <p:nvSpPr>
            <p:cNvPr id="24601" name="Text Box 25">
              <a:extLst>
                <a:ext uri="{FF2B5EF4-FFF2-40B4-BE49-F238E27FC236}">
                  <a16:creationId xmlns:a16="http://schemas.microsoft.com/office/drawing/2014/main" id="{2E0632BB-710C-FEEA-01E5-905F789C82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2" y="1174"/>
              <a:ext cx="221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en-US" sz="2400">
                  <a:latin typeface="Symbol" charset="0"/>
                  <a:ea typeface="ＭＳ Ｐゴシック" charset="0"/>
                </a:rPr>
                <a:t>+</a:t>
              </a:r>
            </a:p>
          </p:txBody>
        </p:sp>
        <p:sp>
          <p:nvSpPr>
            <p:cNvPr id="24602" name="Oval 26">
              <a:extLst>
                <a:ext uri="{FF2B5EF4-FFF2-40B4-BE49-F238E27FC236}">
                  <a16:creationId xmlns:a16="http://schemas.microsoft.com/office/drawing/2014/main" id="{E09526C2-B00D-9204-38FF-B266C42148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0" y="1296"/>
              <a:ext cx="96" cy="96"/>
            </a:xfrm>
            <a:prstGeom prst="ellipse">
              <a:avLst/>
            </a:prstGeom>
            <a:noFill/>
            <a:ln w="9525">
              <a:solidFill>
                <a:srgbClr val="FFFF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7DC30114-6AFF-72F3-E96F-8A06B7E786F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8991600" cy="1143000"/>
          </a:xfrm>
        </p:spPr>
        <p:txBody>
          <a:bodyPr/>
          <a:lstStyle/>
          <a:p>
            <a:pPr eaLnBrk="1" hangingPunct="1">
              <a:defRPr/>
            </a:pPr>
            <a:r>
              <a:rPr lang="en-US"/>
              <a:t>Fibonacci via Matrix Multiply Prefix</a:t>
            </a:r>
          </a:p>
        </p:txBody>
      </p:sp>
      <p:sp>
        <p:nvSpPr>
          <p:cNvPr id="25603" name="Text Box 3">
            <a:extLst>
              <a:ext uri="{FF2B5EF4-FFF2-40B4-BE49-F238E27FC236}">
                <a16:creationId xmlns:a16="http://schemas.microsoft.com/office/drawing/2014/main" id="{160CDE39-CE42-20F7-6D49-9FF832C473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8800" y="1066800"/>
            <a:ext cx="2425700" cy="5286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800">
                <a:latin typeface="Times New Roman" charset="0"/>
                <a:ea typeface="ＭＳ Ｐゴシック" charset="0"/>
              </a:rPr>
              <a:t>F</a:t>
            </a:r>
            <a:r>
              <a:rPr lang="en-US" sz="2800" baseline="-25000">
                <a:latin typeface="Times New Roman" charset="0"/>
                <a:ea typeface="ＭＳ Ｐゴシック" charset="0"/>
              </a:rPr>
              <a:t>n+1</a:t>
            </a:r>
            <a:r>
              <a:rPr lang="en-US" sz="2800">
                <a:latin typeface="Times New Roman" charset="0"/>
                <a:ea typeface="ＭＳ Ｐゴシック" charset="0"/>
              </a:rPr>
              <a:t> = F</a:t>
            </a:r>
            <a:r>
              <a:rPr lang="en-US" sz="2800" baseline="-25000">
                <a:latin typeface="Times New Roman" charset="0"/>
                <a:ea typeface="ＭＳ Ｐゴシック" charset="0"/>
              </a:rPr>
              <a:t>n </a:t>
            </a:r>
            <a:r>
              <a:rPr lang="en-US" sz="2800">
                <a:latin typeface="Times New Roman" charset="0"/>
                <a:ea typeface="ＭＳ Ｐゴシック" charset="0"/>
              </a:rPr>
              <a:t> + F</a:t>
            </a:r>
            <a:r>
              <a:rPr lang="en-US" sz="2800" baseline="-25000">
                <a:latin typeface="Times New Roman" charset="0"/>
                <a:ea typeface="ＭＳ Ｐゴシック" charset="0"/>
              </a:rPr>
              <a:t>n-1</a:t>
            </a:r>
            <a:endParaRPr lang="en-US" sz="2800">
              <a:latin typeface="Times New Roman" charset="0"/>
              <a:ea typeface="ＭＳ Ｐゴシック" charset="0"/>
            </a:endParaRPr>
          </a:p>
        </p:txBody>
      </p:sp>
      <p:graphicFrame>
        <p:nvGraphicFramePr>
          <p:cNvPr id="14339" name="Object 4">
            <a:extLst>
              <a:ext uri="{FF2B5EF4-FFF2-40B4-BE49-F238E27FC236}">
                <a16:creationId xmlns:a16="http://schemas.microsoft.com/office/drawing/2014/main" id="{19664389-3159-4803-AEAF-03627EA43B5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295400" y="1981200"/>
          <a:ext cx="4349750" cy="157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0721300" imgH="11112500" progId="Equation.3">
                  <p:embed/>
                </p:oleObj>
              </mc:Choice>
              <mc:Fallback>
                <p:oleObj name="Equation" r:id="rId2" imgW="30721300" imgH="111125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95400" y="1981200"/>
                        <a:ext cx="4349750" cy="1574800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605" name="Text Box 5">
            <a:extLst>
              <a:ext uri="{FF2B5EF4-FFF2-40B4-BE49-F238E27FC236}">
                <a16:creationId xmlns:a16="http://schemas.microsoft.com/office/drawing/2014/main" id="{F517E79A-335B-335F-E0C6-D6E38A6D48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9925" y="4232275"/>
            <a:ext cx="6554788" cy="1676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Can compute all F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n  </a:t>
            </a:r>
            <a:r>
              <a:rPr lang="en-US" sz="2400">
                <a:latin typeface="Times New Roman" charset="0"/>
                <a:ea typeface="ＭＳ Ｐゴシック" charset="0"/>
              </a:rPr>
              <a:t>by matmul_prefix on </a:t>
            </a:r>
          </a:p>
          <a:p>
            <a:pPr>
              <a:defRPr/>
            </a:pPr>
            <a:r>
              <a:rPr lang="en-US" sz="4000">
                <a:latin typeface="Times New Roman" charset="0"/>
                <a:ea typeface="ＭＳ Ｐゴシック" charset="0"/>
              </a:rPr>
              <a:t>[</a:t>
            </a:r>
            <a:r>
              <a:rPr lang="en-US" sz="2400">
                <a:latin typeface="Times New Roman" charset="0"/>
                <a:ea typeface="ＭＳ Ｐゴシック" charset="0"/>
              </a:rPr>
              <a:t>        ,       ,       ,       ,        ,       ,      ,       ,        </a:t>
            </a:r>
            <a:r>
              <a:rPr lang="en-US" sz="4000">
                <a:latin typeface="Times New Roman" charset="0"/>
                <a:ea typeface="ＭＳ Ｐゴシック" charset="0"/>
              </a:rPr>
              <a:t>]</a:t>
            </a:r>
          </a:p>
          <a:p>
            <a:pPr>
              <a:defRPr/>
            </a:pPr>
            <a:r>
              <a:rPr lang="en-US" sz="4000">
                <a:latin typeface="Times New Roman" charset="0"/>
                <a:ea typeface="ＭＳ Ｐゴシック" charset="0"/>
              </a:rPr>
              <a:t>then select the upper left entry </a:t>
            </a:r>
            <a:r>
              <a:rPr lang="en-US" sz="2400">
                <a:latin typeface="Times New Roman" charset="0"/>
                <a:ea typeface="ＭＳ Ｐゴシック" charset="0"/>
              </a:rPr>
              <a:t> </a:t>
            </a:r>
          </a:p>
        </p:txBody>
      </p:sp>
      <p:graphicFrame>
        <p:nvGraphicFramePr>
          <p:cNvPr id="14341" name="Object 6">
            <a:extLst>
              <a:ext uri="{FF2B5EF4-FFF2-40B4-BE49-F238E27FC236}">
                <a16:creationId xmlns:a16="http://schemas.microsoft.com/office/drawing/2014/main" id="{30A5FE24-8710-F891-A4F6-E6F783656D2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66800" y="4800600"/>
          <a:ext cx="469900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0820400" imgH="10528300" progId="Equation.3">
                  <p:embed/>
                </p:oleObj>
              </mc:Choice>
              <mc:Fallback>
                <p:oleObj name="Equation" r:id="rId4" imgW="10820400" imgH="10528300" progId="Equation.3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66800" y="4800600"/>
                        <a:ext cx="469900" cy="457200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42" name="Object 7">
            <a:extLst>
              <a:ext uri="{FF2B5EF4-FFF2-40B4-BE49-F238E27FC236}">
                <a16:creationId xmlns:a16="http://schemas.microsoft.com/office/drawing/2014/main" id="{E287E27F-070C-246A-2840-F6E599BC488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76400" y="4800600"/>
          <a:ext cx="469900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0820400" imgH="10528300" progId="Equation.3">
                  <p:embed/>
                </p:oleObj>
              </mc:Choice>
              <mc:Fallback>
                <p:oleObj name="Equation" r:id="rId4" imgW="10820400" imgH="10528300" progId="Equation.3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76400" y="4800600"/>
                        <a:ext cx="469900" cy="457200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43" name="Object 8">
            <a:extLst>
              <a:ext uri="{FF2B5EF4-FFF2-40B4-BE49-F238E27FC236}">
                <a16:creationId xmlns:a16="http://schemas.microsoft.com/office/drawing/2014/main" id="{C3A30ACA-7B9B-9BFD-2579-DD64656A260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286000" y="4800600"/>
          <a:ext cx="469900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0820400" imgH="10528300" progId="Equation.3">
                  <p:embed/>
                </p:oleObj>
              </mc:Choice>
              <mc:Fallback>
                <p:oleObj name="Equation" r:id="rId4" imgW="10820400" imgH="10528300" progId="Equation.3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86000" y="4800600"/>
                        <a:ext cx="469900" cy="457200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44" name="Object 9">
            <a:extLst>
              <a:ext uri="{FF2B5EF4-FFF2-40B4-BE49-F238E27FC236}">
                <a16:creationId xmlns:a16="http://schemas.microsoft.com/office/drawing/2014/main" id="{446089F6-238C-3D12-11B8-045DFF742FE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895600" y="4800600"/>
          <a:ext cx="469900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0820400" imgH="10528300" progId="Equation.3">
                  <p:embed/>
                </p:oleObj>
              </mc:Choice>
              <mc:Fallback>
                <p:oleObj name="Equation" r:id="rId6" imgW="10820400" imgH="10528300" progId="Equation.3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0" y="4800600"/>
                        <a:ext cx="469900" cy="457200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45" name="Object 10">
            <a:extLst>
              <a:ext uri="{FF2B5EF4-FFF2-40B4-BE49-F238E27FC236}">
                <a16:creationId xmlns:a16="http://schemas.microsoft.com/office/drawing/2014/main" id="{CAF02C3B-647B-99E8-4FE6-2C58C8CDF2C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505200" y="4800600"/>
          <a:ext cx="469900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0820400" imgH="10528300" progId="Equation.3">
                  <p:embed/>
                </p:oleObj>
              </mc:Choice>
              <mc:Fallback>
                <p:oleObj name="Equation" r:id="rId6" imgW="10820400" imgH="10528300" progId="Equation.3">
                  <p:embed/>
                  <p:pic>
                    <p:nvPicPr>
                      <p:cNvPr id="0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05200" y="4800600"/>
                        <a:ext cx="469900" cy="457200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46" name="Object 11">
            <a:extLst>
              <a:ext uri="{FF2B5EF4-FFF2-40B4-BE49-F238E27FC236}">
                <a16:creationId xmlns:a16="http://schemas.microsoft.com/office/drawing/2014/main" id="{80440F7B-43F8-B0C0-928A-5DF519C26C0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114800" y="4800600"/>
          <a:ext cx="469900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0820400" imgH="10528300" progId="Equation.3">
                  <p:embed/>
                </p:oleObj>
              </mc:Choice>
              <mc:Fallback>
                <p:oleObj name="Equation" r:id="rId6" imgW="10820400" imgH="10528300" progId="Equation.3">
                  <p:embed/>
                  <p:pic>
                    <p:nvPicPr>
                      <p:cNvPr id="0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14800" y="4800600"/>
                        <a:ext cx="469900" cy="457200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47" name="Object 12">
            <a:extLst>
              <a:ext uri="{FF2B5EF4-FFF2-40B4-BE49-F238E27FC236}">
                <a16:creationId xmlns:a16="http://schemas.microsoft.com/office/drawing/2014/main" id="{62369B53-3C46-D927-9909-F4090CCB06B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724400" y="4800600"/>
          <a:ext cx="469900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0820400" imgH="10528300" progId="Equation.3">
                  <p:embed/>
                </p:oleObj>
              </mc:Choice>
              <mc:Fallback>
                <p:oleObj name="Equation" r:id="rId6" imgW="10820400" imgH="10528300" progId="Equation.3">
                  <p:embed/>
                  <p:pic>
                    <p:nvPicPr>
                      <p:cNvPr id="0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24400" y="4800600"/>
                        <a:ext cx="469900" cy="457200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48" name="Object 13">
            <a:extLst>
              <a:ext uri="{FF2B5EF4-FFF2-40B4-BE49-F238E27FC236}">
                <a16:creationId xmlns:a16="http://schemas.microsoft.com/office/drawing/2014/main" id="{ABA02170-FB43-5179-49F6-4780095FCCE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334000" y="4800600"/>
          <a:ext cx="469900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0820400" imgH="10528300" progId="Equation.3">
                  <p:embed/>
                </p:oleObj>
              </mc:Choice>
              <mc:Fallback>
                <p:oleObj name="Equation" r:id="rId7" imgW="10820400" imgH="10528300" progId="Equation.3">
                  <p:embed/>
                  <p:pic>
                    <p:nvPicPr>
                      <p:cNvPr id="0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0" y="4800600"/>
                        <a:ext cx="469900" cy="457200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49" name="Object 14">
            <a:extLst>
              <a:ext uri="{FF2B5EF4-FFF2-40B4-BE49-F238E27FC236}">
                <a16:creationId xmlns:a16="http://schemas.microsoft.com/office/drawing/2014/main" id="{612ACB2D-037E-10E7-5457-4AEFA9ED47B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943600" y="4800600"/>
          <a:ext cx="469900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0820400" imgH="10528300" progId="Equation.3">
                  <p:embed/>
                </p:oleObj>
              </mc:Choice>
              <mc:Fallback>
                <p:oleObj name="Equation" r:id="rId7" imgW="10820400" imgH="10528300" progId="Equation.3">
                  <p:embed/>
                  <p:pic>
                    <p:nvPicPr>
                      <p:cNvPr id="0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43600" y="4800600"/>
                        <a:ext cx="469900" cy="457200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>
            <a:extLst>
              <a:ext uri="{FF2B5EF4-FFF2-40B4-BE49-F238E27FC236}">
                <a16:creationId xmlns:a16="http://schemas.microsoft.com/office/drawing/2014/main" id="{F2C059DC-6B14-F5CF-FC2A-52429AE9980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76200"/>
            <a:ext cx="9144000" cy="1143000"/>
          </a:xfrm>
        </p:spPr>
        <p:txBody>
          <a:bodyPr/>
          <a:lstStyle/>
          <a:p>
            <a:pPr eaLnBrk="1" hangingPunct="1">
              <a:defRPr/>
            </a:pPr>
            <a:r>
              <a:rPr lang="en-US" sz="4000"/>
              <a:t>Arithmetic Modulo 2 (binary arithmetic)</a:t>
            </a:r>
          </a:p>
        </p:txBody>
      </p:sp>
      <p:sp>
        <p:nvSpPr>
          <p:cNvPr id="26627" name="Text Box 3">
            <a:extLst>
              <a:ext uri="{FF2B5EF4-FFF2-40B4-BE49-F238E27FC236}">
                <a16:creationId xmlns:a16="http://schemas.microsoft.com/office/drawing/2014/main" id="{9E38A2C8-9C30-2919-4EFF-BB69415F3D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4725" y="1717675"/>
            <a:ext cx="2530475" cy="155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0+0=0        0*0=0  </a:t>
            </a:r>
          </a:p>
          <a:p>
            <a:pPr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0+1=1        0*1=0</a:t>
            </a:r>
          </a:p>
          <a:p>
            <a:pPr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1+0=1        1*0=0</a:t>
            </a:r>
          </a:p>
          <a:p>
            <a:pPr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1+1=0        1*1=1</a:t>
            </a:r>
          </a:p>
        </p:txBody>
      </p:sp>
      <p:sp>
        <p:nvSpPr>
          <p:cNvPr id="26628" name="Text Box 4">
            <a:extLst>
              <a:ext uri="{FF2B5EF4-FFF2-40B4-BE49-F238E27FC236}">
                <a16:creationId xmlns:a16="http://schemas.microsoft.com/office/drawing/2014/main" id="{9E647935-5517-51EE-471E-92218F6858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3317875"/>
            <a:ext cx="1676400" cy="822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      Add =</a:t>
            </a:r>
          </a:p>
          <a:p>
            <a:pPr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exclusive or</a:t>
            </a:r>
          </a:p>
        </p:txBody>
      </p:sp>
      <p:sp>
        <p:nvSpPr>
          <p:cNvPr id="26629" name="Text Box 5">
            <a:extLst>
              <a:ext uri="{FF2B5EF4-FFF2-40B4-BE49-F238E27FC236}">
                <a16:creationId xmlns:a16="http://schemas.microsoft.com/office/drawing/2014/main" id="{3C15C518-FFC0-DC06-CF32-76639F2B02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3600" y="3276600"/>
            <a:ext cx="1676400" cy="822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    Mult =</a:t>
            </a:r>
          </a:p>
          <a:p>
            <a:pPr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      and</a:t>
            </a:r>
          </a:p>
        </p:txBody>
      </p:sp>
      <p:sp>
        <p:nvSpPr>
          <p:cNvPr id="26630" name="Rectangle 6">
            <a:extLst>
              <a:ext uri="{FF2B5EF4-FFF2-40B4-BE49-F238E27FC236}">
                <a16:creationId xmlns:a16="http://schemas.microsoft.com/office/drawing/2014/main" id="{1FF8DF83-BEFD-6E25-7118-0F7BDD0CA5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1447800"/>
            <a:ext cx="3505200" cy="28956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26631" name="Line 7">
            <a:extLst>
              <a:ext uri="{FF2B5EF4-FFF2-40B4-BE49-F238E27FC236}">
                <a16:creationId xmlns:a16="http://schemas.microsoft.com/office/drawing/2014/main" id="{6F4AFC07-29C4-70B4-81FA-2091A61B5010}"/>
              </a:ext>
            </a:extLst>
          </p:cNvPr>
          <p:cNvSpPr>
            <a:spLocks noChangeShapeType="1"/>
          </p:cNvSpPr>
          <p:nvPr/>
        </p:nvSpPr>
        <p:spPr bwMode="auto">
          <a:xfrm>
            <a:off x="2209800" y="1447800"/>
            <a:ext cx="0" cy="2895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26632" name="Line 8">
            <a:extLst>
              <a:ext uri="{FF2B5EF4-FFF2-40B4-BE49-F238E27FC236}">
                <a16:creationId xmlns:a16="http://schemas.microsoft.com/office/drawing/2014/main" id="{405BE2F7-CD5B-B85A-FBEA-933D182EBB81}"/>
              </a:ext>
            </a:extLst>
          </p:cNvPr>
          <p:cNvSpPr>
            <a:spLocks noChangeShapeType="1"/>
          </p:cNvSpPr>
          <p:nvPr/>
        </p:nvSpPr>
        <p:spPr bwMode="auto">
          <a:xfrm>
            <a:off x="304800" y="3352800"/>
            <a:ext cx="3505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>
            <a:extLst>
              <a:ext uri="{FF2B5EF4-FFF2-40B4-BE49-F238E27FC236}">
                <a16:creationId xmlns:a16="http://schemas.microsoft.com/office/drawing/2014/main" id="{7D019BB9-E3CD-BAEB-61C2-8405560803D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304800"/>
            <a:ext cx="9144000" cy="685800"/>
          </a:xfrm>
        </p:spPr>
        <p:txBody>
          <a:bodyPr/>
          <a:lstStyle/>
          <a:p>
            <a:pPr eaLnBrk="1" hangingPunct="1"/>
            <a:r>
              <a:rPr lang="en-US" altLang="en-US" sz="3600">
                <a:solidFill>
                  <a:schemeClr val="tx1"/>
                </a:solidFill>
              </a:rPr>
              <a:t>Carry-Look Ahead Addition (Babbage 1800</a:t>
            </a:r>
            <a:r>
              <a:rPr lang="ja-JP" altLang="en-US" sz="3600">
                <a:solidFill>
                  <a:schemeClr val="tx1"/>
                </a:solidFill>
              </a:rPr>
              <a:t>’</a:t>
            </a:r>
            <a:r>
              <a:rPr lang="en-US" altLang="ja-JP" sz="3600">
                <a:solidFill>
                  <a:schemeClr val="tx1"/>
                </a:solidFill>
              </a:rPr>
              <a:t>s)</a:t>
            </a:r>
            <a:endParaRPr lang="en-US" altLang="en-US" sz="3600">
              <a:solidFill>
                <a:schemeClr val="tx1"/>
              </a:solidFill>
            </a:endParaRPr>
          </a:p>
        </p:txBody>
      </p:sp>
      <p:sp>
        <p:nvSpPr>
          <p:cNvPr id="27651" name="Rectangle 3">
            <a:extLst>
              <a:ext uri="{FF2B5EF4-FFF2-40B4-BE49-F238E27FC236}">
                <a16:creationId xmlns:a16="http://schemas.microsoft.com/office/drawing/2014/main" id="{88470F9B-C7FF-3220-CCCA-2FEEEB276C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00" y="3886200"/>
            <a:ext cx="7162800" cy="838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 anchor="ctr"/>
          <a:lstStyle/>
          <a:p>
            <a:pPr algn="ctr">
              <a:defRPr/>
            </a:pPr>
            <a:r>
              <a:rPr lang="en-US" sz="3200">
                <a:latin typeface="Times New Roman" charset="0"/>
                <a:ea typeface="ＭＳ Ｐゴシック" charset="0"/>
              </a:rPr>
              <a:t>Goal: Add Two n-bit Integers </a:t>
            </a:r>
          </a:p>
        </p:txBody>
      </p:sp>
      <p:sp>
        <p:nvSpPr>
          <p:cNvPr id="27652" name="Rectangle 4">
            <a:extLst>
              <a:ext uri="{FF2B5EF4-FFF2-40B4-BE49-F238E27FC236}">
                <a16:creationId xmlns:a16="http://schemas.microsoft.com/office/drawing/2014/main" id="{59414D09-1C8A-3097-A9B1-8490C61DF9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371600"/>
            <a:ext cx="4495800" cy="23622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pPr marL="285750" indent="-285750">
              <a:spcBef>
                <a:spcPct val="20000"/>
              </a:spcBef>
              <a:defRPr/>
            </a:pPr>
            <a:r>
              <a:rPr lang="en-US" sz="3200" b="1">
                <a:latin typeface="Times New Roman" charset="0"/>
                <a:ea typeface="ＭＳ Ｐゴシック" charset="0"/>
              </a:rPr>
              <a:t>        </a:t>
            </a:r>
            <a:r>
              <a:rPr lang="en-US" sz="2000" b="1">
                <a:latin typeface="Times New Roman" charset="0"/>
                <a:ea typeface="ＭＳ Ｐゴシック" charset="0"/>
              </a:rPr>
              <a:t>Example</a:t>
            </a:r>
            <a:r>
              <a:rPr lang="en-US" sz="1400" b="1">
                <a:latin typeface="Times New Roman" charset="0"/>
                <a:ea typeface="ＭＳ Ｐゴシック" charset="0"/>
              </a:rPr>
              <a:t> </a:t>
            </a:r>
          </a:p>
          <a:p>
            <a:pPr marL="285750" indent="-285750">
              <a:spcBef>
                <a:spcPct val="20000"/>
              </a:spcBef>
              <a:defRPr/>
            </a:pPr>
            <a:r>
              <a:rPr lang="en-US" sz="1400" b="1">
                <a:latin typeface="Times New Roman" charset="0"/>
                <a:ea typeface="ＭＳ Ｐゴシック" charset="0"/>
              </a:rPr>
              <a:t>   </a:t>
            </a:r>
            <a:r>
              <a:rPr lang="en-US" sz="2400" b="1">
                <a:latin typeface="Times New Roman" charset="0"/>
                <a:ea typeface="ＭＳ Ｐゴシック" charset="0"/>
              </a:rPr>
              <a:t>1   0    1    1    1	  Carry</a:t>
            </a:r>
          </a:p>
          <a:p>
            <a:pPr marL="285750" indent="-285750">
              <a:spcBef>
                <a:spcPct val="20000"/>
              </a:spcBef>
              <a:defRPr/>
            </a:pPr>
            <a:r>
              <a:rPr lang="en-US" sz="2400" b="1">
                <a:latin typeface="Times New Roman" charset="0"/>
                <a:ea typeface="ＭＳ Ｐゴシック" charset="0"/>
              </a:rPr>
              <a:t>	   1    0    1    1    1    First Int </a:t>
            </a:r>
          </a:p>
          <a:p>
            <a:pPr marL="285750" indent="-285750">
              <a:spcBef>
                <a:spcPct val="20000"/>
              </a:spcBef>
              <a:defRPr/>
            </a:pPr>
            <a:r>
              <a:rPr lang="en-US" sz="2400" b="1">
                <a:latin typeface="Times New Roman" charset="0"/>
                <a:ea typeface="ＭＳ Ｐゴシック" charset="0"/>
              </a:rPr>
              <a:t>       1    0    1    0    1 Second Int</a:t>
            </a:r>
          </a:p>
          <a:p>
            <a:pPr marL="285750" indent="-285750">
              <a:spcBef>
                <a:spcPct val="20000"/>
              </a:spcBef>
              <a:defRPr/>
            </a:pPr>
            <a:r>
              <a:rPr lang="en-US" sz="2400" b="1">
                <a:latin typeface="Times New Roman" charset="0"/>
                <a:ea typeface="ＭＳ Ｐゴシック" charset="0"/>
              </a:rPr>
              <a:t> 1    0    1    1    0    0	  Sum		</a:t>
            </a:r>
          </a:p>
        </p:txBody>
      </p:sp>
      <p:sp>
        <p:nvSpPr>
          <p:cNvPr id="27653" name="Line 5">
            <a:extLst>
              <a:ext uri="{FF2B5EF4-FFF2-40B4-BE49-F238E27FC236}">
                <a16:creationId xmlns:a16="http://schemas.microsoft.com/office/drawing/2014/main" id="{C19D67C6-0E0D-A333-39CF-462DA633633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1371600"/>
            <a:ext cx="0" cy="2362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27654" name="Line 6">
            <a:extLst>
              <a:ext uri="{FF2B5EF4-FFF2-40B4-BE49-F238E27FC236}">
                <a16:creationId xmlns:a16="http://schemas.microsoft.com/office/drawing/2014/main" id="{EC625595-894D-B7E0-E21D-DB7ED3221CB8}"/>
              </a:ext>
            </a:extLst>
          </p:cNvPr>
          <p:cNvSpPr>
            <a:spLocks noChangeShapeType="1"/>
          </p:cNvSpPr>
          <p:nvPr/>
        </p:nvSpPr>
        <p:spPr bwMode="auto">
          <a:xfrm>
            <a:off x="609600" y="3276600"/>
            <a:ext cx="2362200" cy="0"/>
          </a:xfrm>
          <a:prstGeom prst="line">
            <a:avLst/>
          </a:prstGeom>
          <a:noFill/>
          <a:ln w="9525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>
            <a:extLst>
              <a:ext uri="{FF2B5EF4-FFF2-40B4-BE49-F238E27FC236}">
                <a16:creationId xmlns:a16="http://schemas.microsoft.com/office/drawing/2014/main" id="{73C2C49C-0086-9861-31E9-971E1D8A7AC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9144000" cy="685800"/>
          </a:xfrm>
        </p:spPr>
        <p:txBody>
          <a:bodyPr/>
          <a:lstStyle/>
          <a:p>
            <a:pPr eaLnBrk="1" hangingPunct="1"/>
            <a:r>
              <a:rPr lang="en-US" altLang="en-US" sz="2800">
                <a:solidFill>
                  <a:schemeClr val="tx1"/>
                </a:solidFill>
              </a:rPr>
              <a:t>Carry-Look Ahead Addition (Babbage 1800</a:t>
            </a:r>
            <a:r>
              <a:rPr lang="ja-JP" altLang="en-US" sz="2800">
                <a:solidFill>
                  <a:schemeClr val="tx1"/>
                </a:solidFill>
              </a:rPr>
              <a:t>’</a:t>
            </a:r>
            <a:r>
              <a:rPr lang="en-US" altLang="ja-JP" sz="2800">
                <a:solidFill>
                  <a:schemeClr val="tx1"/>
                </a:solidFill>
              </a:rPr>
              <a:t>s)</a:t>
            </a:r>
            <a:endParaRPr lang="en-US" altLang="en-US" sz="2800">
              <a:solidFill>
                <a:schemeClr val="tx1"/>
              </a:solidFill>
            </a:endParaRPr>
          </a:p>
        </p:txBody>
      </p:sp>
      <p:sp>
        <p:nvSpPr>
          <p:cNvPr id="28675" name="Rectangle 3">
            <a:extLst>
              <a:ext uri="{FF2B5EF4-FFF2-40B4-BE49-F238E27FC236}">
                <a16:creationId xmlns:a16="http://schemas.microsoft.com/office/drawing/2014/main" id="{143355B8-61F4-C002-5820-5A3E2A1DA6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609600"/>
            <a:ext cx="7162800" cy="838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 anchor="ctr"/>
          <a:lstStyle/>
          <a:p>
            <a:pPr algn="ctr">
              <a:defRPr/>
            </a:pPr>
            <a:r>
              <a:rPr lang="en-US" sz="3200">
                <a:latin typeface="Times New Roman" charset="0"/>
                <a:ea typeface="ＭＳ Ｐゴシック" charset="0"/>
              </a:rPr>
              <a:t>Goal: Add Two n-bit Integers</a:t>
            </a:r>
            <a:r>
              <a:rPr lang="en-US" sz="3200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</a:t>
            </a:r>
          </a:p>
        </p:txBody>
      </p:sp>
      <p:sp>
        <p:nvSpPr>
          <p:cNvPr id="28676" name="Rectangle 4">
            <a:extLst>
              <a:ext uri="{FF2B5EF4-FFF2-40B4-BE49-F238E27FC236}">
                <a16:creationId xmlns:a16="http://schemas.microsoft.com/office/drawing/2014/main" id="{94AD46E2-C100-913D-A733-7B15F4B65D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371600"/>
            <a:ext cx="7391400" cy="23622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pPr marL="285750" indent="-285750">
              <a:spcBef>
                <a:spcPct val="20000"/>
              </a:spcBef>
              <a:defRPr/>
            </a:pPr>
            <a:r>
              <a:rPr lang="en-US" sz="32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       </a:t>
            </a:r>
            <a:r>
              <a:rPr lang="en-US" sz="2000" b="1">
                <a:solidFill>
                  <a:schemeClr val="accent2"/>
                </a:solidFill>
                <a:latin typeface="Times New Roman" charset="0"/>
                <a:ea typeface="ＭＳ Ｐゴシック" charset="0"/>
              </a:rPr>
              <a:t>Example</a:t>
            </a:r>
            <a:r>
              <a:rPr lang="en-US" sz="1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                                                                               </a:t>
            </a:r>
            <a:r>
              <a:rPr lang="en-US" sz="2000" b="1">
                <a:solidFill>
                  <a:schemeClr val="accent2"/>
                </a:solidFill>
                <a:latin typeface="Times New Roman" charset="0"/>
                <a:ea typeface="ＭＳ Ｐゴシック" charset="0"/>
              </a:rPr>
              <a:t>Notation</a:t>
            </a:r>
          </a:p>
          <a:p>
            <a:pPr marL="285750" indent="-285750">
              <a:spcBef>
                <a:spcPct val="20000"/>
              </a:spcBef>
              <a:defRPr/>
            </a:pPr>
            <a:r>
              <a:rPr lang="en-US" sz="2400" b="1">
                <a:solidFill>
                  <a:schemeClr val="folHlink"/>
                </a:solidFill>
                <a:latin typeface="Times New Roman" charset="0"/>
                <a:ea typeface="ＭＳ Ｐゴシック" charset="0"/>
              </a:rPr>
              <a:t>  1   0    1    1    1</a:t>
            </a:r>
            <a:r>
              <a:rPr lang="en-US" sz="2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	  </a:t>
            </a:r>
            <a:r>
              <a:rPr lang="en-US" sz="2400" b="1">
                <a:solidFill>
                  <a:schemeClr val="folHlink"/>
                </a:solidFill>
                <a:latin typeface="Times New Roman" charset="0"/>
                <a:ea typeface="ＭＳ Ｐゴシック" charset="0"/>
              </a:rPr>
              <a:t>Carry</a:t>
            </a:r>
            <a:r>
              <a:rPr lang="en-US" sz="2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	</a:t>
            </a:r>
            <a:r>
              <a:rPr lang="en-US" sz="2400" b="1">
                <a:solidFill>
                  <a:schemeClr val="folHlink"/>
                </a:solidFill>
                <a:latin typeface="Times New Roman" charset="0"/>
                <a:ea typeface="ＭＳ Ｐゴシック" charset="0"/>
              </a:rPr>
              <a:t>c</a:t>
            </a:r>
            <a:r>
              <a:rPr lang="en-US" sz="2400" b="1" baseline="-25000">
                <a:solidFill>
                  <a:schemeClr val="folHlink"/>
                </a:solidFill>
                <a:latin typeface="Times New Roman" charset="0"/>
                <a:ea typeface="ＭＳ Ｐゴシック" charset="0"/>
              </a:rPr>
              <a:t>2</a:t>
            </a:r>
            <a:r>
              <a:rPr lang="en-US" sz="2400" b="1">
                <a:solidFill>
                  <a:schemeClr val="folHlink"/>
                </a:solidFill>
                <a:latin typeface="Times New Roman" charset="0"/>
                <a:ea typeface="ＭＳ Ｐゴシック" charset="0"/>
              </a:rPr>
              <a:t>     c</a:t>
            </a:r>
            <a:r>
              <a:rPr lang="en-US" sz="2400" b="1" baseline="-25000">
                <a:solidFill>
                  <a:schemeClr val="folHlink"/>
                </a:solidFill>
                <a:latin typeface="Times New Roman" charset="0"/>
                <a:ea typeface="ＭＳ Ｐゴシック" charset="0"/>
              </a:rPr>
              <a:t>1</a:t>
            </a:r>
            <a:r>
              <a:rPr lang="en-US" sz="2400" b="1">
                <a:solidFill>
                  <a:schemeClr val="folHlink"/>
                </a:solidFill>
                <a:latin typeface="Times New Roman" charset="0"/>
                <a:ea typeface="ＭＳ Ｐゴシック" charset="0"/>
              </a:rPr>
              <a:t>     c</a:t>
            </a:r>
            <a:r>
              <a:rPr lang="en-US" sz="2400" b="1" baseline="-25000">
                <a:solidFill>
                  <a:schemeClr val="folHlink"/>
                </a:solidFill>
                <a:latin typeface="Times New Roman" charset="0"/>
                <a:ea typeface="ＭＳ Ｐゴシック" charset="0"/>
              </a:rPr>
              <a:t>0</a:t>
            </a:r>
            <a:endParaRPr lang="en-US" sz="2400" b="1">
              <a:solidFill>
                <a:schemeClr val="folHlink"/>
              </a:solidFill>
              <a:latin typeface="Times New Roman" charset="0"/>
              <a:ea typeface="ＭＳ Ｐゴシック" charset="0"/>
            </a:endParaRPr>
          </a:p>
          <a:p>
            <a:pPr marL="285750" indent="-285750">
              <a:spcBef>
                <a:spcPct val="20000"/>
              </a:spcBef>
              <a:defRPr/>
            </a:pPr>
            <a:r>
              <a:rPr lang="en-US" sz="2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      </a:t>
            </a:r>
            <a:r>
              <a:rPr lang="en-US" sz="2400" b="1">
                <a:latin typeface="Times New Roman" charset="0"/>
                <a:ea typeface="ＭＳ Ｐゴシック" charset="0"/>
              </a:rPr>
              <a:t>1    0    1    1    1    First Int	a</a:t>
            </a:r>
            <a:r>
              <a:rPr lang="en-US" sz="2400" b="1" baseline="-25000">
                <a:latin typeface="Times New Roman" charset="0"/>
                <a:ea typeface="ＭＳ Ｐゴシック" charset="0"/>
              </a:rPr>
              <a:t>3</a:t>
            </a:r>
            <a:r>
              <a:rPr lang="en-US" sz="2400" b="1">
                <a:latin typeface="Times New Roman" charset="0"/>
                <a:ea typeface="ＭＳ Ｐゴシック" charset="0"/>
              </a:rPr>
              <a:t>     a</a:t>
            </a:r>
            <a:r>
              <a:rPr lang="en-US" sz="2400" b="1" baseline="-25000">
                <a:latin typeface="Times New Roman" charset="0"/>
                <a:ea typeface="ＭＳ Ｐゴシック" charset="0"/>
              </a:rPr>
              <a:t>2</a:t>
            </a:r>
            <a:r>
              <a:rPr lang="en-US" sz="2400" b="1">
                <a:latin typeface="Times New Roman" charset="0"/>
                <a:ea typeface="ＭＳ Ｐゴシック" charset="0"/>
              </a:rPr>
              <a:t>     a</a:t>
            </a:r>
            <a:r>
              <a:rPr lang="en-US" sz="2400" b="1" baseline="-25000">
                <a:latin typeface="Times New Roman" charset="0"/>
                <a:ea typeface="ＭＳ Ｐゴシック" charset="0"/>
              </a:rPr>
              <a:t>1</a:t>
            </a:r>
            <a:r>
              <a:rPr lang="en-US" sz="2400" b="1">
                <a:latin typeface="Times New Roman" charset="0"/>
                <a:ea typeface="ＭＳ Ｐゴシック" charset="0"/>
              </a:rPr>
              <a:t>     a</a:t>
            </a:r>
            <a:r>
              <a:rPr lang="en-US" sz="2400" b="1" baseline="-25000">
                <a:latin typeface="Times New Roman" charset="0"/>
                <a:ea typeface="ＭＳ Ｐゴシック" charset="0"/>
              </a:rPr>
              <a:t>0</a:t>
            </a:r>
            <a:endParaRPr lang="en-US" sz="2400" b="1">
              <a:latin typeface="Times New Roman" charset="0"/>
              <a:ea typeface="ＭＳ Ｐゴシック" charset="0"/>
            </a:endParaRPr>
          </a:p>
          <a:p>
            <a:pPr marL="285750" indent="-285750">
              <a:spcBef>
                <a:spcPct val="20000"/>
              </a:spcBef>
              <a:defRPr/>
            </a:pPr>
            <a:r>
              <a:rPr lang="en-US" sz="2400" b="1">
                <a:latin typeface="Times New Roman" charset="0"/>
                <a:ea typeface="ＭＳ Ｐゴシック" charset="0"/>
              </a:rPr>
              <a:t>       1    0    1    0    1  Second Int	b</a:t>
            </a:r>
            <a:r>
              <a:rPr lang="en-US" sz="2400" b="1" baseline="-25000">
                <a:latin typeface="Times New Roman" charset="0"/>
                <a:ea typeface="ＭＳ Ｐゴシック" charset="0"/>
              </a:rPr>
              <a:t>3</a:t>
            </a:r>
            <a:r>
              <a:rPr lang="en-US" sz="2400" b="1">
                <a:latin typeface="Times New Roman" charset="0"/>
                <a:ea typeface="ＭＳ Ｐゴシック" charset="0"/>
              </a:rPr>
              <a:t>     b</a:t>
            </a:r>
            <a:r>
              <a:rPr lang="en-US" sz="2400" b="1" baseline="-25000">
                <a:latin typeface="Times New Roman" charset="0"/>
                <a:ea typeface="ＭＳ Ｐゴシック" charset="0"/>
              </a:rPr>
              <a:t>2</a:t>
            </a:r>
            <a:r>
              <a:rPr lang="en-US" sz="2400" b="1">
                <a:latin typeface="Times New Roman" charset="0"/>
                <a:ea typeface="ＭＳ Ｐゴシック" charset="0"/>
              </a:rPr>
              <a:t>     b</a:t>
            </a:r>
            <a:r>
              <a:rPr lang="en-US" sz="2400" b="1" baseline="-25000">
                <a:latin typeface="Times New Roman" charset="0"/>
                <a:ea typeface="ＭＳ Ｐゴシック" charset="0"/>
              </a:rPr>
              <a:t>1</a:t>
            </a:r>
            <a:r>
              <a:rPr lang="en-US" sz="2400" b="1">
                <a:latin typeface="Times New Roman" charset="0"/>
                <a:ea typeface="ＭＳ Ｐゴシック" charset="0"/>
              </a:rPr>
              <a:t>    b</a:t>
            </a:r>
            <a:r>
              <a:rPr lang="en-US" sz="2400" b="1" baseline="-25000">
                <a:latin typeface="Times New Roman" charset="0"/>
                <a:ea typeface="ＭＳ Ｐゴシック" charset="0"/>
              </a:rPr>
              <a:t>0</a:t>
            </a:r>
            <a:endParaRPr lang="en-US" sz="2400" b="1">
              <a:latin typeface="Times New Roman" charset="0"/>
              <a:ea typeface="ＭＳ Ｐゴシック" charset="0"/>
            </a:endParaRPr>
          </a:p>
          <a:p>
            <a:pPr marL="285750" indent="-285750">
              <a:spcBef>
                <a:spcPct val="20000"/>
              </a:spcBef>
              <a:defRPr/>
            </a:pPr>
            <a:r>
              <a:rPr lang="en-US" sz="2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1    0    1    1    0    0	  Sum		s</a:t>
            </a:r>
            <a:r>
              <a:rPr lang="en-US" sz="2400" b="1" baseline="-25000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3</a:t>
            </a:r>
            <a:r>
              <a:rPr lang="en-US" sz="2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    s</a:t>
            </a:r>
            <a:r>
              <a:rPr lang="en-US" sz="2400" b="1" baseline="-25000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2</a:t>
            </a:r>
            <a:r>
              <a:rPr lang="en-US" sz="2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     s</a:t>
            </a:r>
            <a:r>
              <a:rPr lang="en-US" sz="2400" b="1" baseline="-25000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1</a:t>
            </a:r>
            <a:r>
              <a:rPr lang="en-US" sz="2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    s</a:t>
            </a:r>
            <a:r>
              <a:rPr lang="en-US" sz="2400" b="1" baseline="-25000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0</a:t>
            </a:r>
            <a:r>
              <a:rPr lang="en-US" sz="2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</a:t>
            </a:r>
          </a:p>
        </p:txBody>
      </p:sp>
      <p:sp>
        <p:nvSpPr>
          <p:cNvPr id="28677" name="Line 5">
            <a:extLst>
              <a:ext uri="{FF2B5EF4-FFF2-40B4-BE49-F238E27FC236}">
                <a16:creationId xmlns:a16="http://schemas.microsoft.com/office/drawing/2014/main" id="{82432129-8AE3-BA03-0761-6285ADAD3C4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1371600"/>
            <a:ext cx="0" cy="2362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28678" name="Line 6">
            <a:extLst>
              <a:ext uri="{FF2B5EF4-FFF2-40B4-BE49-F238E27FC236}">
                <a16:creationId xmlns:a16="http://schemas.microsoft.com/office/drawing/2014/main" id="{4783A1ED-786C-54D7-2E50-4EB80B9F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4876800" y="1371600"/>
            <a:ext cx="0" cy="2438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28679" name="Line 7">
            <a:extLst>
              <a:ext uri="{FF2B5EF4-FFF2-40B4-BE49-F238E27FC236}">
                <a16:creationId xmlns:a16="http://schemas.microsoft.com/office/drawing/2014/main" id="{A7CAA82A-822A-45C9-830E-66A5ADED8B8D}"/>
              </a:ext>
            </a:extLst>
          </p:cNvPr>
          <p:cNvSpPr>
            <a:spLocks noChangeShapeType="1"/>
          </p:cNvSpPr>
          <p:nvPr/>
        </p:nvSpPr>
        <p:spPr bwMode="auto">
          <a:xfrm>
            <a:off x="609600" y="3276600"/>
            <a:ext cx="2362200" cy="0"/>
          </a:xfrm>
          <a:prstGeom prst="line">
            <a:avLst/>
          </a:prstGeom>
          <a:noFill/>
          <a:ln w="9525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28680" name="Line 8">
            <a:extLst>
              <a:ext uri="{FF2B5EF4-FFF2-40B4-BE49-F238E27FC236}">
                <a16:creationId xmlns:a16="http://schemas.microsoft.com/office/drawing/2014/main" id="{29FCE1F2-5992-7EA6-FAA8-E314E21AA962}"/>
              </a:ext>
            </a:extLst>
          </p:cNvPr>
          <p:cNvSpPr>
            <a:spLocks noChangeShapeType="1"/>
          </p:cNvSpPr>
          <p:nvPr/>
        </p:nvSpPr>
        <p:spPr bwMode="auto">
          <a:xfrm>
            <a:off x="5105400" y="3276600"/>
            <a:ext cx="2362200" cy="0"/>
          </a:xfrm>
          <a:prstGeom prst="line">
            <a:avLst/>
          </a:prstGeom>
          <a:noFill/>
          <a:ln w="9525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941CC913-3818-F621-3668-8C40AB7EF43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66675"/>
            <a:ext cx="9144000" cy="685800"/>
          </a:xfrm>
        </p:spPr>
        <p:txBody>
          <a:bodyPr/>
          <a:lstStyle/>
          <a:p>
            <a:pPr eaLnBrk="1" hangingPunct="1"/>
            <a:r>
              <a:rPr lang="en-US" altLang="en-US" sz="3600">
                <a:solidFill>
                  <a:schemeClr val="tx1"/>
                </a:solidFill>
              </a:rPr>
              <a:t>Carry-Look Ahead Addition (Babbage 1800</a:t>
            </a:r>
            <a:r>
              <a:rPr lang="ja-JP" altLang="en-US" sz="3600">
                <a:solidFill>
                  <a:schemeClr val="tx1"/>
                </a:solidFill>
              </a:rPr>
              <a:t>’</a:t>
            </a:r>
            <a:r>
              <a:rPr lang="en-US" altLang="ja-JP" sz="3600">
                <a:solidFill>
                  <a:schemeClr val="tx1"/>
                </a:solidFill>
              </a:rPr>
              <a:t>s)</a:t>
            </a:r>
            <a:endParaRPr lang="en-US" altLang="en-US" sz="3600">
              <a:solidFill>
                <a:schemeClr val="tx1"/>
              </a:solidFill>
            </a:endParaRPr>
          </a:p>
        </p:txBody>
      </p:sp>
      <p:sp>
        <p:nvSpPr>
          <p:cNvPr id="29699" name="Rectangle 3">
            <a:extLst>
              <a:ext uri="{FF2B5EF4-FFF2-40B4-BE49-F238E27FC236}">
                <a16:creationId xmlns:a16="http://schemas.microsoft.com/office/drawing/2014/main" id="{5F8E464F-F26A-4D5F-888F-779FFA1DE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609600"/>
            <a:ext cx="7162800" cy="838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 anchor="ctr"/>
          <a:lstStyle/>
          <a:p>
            <a:pPr algn="ctr">
              <a:defRPr/>
            </a:pPr>
            <a:r>
              <a:rPr lang="en-US" sz="3200">
                <a:latin typeface="Times New Roman" charset="0"/>
                <a:ea typeface="ＭＳ Ｐゴシック" charset="0"/>
              </a:rPr>
              <a:t>Goal: Add Two n-bit Integers</a:t>
            </a:r>
            <a:r>
              <a:rPr lang="en-US" sz="3200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</a:t>
            </a:r>
          </a:p>
        </p:txBody>
      </p:sp>
      <p:sp>
        <p:nvSpPr>
          <p:cNvPr id="29700" name="Rectangle 4">
            <a:extLst>
              <a:ext uri="{FF2B5EF4-FFF2-40B4-BE49-F238E27FC236}">
                <a16:creationId xmlns:a16="http://schemas.microsoft.com/office/drawing/2014/main" id="{F9260022-72BB-D1C7-D49B-E4901F16CD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371600"/>
            <a:ext cx="7391400" cy="23622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pPr marL="285750" indent="-285750">
              <a:spcBef>
                <a:spcPct val="20000"/>
              </a:spcBef>
              <a:defRPr/>
            </a:pPr>
            <a:r>
              <a:rPr lang="en-US" sz="32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       </a:t>
            </a:r>
            <a:r>
              <a:rPr lang="en-US" sz="2000" b="1">
                <a:solidFill>
                  <a:schemeClr val="accent2"/>
                </a:solidFill>
                <a:latin typeface="Times New Roman" charset="0"/>
                <a:ea typeface="ＭＳ Ｐゴシック" charset="0"/>
              </a:rPr>
              <a:t>Example</a:t>
            </a:r>
            <a:r>
              <a:rPr lang="en-US" sz="1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                                                                               </a:t>
            </a:r>
            <a:r>
              <a:rPr lang="en-US" sz="2000" b="1">
                <a:solidFill>
                  <a:schemeClr val="accent2"/>
                </a:solidFill>
                <a:latin typeface="Times New Roman" charset="0"/>
                <a:ea typeface="ＭＳ Ｐゴシック" charset="0"/>
              </a:rPr>
              <a:t>Notation</a:t>
            </a:r>
          </a:p>
          <a:p>
            <a:pPr marL="285750" indent="-285750">
              <a:spcBef>
                <a:spcPct val="20000"/>
              </a:spcBef>
              <a:defRPr/>
            </a:pPr>
            <a:r>
              <a:rPr lang="en-US" sz="2400" b="1">
                <a:solidFill>
                  <a:schemeClr val="folHlink"/>
                </a:solidFill>
                <a:latin typeface="Times New Roman" charset="0"/>
                <a:ea typeface="ＭＳ Ｐゴシック" charset="0"/>
              </a:rPr>
              <a:t>  1   0    1    1    1</a:t>
            </a:r>
            <a:r>
              <a:rPr lang="en-US" sz="2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	  </a:t>
            </a:r>
            <a:r>
              <a:rPr lang="en-US" sz="2400" b="1">
                <a:solidFill>
                  <a:schemeClr val="folHlink"/>
                </a:solidFill>
                <a:latin typeface="Times New Roman" charset="0"/>
                <a:ea typeface="ＭＳ Ｐゴシック" charset="0"/>
              </a:rPr>
              <a:t>Carry</a:t>
            </a:r>
            <a:r>
              <a:rPr lang="en-US" sz="2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	</a:t>
            </a:r>
            <a:r>
              <a:rPr lang="en-US" sz="2400" b="1">
                <a:solidFill>
                  <a:schemeClr val="folHlink"/>
                </a:solidFill>
                <a:latin typeface="Times New Roman" charset="0"/>
                <a:ea typeface="ＭＳ Ｐゴシック" charset="0"/>
              </a:rPr>
              <a:t>c</a:t>
            </a:r>
            <a:r>
              <a:rPr lang="en-US" sz="2400" b="1" baseline="-25000">
                <a:solidFill>
                  <a:schemeClr val="folHlink"/>
                </a:solidFill>
                <a:latin typeface="Times New Roman" charset="0"/>
                <a:ea typeface="ＭＳ Ｐゴシック" charset="0"/>
              </a:rPr>
              <a:t>2</a:t>
            </a:r>
            <a:r>
              <a:rPr lang="en-US" sz="2400" b="1">
                <a:solidFill>
                  <a:schemeClr val="folHlink"/>
                </a:solidFill>
                <a:latin typeface="Times New Roman" charset="0"/>
                <a:ea typeface="ＭＳ Ｐゴシック" charset="0"/>
              </a:rPr>
              <a:t>     c</a:t>
            </a:r>
            <a:r>
              <a:rPr lang="en-US" sz="2400" b="1" baseline="-25000">
                <a:solidFill>
                  <a:schemeClr val="folHlink"/>
                </a:solidFill>
                <a:latin typeface="Times New Roman" charset="0"/>
                <a:ea typeface="ＭＳ Ｐゴシック" charset="0"/>
              </a:rPr>
              <a:t>1</a:t>
            </a:r>
            <a:r>
              <a:rPr lang="en-US" sz="2400" b="1">
                <a:solidFill>
                  <a:schemeClr val="folHlink"/>
                </a:solidFill>
                <a:latin typeface="Times New Roman" charset="0"/>
                <a:ea typeface="ＭＳ Ｐゴシック" charset="0"/>
              </a:rPr>
              <a:t>     c</a:t>
            </a:r>
            <a:r>
              <a:rPr lang="en-US" sz="2400" b="1" baseline="-25000">
                <a:solidFill>
                  <a:schemeClr val="folHlink"/>
                </a:solidFill>
                <a:latin typeface="Times New Roman" charset="0"/>
                <a:ea typeface="ＭＳ Ｐゴシック" charset="0"/>
              </a:rPr>
              <a:t>0</a:t>
            </a:r>
            <a:endParaRPr lang="en-US" sz="2400" b="1">
              <a:solidFill>
                <a:schemeClr val="folHlink"/>
              </a:solidFill>
              <a:latin typeface="Times New Roman" charset="0"/>
              <a:ea typeface="ＭＳ Ｐゴシック" charset="0"/>
            </a:endParaRPr>
          </a:p>
          <a:p>
            <a:pPr marL="285750" indent="-285750">
              <a:spcBef>
                <a:spcPct val="20000"/>
              </a:spcBef>
              <a:defRPr/>
            </a:pPr>
            <a:r>
              <a:rPr lang="en-US" sz="2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      </a:t>
            </a:r>
            <a:r>
              <a:rPr lang="en-US" sz="2400" b="1">
                <a:latin typeface="Times New Roman" charset="0"/>
                <a:ea typeface="ＭＳ Ｐゴシック" charset="0"/>
              </a:rPr>
              <a:t>1    0    1    1    1    First Int	a</a:t>
            </a:r>
            <a:r>
              <a:rPr lang="en-US" sz="2400" b="1" baseline="-25000">
                <a:latin typeface="Times New Roman" charset="0"/>
                <a:ea typeface="ＭＳ Ｐゴシック" charset="0"/>
              </a:rPr>
              <a:t>3</a:t>
            </a:r>
            <a:r>
              <a:rPr lang="en-US" sz="2400" b="1">
                <a:latin typeface="Times New Roman" charset="0"/>
                <a:ea typeface="ＭＳ Ｐゴシック" charset="0"/>
              </a:rPr>
              <a:t>     a</a:t>
            </a:r>
            <a:r>
              <a:rPr lang="en-US" sz="2400" b="1" baseline="-25000">
                <a:latin typeface="Times New Roman" charset="0"/>
                <a:ea typeface="ＭＳ Ｐゴシック" charset="0"/>
              </a:rPr>
              <a:t>2</a:t>
            </a:r>
            <a:r>
              <a:rPr lang="en-US" sz="2400" b="1">
                <a:latin typeface="Times New Roman" charset="0"/>
                <a:ea typeface="ＭＳ Ｐゴシック" charset="0"/>
              </a:rPr>
              <a:t>     a</a:t>
            </a:r>
            <a:r>
              <a:rPr lang="en-US" sz="2400" b="1" baseline="-25000">
                <a:latin typeface="Times New Roman" charset="0"/>
                <a:ea typeface="ＭＳ Ｐゴシック" charset="0"/>
              </a:rPr>
              <a:t>1</a:t>
            </a:r>
            <a:r>
              <a:rPr lang="en-US" sz="2400" b="1">
                <a:latin typeface="Times New Roman" charset="0"/>
                <a:ea typeface="ＭＳ Ｐゴシック" charset="0"/>
              </a:rPr>
              <a:t>     a</a:t>
            </a:r>
            <a:r>
              <a:rPr lang="en-US" sz="2400" b="1" baseline="-25000">
                <a:latin typeface="Times New Roman" charset="0"/>
                <a:ea typeface="ＭＳ Ｐゴシック" charset="0"/>
              </a:rPr>
              <a:t>0</a:t>
            </a:r>
            <a:endParaRPr lang="en-US" sz="2400" b="1">
              <a:latin typeface="Times New Roman" charset="0"/>
              <a:ea typeface="ＭＳ Ｐゴシック" charset="0"/>
            </a:endParaRPr>
          </a:p>
          <a:p>
            <a:pPr marL="285750" indent="-285750">
              <a:spcBef>
                <a:spcPct val="20000"/>
              </a:spcBef>
              <a:defRPr/>
            </a:pPr>
            <a:r>
              <a:rPr lang="en-US" sz="2400" b="1">
                <a:latin typeface="Times New Roman" charset="0"/>
                <a:ea typeface="ＭＳ Ｐゴシック" charset="0"/>
              </a:rPr>
              <a:t>       1    0    1    0    1  Second Int	a</a:t>
            </a:r>
            <a:r>
              <a:rPr lang="en-US" sz="2400" b="1" baseline="-25000">
                <a:latin typeface="Times New Roman" charset="0"/>
                <a:ea typeface="ＭＳ Ｐゴシック" charset="0"/>
              </a:rPr>
              <a:t>3</a:t>
            </a:r>
            <a:r>
              <a:rPr lang="en-US" sz="2400" b="1">
                <a:latin typeface="Times New Roman" charset="0"/>
                <a:ea typeface="ＭＳ Ｐゴシック" charset="0"/>
              </a:rPr>
              <a:t>     b</a:t>
            </a:r>
            <a:r>
              <a:rPr lang="en-US" sz="2400" b="1" baseline="-25000">
                <a:latin typeface="Times New Roman" charset="0"/>
                <a:ea typeface="ＭＳ Ｐゴシック" charset="0"/>
              </a:rPr>
              <a:t>2</a:t>
            </a:r>
            <a:r>
              <a:rPr lang="en-US" sz="2400" b="1">
                <a:latin typeface="Times New Roman" charset="0"/>
                <a:ea typeface="ＭＳ Ｐゴシック" charset="0"/>
              </a:rPr>
              <a:t>     b</a:t>
            </a:r>
            <a:r>
              <a:rPr lang="en-US" sz="2400" b="1" baseline="-25000">
                <a:latin typeface="Times New Roman" charset="0"/>
                <a:ea typeface="ＭＳ Ｐゴシック" charset="0"/>
              </a:rPr>
              <a:t>1</a:t>
            </a:r>
            <a:r>
              <a:rPr lang="en-US" sz="2400" b="1">
                <a:latin typeface="Times New Roman" charset="0"/>
                <a:ea typeface="ＭＳ Ｐゴシック" charset="0"/>
              </a:rPr>
              <a:t>    b</a:t>
            </a:r>
            <a:r>
              <a:rPr lang="en-US" sz="2400" b="1" baseline="-25000">
                <a:latin typeface="Times New Roman" charset="0"/>
                <a:ea typeface="ＭＳ Ｐゴシック" charset="0"/>
              </a:rPr>
              <a:t>0</a:t>
            </a:r>
            <a:endParaRPr lang="en-US" sz="2400" b="1">
              <a:latin typeface="Times New Roman" charset="0"/>
              <a:ea typeface="ＭＳ Ｐゴシック" charset="0"/>
            </a:endParaRPr>
          </a:p>
          <a:p>
            <a:pPr marL="285750" indent="-285750">
              <a:spcBef>
                <a:spcPct val="20000"/>
              </a:spcBef>
              <a:defRPr/>
            </a:pPr>
            <a:r>
              <a:rPr lang="en-US" sz="2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1    0    1    1    0    0	  Sum		s</a:t>
            </a:r>
            <a:r>
              <a:rPr lang="en-US" sz="2400" b="1" baseline="-25000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3</a:t>
            </a:r>
            <a:r>
              <a:rPr lang="en-US" sz="2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    s</a:t>
            </a:r>
            <a:r>
              <a:rPr lang="en-US" sz="2400" b="1" baseline="-25000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2</a:t>
            </a:r>
            <a:r>
              <a:rPr lang="en-US" sz="2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     s</a:t>
            </a:r>
            <a:r>
              <a:rPr lang="en-US" sz="2400" b="1" baseline="-25000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1</a:t>
            </a:r>
            <a:r>
              <a:rPr lang="en-US" sz="2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    s</a:t>
            </a:r>
            <a:r>
              <a:rPr lang="en-US" sz="2400" b="1" baseline="-25000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0</a:t>
            </a:r>
            <a:r>
              <a:rPr lang="en-US" sz="2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</a:t>
            </a:r>
          </a:p>
        </p:txBody>
      </p:sp>
      <p:sp>
        <p:nvSpPr>
          <p:cNvPr id="29701" name="Rectangle 5">
            <a:extLst>
              <a:ext uri="{FF2B5EF4-FFF2-40B4-BE49-F238E27FC236}">
                <a16:creationId xmlns:a16="http://schemas.microsoft.com/office/drawing/2014/main" id="{AD20BEB5-F5AE-7D8C-FE3B-9A0D4BE2D0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3657600"/>
            <a:ext cx="3806825" cy="2986088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c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-1</a:t>
            </a:r>
            <a:r>
              <a:rPr lang="en-US" sz="2400">
                <a:latin typeface="Times New Roman" charset="0"/>
                <a:ea typeface="ＭＳ Ｐゴシック" charset="0"/>
              </a:rPr>
              <a:t> = 0</a:t>
            </a:r>
          </a:p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      for i = 0 : n-1</a:t>
            </a:r>
          </a:p>
          <a:p>
            <a:pPr lvl="1"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     s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 = a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 + b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 + c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i-1</a:t>
            </a:r>
            <a:endParaRPr lang="en-US" sz="2400">
              <a:latin typeface="Times New Roman" charset="0"/>
              <a:ea typeface="ＭＳ Ｐゴシック" charset="0"/>
            </a:endParaRPr>
          </a:p>
          <a:p>
            <a:pPr lvl="1"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     c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 = a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b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 + c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i-1</a:t>
            </a:r>
            <a:r>
              <a:rPr lang="en-US" sz="2400">
                <a:latin typeface="Times New Roman" charset="0"/>
                <a:ea typeface="ＭＳ Ｐゴシック" charset="0"/>
              </a:rPr>
              <a:t>(a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 + b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)</a:t>
            </a:r>
          </a:p>
          <a:p>
            <a:pPr lvl="1"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end</a:t>
            </a:r>
          </a:p>
          <a:p>
            <a:pPr lvl="1"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     s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n</a:t>
            </a:r>
            <a:r>
              <a:rPr lang="en-US" sz="2400">
                <a:latin typeface="Times New Roman" charset="0"/>
                <a:ea typeface="ＭＳ Ｐゴシック" charset="0"/>
              </a:rPr>
              <a:t> = c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n-1</a:t>
            </a:r>
          </a:p>
        </p:txBody>
      </p:sp>
      <p:sp>
        <p:nvSpPr>
          <p:cNvPr id="29702" name="Line 6">
            <a:extLst>
              <a:ext uri="{FF2B5EF4-FFF2-40B4-BE49-F238E27FC236}">
                <a16:creationId xmlns:a16="http://schemas.microsoft.com/office/drawing/2014/main" id="{35F8270A-B23E-DE05-DF68-F75AF9DE714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1371600"/>
            <a:ext cx="0" cy="2362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29703" name="Line 7">
            <a:extLst>
              <a:ext uri="{FF2B5EF4-FFF2-40B4-BE49-F238E27FC236}">
                <a16:creationId xmlns:a16="http://schemas.microsoft.com/office/drawing/2014/main" id="{D84AE510-A672-3B7C-30A3-8F3EEAC28D90}"/>
              </a:ext>
            </a:extLst>
          </p:cNvPr>
          <p:cNvSpPr>
            <a:spLocks noChangeShapeType="1"/>
          </p:cNvSpPr>
          <p:nvPr/>
        </p:nvSpPr>
        <p:spPr bwMode="auto">
          <a:xfrm>
            <a:off x="4876800" y="1371600"/>
            <a:ext cx="0" cy="2438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29704" name="Line 8">
            <a:extLst>
              <a:ext uri="{FF2B5EF4-FFF2-40B4-BE49-F238E27FC236}">
                <a16:creationId xmlns:a16="http://schemas.microsoft.com/office/drawing/2014/main" id="{AAE08696-0B32-C773-CDCD-4D504847896E}"/>
              </a:ext>
            </a:extLst>
          </p:cNvPr>
          <p:cNvSpPr>
            <a:spLocks noChangeShapeType="1"/>
          </p:cNvSpPr>
          <p:nvPr/>
        </p:nvSpPr>
        <p:spPr bwMode="auto">
          <a:xfrm>
            <a:off x="609600" y="3276600"/>
            <a:ext cx="2362200" cy="0"/>
          </a:xfrm>
          <a:prstGeom prst="line">
            <a:avLst/>
          </a:prstGeom>
          <a:noFill/>
          <a:ln w="9525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29705" name="Line 9">
            <a:extLst>
              <a:ext uri="{FF2B5EF4-FFF2-40B4-BE49-F238E27FC236}">
                <a16:creationId xmlns:a16="http://schemas.microsoft.com/office/drawing/2014/main" id="{FF1FE16B-CA95-F6EC-2FF9-DB86D1BC79FD}"/>
              </a:ext>
            </a:extLst>
          </p:cNvPr>
          <p:cNvSpPr>
            <a:spLocks noChangeShapeType="1"/>
          </p:cNvSpPr>
          <p:nvPr/>
        </p:nvSpPr>
        <p:spPr bwMode="auto">
          <a:xfrm>
            <a:off x="5105400" y="3276600"/>
            <a:ext cx="2362200" cy="0"/>
          </a:xfrm>
          <a:prstGeom prst="line">
            <a:avLst/>
          </a:prstGeom>
          <a:noFill/>
          <a:ln w="9525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29706" name="Text Box 10">
            <a:extLst>
              <a:ext uri="{FF2B5EF4-FFF2-40B4-BE49-F238E27FC236}">
                <a16:creationId xmlns:a16="http://schemas.microsoft.com/office/drawing/2014/main" id="{9E27A4D6-1F1E-2ABA-6DE0-CE4B86036D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0" y="3886200"/>
            <a:ext cx="2230438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(addition mod 2)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>
            <a:extLst>
              <a:ext uri="{FF2B5EF4-FFF2-40B4-BE49-F238E27FC236}">
                <a16:creationId xmlns:a16="http://schemas.microsoft.com/office/drawing/2014/main" id="{D54DF8B8-E292-6238-15EF-127C4981313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9144000" cy="685800"/>
          </a:xfrm>
        </p:spPr>
        <p:txBody>
          <a:bodyPr/>
          <a:lstStyle/>
          <a:p>
            <a:pPr eaLnBrk="1" hangingPunct="1"/>
            <a:r>
              <a:rPr lang="en-US" altLang="en-US" sz="3600">
                <a:solidFill>
                  <a:srgbClr val="FFFFFF"/>
                </a:solidFill>
              </a:rPr>
              <a:t>Carry-Look Ahead Addition (Babbage 1800</a:t>
            </a:r>
            <a:r>
              <a:rPr lang="ja-JP" altLang="en-US" sz="3600">
                <a:solidFill>
                  <a:srgbClr val="FFFFFF"/>
                </a:solidFill>
              </a:rPr>
              <a:t>’</a:t>
            </a:r>
            <a:r>
              <a:rPr lang="en-US" altLang="ja-JP" sz="3600">
                <a:solidFill>
                  <a:srgbClr val="FFFFFF"/>
                </a:solidFill>
              </a:rPr>
              <a:t>s)</a:t>
            </a:r>
            <a:endParaRPr lang="en-US" altLang="en-US" sz="3600">
              <a:solidFill>
                <a:srgbClr val="FFFFFF"/>
              </a:solidFill>
            </a:endParaRPr>
          </a:p>
        </p:txBody>
      </p:sp>
      <p:sp>
        <p:nvSpPr>
          <p:cNvPr id="30723" name="Rectangle 3">
            <a:extLst>
              <a:ext uri="{FF2B5EF4-FFF2-40B4-BE49-F238E27FC236}">
                <a16:creationId xmlns:a16="http://schemas.microsoft.com/office/drawing/2014/main" id="{3A940750-0933-4F29-D27A-C5A10B7DF1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609600"/>
            <a:ext cx="7162800" cy="838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 anchor="ctr"/>
          <a:lstStyle/>
          <a:p>
            <a:pPr algn="ctr">
              <a:defRPr/>
            </a:pPr>
            <a:r>
              <a:rPr lang="en-US" sz="3200">
                <a:latin typeface="Times New Roman" charset="0"/>
                <a:ea typeface="ＭＳ Ｐゴシック" charset="0"/>
              </a:rPr>
              <a:t>Goal: Add Two n-bit Integers</a:t>
            </a:r>
            <a:r>
              <a:rPr lang="en-US" sz="3200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</a:t>
            </a:r>
          </a:p>
        </p:txBody>
      </p:sp>
      <p:sp>
        <p:nvSpPr>
          <p:cNvPr id="30724" name="Rectangle 4">
            <a:extLst>
              <a:ext uri="{FF2B5EF4-FFF2-40B4-BE49-F238E27FC236}">
                <a16:creationId xmlns:a16="http://schemas.microsoft.com/office/drawing/2014/main" id="{8CBC7C18-A54B-90B7-C2D9-B51E74E130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371600"/>
            <a:ext cx="7391400" cy="23622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pPr marL="285750" indent="-285750">
              <a:spcBef>
                <a:spcPct val="20000"/>
              </a:spcBef>
              <a:defRPr/>
            </a:pPr>
            <a:r>
              <a:rPr lang="en-US" sz="32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       </a:t>
            </a:r>
            <a:r>
              <a:rPr lang="en-US" sz="2000" b="1">
                <a:solidFill>
                  <a:schemeClr val="accent2"/>
                </a:solidFill>
                <a:latin typeface="Times New Roman" charset="0"/>
                <a:ea typeface="ＭＳ Ｐゴシック" charset="0"/>
              </a:rPr>
              <a:t>Example</a:t>
            </a:r>
            <a:r>
              <a:rPr lang="en-US" sz="1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                                                                               </a:t>
            </a:r>
            <a:r>
              <a:rPr lang="en-US" sz="2000" b="1">
                <a:solidFill>
                  <a:schemeClr val="accent2"/>
                </a:solidFill>
                <a:latin typeface="Times New Roman" charset="0"/>
                <a:ea typeface="ＭＳ Ｐゴシック" charset="0"/>
              </a:rPr>
              <a:t>Notation</a:t>
            </a:r>
          </a:p>
          <a:p>
            <a:pPr marL="285750" indent="-285750">
              <a:spcBef>
                <a:spcPct val="20000"/>
              </a:spcBef>
              <a:defRPr/>
            </a:pPr>
            <a:r>
              <a:rPr lang="en-US" sz="2400" b="1">
                <a:solidFill>
                  <a:schemeClr val="folHlink"/>
                </a:solidFill>
                <a:latin typeface="Times New Roman" charset="0"/>
                <a:ea typeface="ＭＳ Ｐゴシック" charset="0"/>
              </a:rPr>
              <a:t>  1   0    1    1    1</a:t>
            </a:r>
            <a:r>
              <a:rPr lang="en-US" sz="2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	  </a:t>
            </a:r>
            <a:r>
              <a:rPr lang="en-US" sz="2400" b="1">
                <a:solidFill>
                  <a:schemeClr val="folHlink"/>
                </a:solidFill>
                <a:latin typeface="Times New Roman" charset="0"/>
                <a:ea typeface="ＭＳ Ｐゴシック" charset="0"/>
              </a:rPr>
              <a:t>Carry</a:t>
            </a:r>
            <a:r>
              <a:rPr lang="en-US" sz="2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	</a:t>
            </a:r>
            <a:r>
              <a:rPr lang="en-US" sz="2400" b="1">
                <a:solidFill>
                  <a:schemeClr val="folHlink"/>
                </a:solidFill>
                <a:latin typeface="Times New Roman" charset="0"/>
                <a:ea typeface="ＭＳ Ｐゴシック" charset="0"/>
              </a:rPr>
              <a:t>c</a:t>
            </a:r>
            <a:r>
              <a:rPr lang="en-US" sz="2400" b="1" baseline="-25000">
                <a:solidFill>
                  <a:schemeClr val="folHlink"/>
                </a:solidFill>
                <a:latin typeface="Times New Roman" charset="0"/>
                <a:ea typeface="ＭＳ Ｐゴシック" charset="0"/>
              </a:rPr>
              <a:t>2</a:t>
            </a:r>
            <a:r>
              <a:rPr lang="en-US" sz="2400" b="1">
                <a:solidFill>
                  <a:schemeClr val="folHlink"/>
                </a:solidFill>
                <a:latin typeface="Times New Roman" charset="0"/>
                <a:ea typeface="ＭＳ Ｐゴシック" charset="0"/>
              </a:rPr>
              <a:t>     c</a:t>
            </a:r>
            <a:r>
              <a:rPr lang="en-US" sz="2400" b="1" baseline="-25000">
                <a:solidFill>
                  <a:schemeClr val="folHlink"/>
                </a:solidFill>
                <a:latin typeface="Times New Roman" charset="0"/>
                <a:ea typeface="ＭＳ Ｐゴシック" charset="0"/>
              </a:rPr>
              <a:t>1</a:t>
            </a:r>
            <a:r>
              <a:rPr lang="en-US" sz="2400" b="1">
                <a:solidFill>
                  <a:schemeClr val="folHlink"/>
                </a:solidFill>
                <a:latin typeface="Times New Roman" charset="0"/>
                <a:ea typeface="ＭＳ Ｐゴシック" charset="0"/>
              </a:rPr>
              <a:t>     c</a:t>
            </a:r>
            <a:r>
              <a:rPr lang="en-US" sz="2400" b="1" baseline="-25000">
                <a:solidFill>
                  <a:schemeClr val="folHlink"/>
                </a:solidFill>
                <a:latin typeface="Times New Roman" charset="0"/>
                <a:ea typeface="ＭＳ Ｐゴシック" charset="0"/>
              </a:rPr>
              <a:t>0</a:t>
            </a:r>
            <a:endParaRPr lang="en-US" sz="2400" b="1">
              <a:solidFill>
                <a:schemeClr val="folHlink"/>
              </a:solidFill>
              <a:latin typeface="Times New Roman" charset="0"/>
              <a:ea typeface="ＭＳ Ｐゴシック" charset="0"/>
            </a:endParaRPr>
          </a:p>
          <a:p>
            <a:pPr marL="285750" indent="-285750">
              <a:spcBef>
                <a:spcPct val="20000"/>
              </a:spcBef>
              <a:defRPr/>
            </a:pPr>
            <a:r>
              <a:rPr lang="en-US" sz="2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      </a:t>
            </a:r>
            <a:r>
              <a:rPr lang="en-US" sz="2400" b="1">
                <a:latin typeface="Times New Roman" charset="0"/>
                <a:ea typeface="ＭＳ Ｐゴシック" charset="0"/>
              </a:rPr>
              <a:t>1    0    1    1    1    First Int	a</a:t>
            </a:r>
            <a:r>
              <a:rPr lang="en-US" sz="2400" b="1" baseline="-25000">
                <a:latin typeface="Times New Roman" charset="0"/>
                <a:ea typeface="ＭＳ Ｐゴシック" charset="0"/>
              </a:rPr>
              <a:t>3</a:t>
            </a:r>
            <a:r>
              <a:rPr lang="en-US" sz="2400" b="1">
                <a:latin typeface="Times New Roman" charset="0"/>
                <a:ea typeface="ＭＳ Ｐゴシック" charset="0"/>
              </a:rPr>
              <a:t>     a</a:t>
            </a:r>
            <a:r>
              <a:rPr lang="en-US" sz="2400" b="1" baseline="-25000">
                <a:latin typeface="Times New Roman" charset="0"/>
                <a:ea typeface="ＭＳ Ｐゴシック" charset="0"/>
              </a:rPr>
              <a:t>2</a:t>
            </a:r>
            <a:r>
              <a:rPr lang="en-US" sz="2400" b="1">
                <a:latin typeface="Times New Roman" charset="0"/>
                <a:ea typeface="ＭＳ Ｐゴシック" charset="0"/>
              </a:rPr>
              <a:t>     a</a:t>
            </a:r>
            <a:r>
              <a:rPr lang="en-US" sz="2400" b="1" baseline="-25000">
                <a:latin typeface="Times New Roman" charset="0"/>
                <a:ea typeface="ＭＳ Ｐゴシック" charset="0"/>
              </a:rPr>
              <a:t>1</a:t>
            </a:r>
            <a:r>
              <a:rPr lang="en-US" sz="2400" b="1">
                <a:latin typeface="Times New Roman" charset="0"/>
                <a:ea typeface="ＭＳ Ｐゴシック" charset="0"/>
              </a:rPr>
              <a:t>     a</a:t>
            </a:r>
            <a:r>
              <a:rPr lang="en-US" sz="2400" b="1" baseline="-25000">
                <a:latin typeface="Times New Roman" charset="0"/>
                <a:ea typeface="ＭＳ Ｐゴシック" charset="0"/>
              </a:rPr>
              <a:t>0</a:t>
            </a:r>
            <a:endParaRPr lang="en-US" sz="2400" b="1">
              <a:latin typeface="Times New Roman" charset="0"/>
              <a:ea typeface="ＭＳ Ｐゴシック" charset="0"/>
            </a:endParaRPr>
          </a:p>
          <a:p>
            <a:pPr marL="285750" indent="-285750">
              <a:spcBef>
                <a:spcPct val="20000"/>
              </a:spcBef>
              <a:defRPr/>
            </a:pPr>
            <a:r>
              <a:rPr lang="en-US" sz="2400" b="1">
                <a:latin typeface="Times New Roman" charset="0"/>
                <a:ea typeface="ＭＳ Ｐゴシック" charset="0"/>
              </a:rPr>
              <a:t>       1    0    1    0    1  Second Int	a</a:t>
            </a:r>
            <a:r>
              <a:rPr lang="en-US" sz="2400" b="1" baseline="-25000">
                <a:latin typeface="Times New Roman" charset="0"/>
                <a:ea typeface="ＭＳ Ｐゴシック" charset="0"/>
              </a:rPr>
              <a:t>3</a:t>
            </a:r>
            <a:r>
              <a:rPr lang="en-US" sz="2400" b="1">
                <a:latin typeface="Times New Roman" charset="0"/>
                <a:ea typeface="ＭＳ Ｐゴシック" charset="0"/>
              </a:rPr>
              <a:t>     b</a:t>
            </a:r>
            <a:r>
              <a:rPr lang="en-US" sz="2400" b="1" baseline="-25000">
                <a:latin typeface="Times New Roman" charset="0"/>
                <a:ea typeface="ＭＳ Ｐゴシック" charset="0"/>
              </a:rPr>
              <a:t>2</a:t>
            </a:r>
            <a:r>
              <a:rPr lang="en-US" sz="2400" b="1">
                <a:latin typeface="Times New Roman" charset="0"/>
                <a:ea typeface="ＭＳ Ｐゴシック" charset="0"/>
              </a:rPr>
              <a:t>     b</a:t>
            </a:r>
            <a:r>
              <a:rPr lang="en-US" sz="2400" b="1" baseline="-25000">
                <a:latin typeface="Times New Roman" charset="0"/>
                <a:ea typeface="ＭＳ Ｐゴシック" charset="0"/>
              </a:rPr>
              <a:t>1</a:t>
            </a:r>
            <a:r>
              <a:rPr lang="en-US" sz="2400" b="1">
                <a:latin typeface="Times New Roman" charset="0"/>
                <a:ea typeface="ＭＳ Ｐゴシック" charset="0"/>
              </a:rPr>
              <a:t>    b</a:t>
            </a:r>
            <a:r>
              <a:rPr lang="en-US" sz="2400" b="1" baseline="-25000">
                <a:latin typeface="Times New Roman" charset="0"/>
                <a:ea typeface="ＭＳ Ｐゴシック" charset="0"/>
              </a:rPr>
              <a:t>0</a:t>
            </a:r>
            <a:endParaRPr lang="en-US" sz="2400" b="1">
              <a:latin typeface="Times New Roman" charset="0"/>
              <a:ea typeface="ＭＳ Ｐゴシック" charset="0"/>
            </a:endParaRPr>
          </a:p>
          <a:p>
            <a:pPr marL="285750" indent="-285750">
              <a:spcBef>
                <a:spcPct val="20000"/>
              </a:spcBef>
              <a:defRPr/>
            </a:pPr>
            <a:r>
              <a:rPr lang="en-US" sz="2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1    0    1    1    0    0	  Sum		s</a:t>
            </a:r>
            <a:r>
              <a:rPr lang="en-US" sz="2400" b="1" baseline="-25000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3</a:t>
            </a:r>
            <a:r>
              <a:rPr lang="en-US" sz="2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    s</a:t>
            </a:r>
            <a:r>
              <a:rPr lang="en-US" sz="2400" b="1" baseline="-25000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2</a:t>
            </a:r>
            <a:r>
              <a:rPr lang="en-US" sz="2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     s</a:t>
            </a:r>
            <a:r>
              <a:rPr lang="en-US" sz="2400" b="1" baseline="-25000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1</a:t>
            </a:r>
            <a:r>
              <a:rPr lang="en-US" sz="2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    s</a:t>
            </a:r>
            <a:r>
              <a:rPr lang="en-US" sz="2400" b="1" baseline="-25000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0</a:t>
            </a:r>
            <a:r>
              <a:rPr lang="en-US" sz="2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</a:t>
            </a:r>
          </a:p>
        </p:txBody>
      </p:sp>
      <p:sp>
        <p:nvSpPr>
          <p:cNvPr id="30725" name="Rectangle 5">
            <a:extLst>
              <a:ext uri="{FF2B5EF4-FFF2-40B4-BE49-F238E27FC236}">
                <a16:creationId xmlns:a16="http://schemas.microsoft.com/office/drawing/2014/main" id="{9A7B5CCA-85EE-2899-982A-09862DEF0B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657600"/>
            <a:ext cx="3806825" cy="2986088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c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-1</a:t>
            </a:r>
            <a:r>
              <a:rPr lang="en-US" sz="2400">
                <a:latin typeface="Times New Roman" charset="0"/>
                <a:ea typeface="ＭＳ Ｐゴシック" charset="0"/>
              </a:rPr>
              <a:t> = 0</a:t>
            </a:r>
          </a:p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      for i = 0 : n-1</a:t>
            </a:r>
          </a:p>
          <a:p>
            <a:pPr lvl="1"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     s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 = a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 + b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 + c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i-1</a:t>
            </a:r>
            <a:endParaRPr lang="en-US" sz="2400">
              <a:latin typeface="Times New Roman" charset="0"/>
              <a:ea typeface="ＭＳ Ｐゴシック" charset="0"/>
            </a:endParaRPr>
          </a:p>
          <a:p>
            <a:pPr lvl="1"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     c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 = a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b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 + c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i-1</a:t>
            </a:r>
            <a:r>
              <a:rPr lang="en-US" sz="2400">
                <a:latin typeface="Times New Roman" charset="0"/>
                <a:ea typeface="ＭＳ Ｐゴシック" charset="0"/>
              </a:rPr>
              <a:t>(a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 + b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)</a:t>
            </a:r>
          </a:p>
          <a:p>
            <a:pPr lvl="1"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end</a:t>
            </a:r>
          </a:p>
          <a:p>
            <a:pPr lvl="1"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     s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n</a:t>
            </a:r>
            <a:r>
              <a:rPr lang="en-US" sz="2400">
                <a:latin typeface="Times New Roman" charset="0"/>
                <a:ea typeface="ＭＳ Ｐゴシック" charset="0"/>
              </a:rPr>
              <a:t> = c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n-1</a:t>
            </a:r>
          </a:p>
        </p:txBody>
      </p:sp>
      <p:sp>
        <p:nvSpPr>
          <p:cNvPr id="30726" name="Rectangle 6">
            <a:extLst>
              <a:ext uri="{FF2B5EF4-FFF2-40B4-BE49-F238E27FC236}">
                <a16:creationId xmlns:a16="http://schemas.microsoft.com/office/drawing/2014/main" id="{8E64AA34-330F-4A13-2216-FAF24BA281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4572000"/>
            <a:ext cx="3806825" cy="14398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c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	a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 + b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    a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b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       c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i-1</a:t>
            </a:r>
            <a:endParaRPr lang="en-US" sz="2400">
              <a:latin typeface="Times New Roman" charset="0"/>
              <a:ea typeface="ＭＳ Ｐゴシック" charset="0"/>
            </a:endParaRPr>
          </a:p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1	    0         1         1</a:t>
            </a:r>
          </a:p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       </a:t>
            </a:r>
          </a:p>
        </p:txBody>
      </p:sp>
      <p:sp>
        <p:nvSpPr>
          <p:cNvPr id="30727" name="Line 7">
            <a:extLst>
              <a:ext uri="{FF2B5EF4-FFF2-40B4-BE49-F238E27FC236}">
                <a16:creationId xmlns:a16="http://schemas.microsoft.com/office/drawing/2014/main" id="{DD33DE59-E644-9F70-3E1E-AFAACC507795}"/>
              </a:ext>
            </a:extLst>
          </p:cNvPr>
          <p:cNvSpPr>
            <a:spLocks noChangeShapeType="1"/>
          </p:cNvSpPr>
          <p:nvPr/>
        </p:nvSpPr>
        <p:spPr bwMode="auto">
          <a:xfrm>
            <a:off x="4265613" y="4648200"/>
            <a:ext cx="0" cy="7620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0728" name="Line 8">
            <a:extLst>
              <a:ext uri="{FF2B5EF4-FFF2-40B4-BE49-F238E27FC236}">
                <a16:creationId xmlns:a16="http://schemas.microsoft.com/office/drawing/2014/main" id="{AEFB88A9-A232-34B5-BD57-A888B89F8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4265613" y="4648200"/>
            <a:ext cx="762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0729" name="Line 9">
            <a:extLst>
              <a:ext uri="{FF2B5EF4-FFF2-40B4-BE49-F238E27FC236}">
                <a16:creationId xmlns:a16="http://schemas.microsoft.com/office/drawing/2014/main" id="{36D3EA77-4B4D-D7CF-E610-39CB8D9E0EEF}"/>
              </a:ext>
            </a:extLst>
          </p:cNvPr>
          <p:cNvSpPr>
            <a:spLocks noChangeShapeType="1"/>
          </p:cNvSpPr>
          <p:nvPr/>
        </p:nvSpPr>
        <p:spPr bwMode="auto">
          <a:xfrm>
            <a:off x="4265613" y="5410200"/>
            <a:ext cx="762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0730" name="Line 10">
            <a:extLst>
              <a:ext uri="{FF2B5EF4-FFF2-40B4-BE49-F238E27FC236}">
                <a16:creationId xmlns:a16="http://schemas.microsoft.com/office/drawing/2014/main" id="{191D9FFA-2684-6FEC-062E-C0E0D569FFF7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6213" y="4648200"/>
            <a:ext cx="0" cy="7620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0731" name="Line 11">
            <a:extLst>
              <a:ext uri="{FF2B5EF4-FFF2-40B4-BE49-F238E27FC236}">
                <a16:creationId xmlns:a16="http://schemas.microsoft.com/office/drawing/2014/main" id="{84552B24-44C7-CFA4-F35F-43D37FDE8389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6213" y="4648200"/>
            <a:ext cx="762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0732" name="Line 12">
            <a:extLst>
              <a:ext uri="{FF2B5EF4-FFF2-40B4-BE49-F238E27FC236}">
                <a16:creationId xmlns:a16="http://schemas.microsoft.com/office/drawing/2014/main" id="{A1D0DAB5-902C-ABB5-06B8-2941FC577644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6213" y="5410200"/>
            <a:ext cx="762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0733" name="Line 13">
            <a:extLst>
              <a:ext uri="{FF2B5EF4-FFF2-40B4-BE49-F238E27FC236}">
                <a16:creationId xmlns:a16="http://schemas.microsoft.com/office/drawing/2014/main" id="{129F6A0E-DFDB-B55C-D4EE-853F1A770FEC}"/>
              </a:ext>
            </a:extLst>
          </p:cNvPr>
          <p:cNvSpPr>
            <a:spLocks noChangeShapeType="1"/>
          </p:cNvSpPr>
          <p:nvPr/>
        </p:nvSpPr>
        <p:spPr bwMode="auto">
          <a:xfrm>
            <a:off x="7161213" y="4648200"/>
            <a:ext cx="0" cy="7620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0734" name="Line 14">
            <a:extLst>
              <a:ext uri="{FF2B5EF4-FFF2-40B4-BE49-F238E27FC236}">
                <a16:creationId xmlns:a16="http://schemas.microsoft.com/office/drawing/2014/main" id="{13A30B4A-E644-502A-142E-65256B4F439A}"/>
              </a:ext>
            </a:extLst>
          </p:cNvPr>
          <p:cNvSpPr>
            <a:spLocks noChangeShapeType="1"/>
          </p:cNvSpPr>
          <p:nvPr/>
        </p:nvSpPr>
        <p:spPr bwMode="auto">
          <a:xfrm>
            <a:off x="7161213" y="4648200"/>
            <a:ext cx="762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0735" name="Line 15">
            <a:extLst>
              <a:ext uri="{FF2B5EF4-FFF2-40B4-BE49-F238E27FC236}">
                <a16:creationId xmlns:a16="http://schemas.microsoft.com/office/drawing/2014/main" id="{D5DCFF09-9437-3C4F-EEEF-63BD24406C7D}"/>
              </a:ext>
            </a:extLst>
          </p:cNvPr>
          <p:cNvSpPr>
            <a:spLocks noChangeShapeType="1"/>
          </p:cNvSpPr>
          <p:nvPr/>
        </p:nvSpPr>
        <p:spPr bwMode="auto">
          <a:xfrm>
            <a:off x="7161213" y="5410200"/>
            <a:ext cx="762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0736" name="Line 16">
            <a:extLst>
              <a:ext uri="{FF2B5EF4-FFF2-40B4-BE49-F238E27FC236}">
                <a16:creationId xmlns:a16="http://schemas.microsoft.com/office/drawing/2014/main" id="{5C1087D0-DDE6-BABE-46A1-BD3008A6FB57}"/>
              </a:ext>
            </a:extLst>
          </p:cNvPr>
          <p:cNvSpPr>
            <a:spLocks noChangeShapeType="1"/>
          </p:cNvSpPr>
          <p:nvPr/>
        </p:nvSpPr>
        <p:spPr bwMode="auto">
          <a:xfrm>
            <a:off x="4722813" y="4648200"/>
            <a:ext cx="0" cy="7620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0737" name="Line 17">
            <a:extLst>
              <a:ext uri="{FF2B5EF4-FFF2-40B4-BE49-F238E27FC236}">
                <a16:creationId xmlns:a16="http://schemas.microsoft.com/office/drawing/2014/main" id="{C79F3BF8-B3D0-3B81-51CF-BE0BFBF5800B}"/>
              </a:ext>
            </a:extLst>
          </p:cNvPr>
          <p:cNvSpPr>
            <a:spLocks noChangeShapeType="1"/>
          </p:cNvSpPr>
          <p:nvPr/>
        </p:nvSpPr>
        <p:spPr bwMode="auto">
          <a:xfrm>
            <a:off x="4646613" y="4648200"/>
            <a:ext cx="762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0738" name="Line 18">
            <a:extLst>
              <a:ext uri="{FF2B5EF4-FFF2-40B4-BE49-F238E27FC236}">
                <a16:creationId xmlns:a16="http://schemas.microsoft.com/office/drawing/2014/main" id="{C544B561-601F-0B0A-D5BE-F9C5B51653DB}"/>
              </a:ext>
            </a:extLst>
          </p:cNvPr>
          <p:cNvSpPr>
            <a:spLocks noChangeShapeType="1"/>
          </p:cNvSpPr>
          <p:nvPr/>
        </p:nvSpPr>
        <p:spPr bwMode="auto">
          <a:xfrm>
            <a:off x="4646613" y="5410200"/>
            <a:ext cx="762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0739" name="Line 19">
            <a:extLst>
              <a:ext uri="{FF2B5EF4-FFF2-40B4-BE49-F238E27FC236}">
                <a16:creationId xmlns:a16="http://schemas.microsoft.com/office/drawing/2014/main" id="{8AD5E5AE-9D5E-87FD-3925-91955EA8EDA1}"/>
              </a:ext>
            </a:extLst>
          </p:cNvPr>
          <p:cNvSpPr>
            <a:spLocks noChangeShapeType="1"/>
          </p:cNvSpPr>
          <p:nvPr/>
        </p:nvSpPr>
        <p:spPr bwMode="auto">
          <a:xfrm>
            <a:off x="6856413" y="4648200"/>
            <a:ext cx="0" cy="7620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0740" name="Line 20">
            <a:extLst>
              <a:ext uri="{FF2B5EF4-FFF2-40B4-BE49-F238E27FC236}">
                <a16:creationId xmlns:a16="http://schemas.microsoft.com/office/drawing/2014/main" id="{009DC120-A7B4-37C3-AE24-A8F11D97D123}"/>
              </a:ext>
            </a:extLst>
          </p:cNvPr>
          <p:cNvSpPr>
            <a:spLocks noChangeShapeType="1"/>
          </p:cNvSpPr>
          <p:nvPr/>
        </p:nvSpPr>
        <p:spPr bwMode="auto">
          <a:xfrm>
            <a:off x="6780213" y="4648200"/>
            <a:ext cx="762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0741" name="Line 21">
            <a:extLst>
              <a:ext uri="{FF2B5EF4-FFF2-40B4-BE49-F238E27FC236}">
                <a16:creationId xmlns:a16="http://schemas.microsoft.com/office/drawing/2014/main" id="{279CFCD2-13F0-73F4-E00C-78940EED1439}"/>
              </a:ext>
            </a:extLst>
          </p:cNvPr>
          <p:cNvSpPr>
            <a:spLocks noChangeShapeType="1"/>
          </p:cNvSpPr>
          <p:nvPr/>
        </p:nvSpPr>
        <p:spPr bwMode="auto">
          <a:xfrm>
            <a:off x="6780213" y="5410200"/>
            <a:ext cx="762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0742" name="Line 22">
            <a:extLst>
              <a:ext uri="{FF2B5EF4-FFF2-40B4-BE49-F238E27FC236}">
                <a16:creationId xmlns:a16="http://schemas.microsoft.com/office/drawing/2014/main" id="{01B9B236-3D12-E115-662C-8153C119BC34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4648200"/>
            <a:ext cx="0" cy="7620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0743" name="Line 23">
            <a:extLst>
              <a:ext uri="{FF2B5EF4-FFF2-40B4-BE49-F238E27FC236}">
                <a16:creationId xmlns:a16="http://schemas.microsoft.com/office/drawing/2014/main" id="{CE58BC7A-24B1-064A-E295-966D2DCF14E3}"/>
              </a:ext>
            </a:extLst>
          </p:cNvPr>
          <p:cNvSpPr>
            <a:spLocks noChangeShapeType="1"/>
          </p:cNvSpPr>
          <p:nvPr/>
        </p:nvSpPr>
        <p:spPr bwMode="auto">
          <a:xfrm>
            <a:off x="7696200" y="4648200"/>
            <a:ext cx="762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0744" name="Line 24">
            <a:extLst>
              <a:ext uri="{FF2B5EF4-FFF2-40B4-BE49-F238E27FC236}">
                <a16:creationId xmlns:a16="http://schemas.microsoft.com/office/drawing/2014/main" id="{E693DF63-880B-66D9-6F74-34E5B27FCF88}"/>
              </a:ext>
            </a:extLst>
          </p:cNvPr>
          <p:cNvSpPr>
            <a:spLocks noChangeShapeType="1"/>
          </p:cNvSpPr>
          <p:nvPr/>
        </p:nvSpPr>
        <p:spPr bwMode="auto">
          <a:xfrm>
            <a:off x="7696200" y="5410200"/>
            <a:ext cx="762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0745" name="Rectangle 25">
            <a:extLst>
              <a:ext uri="{FF2B5EF4-FFF2-40B4-BE49-F238E27FC236}">
                <a16:creationId xmlns:a16="http://schemas.microsoft.com/office/drawing/2014/main" id="{7206F45C-6F81-7B09-8734-6EB7EF7904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00600" y="4878388"/>
            <a:ext cx="911225" cy="417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 b="1">
                <a:latin typeface="Times New Roman" charset="0"/>
                <a:ea typeface="ＭＳ Ｐゴシック" charset="0"/>
              </a:rPr>
              <a:t>=</a:t>
            </a:r>
          </a:p>
        </p:txBody>
      </p:sp>
      <p:sp>
        <p:nvSpPr>
          <p:cNvPr id="30746" name="Line 26">
            <a:extLst>
              <a:ext uri="{FF2B5EF4-FFF2-40B4-BE49-F238E27FC236}">
                <a16:creationId xmlns:a16="http://schemas.microsoft.com/office/drawing/2014/main" id="{AE99A866-14EA-27DA-2C91-4B7469D20D6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1371600"/>
            <a:ext cx="0" cy="2362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0747" name="Line 27">
            <a:extLst>
              <a:ext uri="{FF2B5EF4-FFF2-40B4-BE49-F238E27FC236}">
                <a16:creationId xmlns:a16="http://schemas.microsoft.com/office/drawing/2014/main" id="{00BA6FB8-A1FB-E0A6-82BF-90C3CB07F569}"/>
              </a:ext>
            </a:extLst>
          </p:cNvPr>
          <p:cNvSpPr>
            <a:spLocks noChangeShapeType="1"/>
          </p:cNvSpPr>
          <p:nvPr/>
        </p:nvSpPr>
        <p:spPr bwMode="auto">
          <a:xfrm>
            <a:off x="4876800" y="1371600"/>
            <a:ext cx="0" cy="2438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0748" name="Line 28">
            <a:extLst>
              <a:ext uri="{FF2B5EF4-FFF2-40B4-BE49-F238E27FC236}">
                <a16:creationId xmlns:a16="http://schemas.microsoft.com/office/drawing/2014/main" id="{89B3B576-9325-331E-96FE-8FC9441831D6}"/>
              </a:ext>
            </a:extLst>
          </p:cNvPr>
          <p:cNvSpPr>
            <a:spLocks noChangeShapeType="1"/>
          </p:cNvSpPr>
          <p:nvPr/>
        </p:nvSpPr>
        <p:spPr bwMode="auto">
          <a:xfrm>
            <a:off x="609600" y="3276600"/>
            <a:ext cx="2362200" cy="0"/>
          </a:xfrm>
          <a:prstGeom prst="line">
            <a:avLst/>
          </a:prstGeom>
          <a:noFill/>
          <a:ln w="9525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0749" name="Line 29">
            <a:extLst>
              <a:ext uri="{FF2B5EF4-FFF2-40B4-BE49-F238E27FC236}">
                <a16:creationId xmlns:a16="http://schemas.microsoft.com/office/drawing/2014/main" id="{D4D13936-472B-8076-49EC-05AE3236F226}"/>
              </a:ext>
            </a:extLst>
          </p:cNvPr>
          <p:cNvSpPr>
            <a:spLocks noChangeShapeType="1"/>
          </p:cNvSpPr>
          <p:nvPr/>
        </p:nvSpPr>
        <p:spPr bwMode="auto">
          <a:xfrm>
            <a:off x="5105400" y="3276600"/>
            <a:ext cx="2362200" cy="0"/>
          </a:xfrm>
          <a:prstGeom prst="line">
            <a:avLst/>
          </a:prstGeom>
          <a:noFill/>
          <a:ln w="9525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0750" name="Text Box 30">
            <a:extLst>
              <a:ext uri="{FF2B5EF4-FFF2-40B4-BE49-F238E27FC236}">
                <a16:creationId xmlns:a16="http://schemas.microsoft.com/office/drawing/2014/main" id="{2B2189DE-9D2A-4D81-95A5-09A51AFE6D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0" y="3886200"/>
            <a:ext cx="2230438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(addition mod 2)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>
            <a:extLst>
              <a:ext uri="{FF2B5EF4-FFF2-40B4-BE49-F238E27FC236}">
                <a16:creationId xmlns:a16="http://schemas.microsoft.com/office/drawing/2014/main" id="{D720D5D7-8B45-1764-531B-17CADE0B5EC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9144000" cy="685800"/>
          </a:xfrm>
        </p:spPr>
        <p:txBody>
          <a:bodyPr/>
          <a:lstStyle/>
          <a:p>
            <a:pPr eaLnBrk="1" hangingPunct="1"/>
            <a:r>
              <a:rPr lang="en-US" altLang="en-US" sz="3600">
                <a:solidFill>
                  <a:srgbClr val="FFFFFF"/>
                </a:solidFill>
              </a:rPr>
              <a:t>Carry-Look Ahead Addition (Babbage 1800</a:t>
            </a:r>
            <a:r>
              <a:rPr lang="ja-JP" altLang="en-US" sz="3600">
                <a:solidFill>
                  <a:srgbClr val="FFFFFF"/>
                </a:solidFill>
              </a:rPr>
              <a:t>’</a:t>
            </a:r>
            <a:r>
              <a:rPr lang="en-US" altLang="ja-JP" sz="3600">
                <a:solidFill>
                  <a:srgbClr val="FFFFFF"/>
                </a:solidFill>
              </a:rPr>
              <a:t>s)</a:t>
            </a:r>
            <a:endParaRPr lang="en-US" altLang="en-US" sz="3600">
              <a:solidFill>
                <a:srgbClr val="FFFFFF"/>
              </a:solidFill>
            </a:endParaRPr>
          </a:p>
        </p:txBody>
      </p:sp>
      <p:sp>
        <p:nvSpPr>
          <p:cNvPr id="31747" name="Rectangle 3">
            <a:extLst>
              <a:ext uri="{FF2B5EF4-FFF2-40B4-BE49-F238E27FC236}">
                <a16:creationId xmlns:a16="http://schemas.microsoft.com/office/drawing/2014/main" id="{434AC624-13D0-FDAA-35CC-B0A5C51109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609600"/>
            <a:ext cx="7162800" cy="838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 anchor="ctr"/>
          <a:lstStyle/>
          <a:p>
            <a:pPr algn="ctr">
              <a:defRPr/>
            </a:pPr>
            <a:r>
              <a:rPr lang="en-US" sz="3200">
                <a:latin typeface="Times New Roman" charset="0"/>
                <a:ea typeface="ＭＳ Ｐゴシック" charset="0"/>
              </a:rPr>
              <a:t>Goal: Add Two n-bit Integers</a:t>
            </a:r>
            <a:r>
              <a:rPr lang="en-US" sz="3200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</a:t>
            </a:r>
          </a:p>
        </p:txBody>
      </p:sp>
      <p:sp>
        <p:nvSpPr>
          <p:cNvPr id="31748" name="Rectangle 4">
            <a:extLst>
              <a:ext uri="{FF2B5EF4-FFF2-40B4-BE49-F238E27FC236}">
                <a16:creationId xmlns:a16="http://schemas.microsoft.com/office/drawing/2014/main" id="{1E19F047-150D-6B7D-C704-B77CDC57EC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371600"/>
            <a:ext cx="7391400" cy="23622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pPr marL="285750" indent="-285750">
              <a:spcBef>
                <a:spcPct val="20000"/>
              </a:spcBef>
              <a:defRPr/>
            </a:pPr>
            <a:r>
              <a:rPr lang="en-US" sz="32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       </a:t>
            </a:r>
            <a:r>
              <a:rPr lang="en-US" sz="2000" b="1">
                <a:solidFill>
                  <a:schemeClr val="accent2"/>
                </a:solidFill>
                <a:latin typeface="Times New Roman" charset="0"/>
                <a:ea typeface="ＭＳ Ｐゴシック" charset="0"/>
              </a:rPr>
              <a:t>Example</a:t>
            </a:r>
            <a:r>
              <a:rPr lang="en-US" sz="1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                                                                               </a:t>
            </a:r>
            <a:r>
              <a:rPr lang="en-US" sz="2000" b="1">
                <a:solidFill>
                  <a:schemeClr val="accent2"/>
                </a:solidFill>
                <a:latin typeface="Times New Roman" charset="0"/>
                <a:ea typeface="ＭＳ Ｐゴシック" charset="0"/>
              </a:rPr>
              <a:t>Notation</a:t>
            </a:r>
          </a:p>
          <a:p>
            <a:pPr marL="285750" indent="-285750">
              <a:spcBef>
                <a:spcPct val="20000"/>
              </a:spcBef>
              <a:defRPr/>
            </a:pPr>
            <a:r>
              <a:rPr lang="en-US" sz="2400" b="1">
                <a:solidFill>
                  <a:schemeClr val="folHlink"/>
                </a:solidFill>
                <a:latin typeface="Times New Roman" charset="0"/>
                <a:ea typeface="ＭＳ Ｐゴシック" charset="0"/>
              </a:rPr>
              <a:t>  1   0    1    1    1</a:t>
            </a:r>
            <a:r>
              <a:rPr lang="en-US" sz="2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	  </a:t>
            </a:r>
            <a:r>
              <a:rPr lang="en-US" sz="2400" b="1">
                <a:solidFill>
                  <a:schemeClr val="folHlink"/>
                </a:solidFill>
                <a:latin typeface="Times New Roman" charset="0"/>
                <a:ea typeface="ＭＳ Ｐゴシック" charset="0"/>
              </a:rPr>
              <a:t>Carry</a:t>
            </a:r>
            <a:r>
              <a:rPr lang="en-US" sz="2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	</a:t>
            </a:r>
            <a:r>
              <a:rPr lang="en-US" sz="2400" b="1">
                <a:solidFill>
                  <a:schemeClr val="folHlink"/>
                </a:solidFill>
                <a:latin typeface="Times New Roman" charset="0"/>
                <a:ea typeface="ＭＳ Ｐゴシック" charset="0"/>
              </a:rPr>
              <a:t>c</a:t>
            </a:r>
            <a:r>
              <a:rPr lang="en-US" sz="2400" b="1" baseline="-25000">
                <a:solidFill>
                  <a:schemeClr val="folHlink"/>
                </a:solidFill>
                <a:latin typeface="Times New Roman" charset="0"/>
                <a:ea typeface="ＭＳ Ｐゴシック" charset="0"/>
              </a:rPr>
              <a:t>2</a:t>
            </a:r>
            <a:r>
              <a:rPr lang="en-US" sz="2400" b="1">
                <a:solidFill>
                  <a:schemeClr val="folHlink"/>
                </a:solidFill>
                <a:latin typeface="Times New Roman" charset="0"/>
                <a:ea typeface="ＭＳ Ｐゴシック" charset="0"/>
              </a:rPr>
              <a:t>     c</a:t>
            </a:r>
            <a:r>
              <a:rPr lang="en-US" sz="2400" b="1" baseline="-25000">
                <a:solidFill>
                  <a:schemeClr val="folHlink"/>
                </a:solidFill>
                <a:latin typeface="Times New Roman" charset="0"/>
                <a:ea typeface="ＭＳ Ｐゴシック" charset="0"/>
              </a:rPr>
              <a:t>1</a:t>
            </a:r>
            <a:r>
              <a:rPr lang="en-US" sz="2400" b="1">
                <a:solidFill>
                  <a:schemeClr val="folHlink"/>
                </a:solidFill>
                <a:latin typeface="Times New Roman" charset="0"/>
                <a:ea typeface="ＭＳ Ｐゴシック" charset="0"/>
              </a:rPr>
              <a:t>     c</a:t>
            </a:r>
            <a:r>
              <a:rPr lang="en-US" sz="2400" b="1" baseline="-25000">
                <a:solidFill>
                  <a:schemeClr val="folHlink"/>
                </a:solidFill>
                <a:latin typeface="Times New Roman" charset="0"/>
                <a:ea typeface="ＭＳ Ｐゴシック" charset="0"/>
              </a:rPr>
              <a:t>0</a:t>
            </a:r>
            <a:endParaRPr lang="en-US" sz="2400" b="1">
              <a:solidFill>
                <a:schemeClr val="folHlink"/>
              </a:solidFill>
              <a:latin typeface="Times New Roman" charset="0"/>
              <a:ea typeface="ＭＳ Ｐゴシック" charset="0"/>
            </a:endParaRPr>
          </a:p>
          <a:p>
            <a:pPr marL="285750" indent="-285750">
              <a:spcBef>
                <a:spcPct val="20000"/>
              </a:spcBef>
              <a:defRPr/>
            </a:pPr>
            <a:r>
              <a:rPr lang="en-US" sz="2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      </a:t>
            </a:r>
            <a:r>
              <a:rPr lang="en-US" sz="2400" b="1">
                <a:latin typeface="Times New Roman" charset="0"/>
                <a:ea typeface="ＭＳ Ｐゴシック" charset="0"/>
              </a:rPr>
              <a:t>1    0    1    1    1    First Int	a</a:t>
            </a:r>
            <a:r>
              <a:rPr lang="en-US" sz="2400" b="1" baseline="-25000">
                <a:latin typeface="Times New Roman" charset="0"/>
                <a:ea typeface="ＭＳ Ｐゴシック" charset="0"/>
              </a:rPr>
              <a:t>3</a:t>
            </a:r>
            <a:r>
              <a:rPr lang="en-US" sz="2400" b="1">
                <a:latin typeface="Times New Roman" charset="0"/>
                <a:ea typeface="ＭＳ Ｐゴシック" charset="0"/>
              </a:rPr>
              <a:t>     a</a:t>
            </a:r>
            <a:r>
              <a:rPr lang="en-US" sz="2400" b="1" baseline="-25000">
                <a:latin typeface="Times New Roman" charset="0"/>
                <a:ea typeface="ＭＳ Ｐゴシック" charset="0"/>
              </a:rPr>
              <a:t>2</a:t>
            </a:r>
            <a:r>
              <a:rPr lang="en-US" sz="2400" b="1">
                <a:latin typeface="Times New Roman" charset="0"/>
                <a:ea typeface="ＭＳ Ｐゴシック" charset="0"/>
              </a:rPr>
              <a:t>     a</a:t>
            </a:r>
            <a:r>
              <a:rPr lang="en-US" sz="2400" b="1" baseline="-25000">
                <a:latin typeface="Times New Roman" charset="0"/>
                <a:ea typeface="ＭＳ Ｐゴシック" charset="0"/>
              </a:rPr>
              <a:t>1</a:t>
            </a:r>
            <a:r>
              <a:rPr lang="en-US" sz="2400" b="1">
                <a:latin typeface="Times New Roman" charset="0"/>
                <a:ea typeface="ＭＳ Ｐゴシック" charset="0"/>
              </a:rPr>
              <a:t>     a</a:t>
            </a:r>
            <a:r>
              <a:rPr lang="en-US" sz="2400" b="1" baseline="-25000">
                <a:latin typeface="Times New Roman" charset="0"/>
                <a:ea typeface="ＭＳ Ｐゴシック" charset="0"/>
              </a:rPr>
              <a:t>0</a:t>
            </a:r>
            <a:endParaRPr lang="en-US" sz="2400" b="1">
              <a:latin typeface="Times New Roman" charset="0"/>
              <a:ea typeface="ＭＳ Ｐゴシック" charset="0"/>
            </a:endParaRPr>
          </a:p>
          <a:p>
            <a:pPr marL="285750" indent="-285750">
              <a:spcBef>
                <a:spcPct val="20000"/>
              </a:spcBef>
              <a:defRPr/>
            </a:pPr>
            <a:r>
              <a:rPr lang="en-US" sz="2400" b="1">
                <a:latin typeface="Times New Roman" charset="0"/>
                <a:ea typeface="ＭＳ Ｐゴシック" charset="0"/>
              </a:rPr>
              <a:t>       1    0    1    0    1  Second Int	a</a:t>
            </a:r>
            <a:r>
              <a:rPr lang="en-US" sz="2400" b="1" baseline="-25000">
                <a:latin typeface="Times New Roman" charset="0"/>
                <a:ea typeface="ＭＳ Ｐゴシック" charset="0"/>
              </a:rPr>
              <a:t>3</a:t>
            </a:r>
            <a:r>
              <a:rPr lang="en-US" sz="2400" b="1">
                <a:latin typeface="Times New Roman" charset="0"/>
                <a:ea typeface="ＭＳ Ｐゴシック" charset="0"/>
              </a:rPr>
              <a:t>     b</a:t>
            </a:r>
            <a:r>
              <a:rPr lang="en-US" sz="2400" b="1" baseline="-25000">
                <a:latin typeface="Times New Roman" charset="0"/>
                <a:ea typeface="ＭＳ Ｐゴシック" charset="0"/>
              </a:rPr>
              <a:t>2</a:t>
            </a:r>
            <a:r>
              <a:rPr lang="en-US" sz="2400" b="1">
                <a:latin typeface="Times New Roman" charset="0"/>
                <a:ea typeface="ＭＳ Ｐゴシック" charset="0"/>
              </a:rPr>
              <a:t>     b</a:t>
            </a:r>
            <a:r>
              <a:rPr lang="en-US" sz="2400" b="1" baseline="-25000">
                <a:latin typeface="Times New Roman" charset="0"/>
                <a:ea typeface="ＭＳ Ｐゴシック" charset="0"/>
              </a:rPr>
              <a:t>1</a:t>
            </a:r>
            <a:r>
              <a:rPr lang="en-US" sz="2400" b="1">
                <a:latin typeface="Times New Roman" charset="0"/>
                <a:ea typeface="ＭＳ Ｐゴシック" charset="0"/>
              </a:rPr>
              <a:t>    b</a:t>
            </a:r>
            <a:r>
              <a:rPr lang="en-US" sz="2400" b="1" baseline="-25000">
                <a:latin typeface="Times New Roman" charset="0"/>
                <a:ea typeface="ＭＳ Ｐゴシック" charset="0"/>
              </a:rPr>
              <a:t>0</a:t>
            </a:r>
            <a:endParaRPr lang="en-US" sz="2400" b="1">
              <a:latin typeface="Times New Roman" charset="0"/>
              <a:ea typeface="ＭＳ Ｐゴシック" charset="0"/>
            </a:endParaRPr>
          </a:p>
          <a:p>
            <a:pPr marL="285750" indent="-285750">
              <a:spcBef>
                <a:spcPct val="20000"/>
              </a:spcBef>
              <a:defRPr/>
            </a:pPr>
            <a:r>
              <a:rPr lang="en-US" sz="2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1    0    1    1    0    0	  Sum		s</a:t>
            </a:r>
            <a:r>
              <a:rPr lang="en-US" sz="2400" b="1" baseline="-25000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3</a:t>
            </a:r>
            <a:r>
              <a:rPr lang="en-US" sz="2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    s</a:t>
            </a:r>
            <a:r>
              <a:rPr lang="en-US" sz="2400" b="1" baseline="-25000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2</a:t>
            </a:r>
            <a:r>
              <a:rPr lang="en-US" sz="2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     s</a:t>
            </a:r>
            <a:r>
              <a:rPr lang="en-US" sz="2400" b="1" baseline="-25000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1</a:t>
            </a:r>
            <a:r>
              <a:rPr lang="en-US" sz="2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    s</a:t>
            </a:r>
            <a:r>
              <a:rPr lang="en-US" sz="2400" b="1" baseline="-25000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0</a:t>
            </a:r>
            <a:r>
              <a:rPr lang="en-US" sz="2400" b="1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</a:t>
            </a:r>
          </a:p>
        </p:txBody>
      </p:sp>
      <p:sp>
        <p:nvSpPr>
          <p:cNvPr id="31749" name="Rectangle 5">
            <a:extLst>
              <a:ext uri="{FF2B5EF4-FFF2-40B4-BE49-F238E27FC236}">
                <a16:creationId xmlns:a16="http://schemas.microsoft.com/office/drawing/2014/main" id="{756600A5-76FD-C4E1-5C6C-9015948AAE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871913"/>
            <a:ext cx="3806825" cy="2986087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c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-1</a:t>
            </a:r>
            <a:r>
              <a:rPr lang="en-US" sz="2400">
                <a:latin typeface="Times New Roman" charset="0"/>
                <a:ea typeface="ＭＳ Ｐゴシック" charset="0"/>
              </a:rPr>
              <a:t> = 0</a:t>
            </a:r>
          </a:p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      for i = 0 : n-1</a:t>
            </a:r>
          </a:p>
          <a:p>
            <a:pPr lvl="1"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     s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 = a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 + b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 + c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i-1</a:t>
            </a:r>
            <a:endParaRPr lang="en-US" sz="2400">
              <a:latin typeface="Times New Roman" charset="0"/>
              <a:ea typeface="ＭＳ Ｐゴシック" charset="0"/>
            </a:endParaRPr>
          </a:p>
          <a:p>
            <a:pPr lvl="1"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     c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 = a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b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 + c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i-1</a:t>
            </a:r>
            <a:r>
              <a:rPr lang="en-US" sz="2400">
                <a:latin typeface="Times New Roman" charset="0"/>
                <a:ea typeface="ＭＳ Ｐゴシック" charset="0"/>
              </a:rPr>
              <a:t>(a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 + b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)</a:t>
            </a:r>
          </a:p>
          <a:p>
            <a:pPr lvl="1"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end</a:t>
            </a:r>
          </a:p>
          <a:p>
            <a:pPr lvl="1"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     s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n</a:t>
            </a:r>
            <a:r>
              <a:rPr lang="en-US" sz="2400">
                <a:latin typeface="Times New Roman" charset="0"/>
                <a:ea typeface="ＭＳ Ｐゴシック" charset="0"/>
              </a:rPr>
              <a:t> = c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n-1</a:t>
            </a:r>
          </a:p>
        </p:txBody>
      </p:sp>
      <p:sp>
        <p:nvSpPr>
          <p:cNvPr id="31750" name="Rectangle 6">
            <a:extLst>
              <a:ext uri="{FF2B5EF4-FFF2-40B4-BE49-F238E27FC236}">
                <a16:creationId xmlns:a16="http://schemas.microsoft.com/office/drawing/2014/main" id="{FAD15EFA-8CD0-0642-A3E6-308A017E83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4038600"/>
            <a:ext cx="3806825" cy="14398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c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	a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 + b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    a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b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       c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i-1</a:t>
            </a:r>
            <a:endParaRPr lang="en-US" sz="2400">
              <a:latin typeface="Times New Roman" charset="0"/>
              <a:ea typeface="ＭＳ Ｐゴシック" charset="0"/>
            </a:endParaRPr>
          </a:p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1	    0         1         1</a:t>
            </a:r>
          </a:p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       </a:t>
            </a:r>
          </a:p>
        </p:txBody>
      </p:sp>
      <p:sp>
        <p:nvSpPr>
          <p:cNvPr id="31751" name="Line 7">
            <a:extLst>
              <a:ext uri="{FF2B5EF4-FFF2-40B4-BE49-F238E27FC236}">
                <a16:creationId xmlns:a16="http://schemas.microsoft.com/office/drawing/2014/main" id="{F03741F4-9FBA-56E7-5370-FECF9A5EAB8D}"/>
              </a:ext>
            </a:extLst>
          </p:cNvPr>
          <p:cNvSpPr>
            <a:spLocks noChangeShapeType="1"/>
          </p:cNvSpPr>
          <p:nvPr/>
        </p:nvSpPr>
        <p:spPr bwMode="auto">
          <a:xfrm>
            <a:off x="4265613" y="4189413"/>
            <a:ext cx="0" cy="7620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1752" name="Line 8">
            <a:extLst>
              <a:ext uri="{FF2B5EF4-FFF2-40B4-BE49-F238E27FC236}">
                <a16:creationId xmlns:a16="http://schemas.microsoft.com/office/drawing/2014/main" id="{153050C3-A3D5-26AF-4010-5C70CD0B4BAE}"/>
              </a:ext>
            </a:extLst>
          </p:cNvPr>
          <p:cNvSpPr>
            <a:spLocks noChangeShapeType="1"/>
          </p:cNvSpPr>
          <p:nvPr/>
        </p:nvSpPr>
        <p:spPr bwMode="auto">
          <a:xfrm>
            <a:off x="4265613" y="4189413"/>
            <a:ext cx="762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1753" name="Line 9">
            <a:extLst>
              <a:ext uri="{FF2B5EF4-FFF2-40B4-BE49-F238E27FC236}">
                <a16:creationId xmlns:a16="http://schemas.microsoft.com/office/drawing/2014/main" id="{30F396D5-1915-D21B-37C2-2F4DA722759B}"/>
              </a:ext>
            </a:extLst>
          </p:cNvPr>
          <p:cNvSpPr>
            <a:spLocks noChangeShapeType="1"/>
          </p:cNvSpPr>
          <p:nvPr/>
        </p:nvSpPr>
        <p:spPr bwMode="auto">
          <a:xfrm>
            <a:off x="4265613" y="4951413"/>
            <a:ext cx="762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1754" name="Line 10">
            <a:extLst>
              <a:ext uri="{FF2B5EF4-FFF2-40B4-BE49-F238E27FC236}">
                <a16:creationId xmlns:a16="http://schemas.microsoft.com/office/drawing/2014/main" id="{E23DE2E1-D72C-43BF-D460-A5CFAC8DA92F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6213" y="4189413"/>
            <a:ext cx="0" cy="7620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1755" name="Line 11">
            <a:extLst>
              <a:ext uri="{FF2B5EF4-FFF2-40B4-BE49-F238E27FC236}">
                <a16:creationId xmlns:a16="http://schemas.microsoft.com/office/drawing/2014/main" id="{FC733BAC-D2A7-5FBA-715E-FBDB03BA2747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6213" y="4189413"/>
            <a:ext cx="762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1756" name="Line 12">
            <a:extLst>
              <a:ext uri="{FF2B5EF4-FFF2-40B4-BE49-F238E27FC236}">
                <a16:creationId xmlns:a16="http://schemas.microsoft.com/office/drawing/2014/main" id="{09BFA653-D9E4-825E-E450-C14F70755B9B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6213" y="4951413"/>
            <a:ext cx="762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1757" name="Line 13">
            <a:extLst>
              <a:ext uri="{FF2B5EF4-FFF2-40B4-BE49-F238E27FC236}">
                <a16:creationId xmlns:a16="http://schemas.microsoft.com/office/drawing/2014/main" id="{F2C5E12F-E4C1-3CAE-427F-482E3F6022F4}"/>
              </a:ext>
            </a:extLst>
          </p:cNvPr>
          <p:cNvSpPr>
            <a:spLocks noChangeShapeType="1"/>
          </p:cNvSpPr>
          <p:nvPr/>
        </p:nvSpPr>
        <p:spPr bwMode="auto">
          <a:xfrm>
            <a:off x="7161213" y="4189413"/>
            <a:ext cx="0" cy="7620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1758" name="Line 14">
            <a:extLst>
              <a:ext uri="{FF2B5EF4-FFF2-40B4-BE49-F238E27FC236}">
                <a16:creationId xmlns:a16="http://schemas.microsoft.com/office/drawing/2014/main" id="{9FE38C97-FFD0-EBD1-484A-127BCE5750D3}"/>
              </a:ext>
            </a:extLst>
          </p:cNvPr>
          <p:cNvSpPr>
            <a:spLocks noChangeShapeType="1"/>
          </p:cNvSpPr>
          <p:nvPr/>
        </p:nvSpPr>
        <p:spPr bwMode="auto">
          <a:xfrm>
            <a:off x="7161213" y="4189413"/>
            <a:ext cx="762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1759" name="Line 15">
            <a:extLst>
              <a:ext uri="{FF2B5EF4-FFF2-40B4-BE49-F238E27FC236}">
                <a16:creationId xmlns:a16="http://schemas.microsoft.com/office/drawing/2014/main" id="{FDCAF8AF-2B94-D9E1-4FA0-62D10DB50C7B}"/>
              </a:ext>
            </a:extLst>
          </p:cNvPr>
          <p:cNvSpPr>
            <a:spLocks noChangeShapeType="1"/>
          </p:cNvSpPr>
          <p:nvPr/>
        </p:nvSpPr>
        <p:spPr bwMode="auto">
          <a:xfrm>
            <a:off x="7161213" y="4951413"/>
            <a:ext cx="762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1760" name="Line 16">
            <a:extLst>
              <a:ext uri="{FF2B5EF4-FFF2-40B4-BE49-F238E27FC236}">
                <a16:creationId xmlns:a16="http://schemas.microsoft.com/office/drawing/2014/main" id="{9E19EE4E-2F31-C39C-32CF-2B7D43C3AB76}"/>
              </a:ext>
            </a:extLst>
          </p:cNvPr>
          <p:cNvSpPr>
            <a:spLocks noChangeShapeType="1"/>
          </p:cNvSpPr>
          <p:nvPr/>
        </p:nvSpPr>
        <p:spPr bwMode="auto">
          <a:xfrm>
            <a:off x="4722813" y="4189413"/>
            <a:ext cx="0" cy="7620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1761" name="Line 17">
            <a:extLst>
              <a:ext uri="{FF2B5EF4-FFF2-40B4-BE49-F238E27FC236}">
                <a16:creationId xmlns:a16="http://schemas.microsoft.com/office/drawing/2014/main" id="{6959811B-BD54-D68C-4C9F-770E7E0C15CF}"/>
              </a:ext>
            </a:extLst>
          </p:cNvPr>
          <p:cNvSpPr>
            <a:spLocks noChangeShapeType="1"/>
          </p:cNvSpPr>
          <p:nvPr/>
        </p:nvSpPr>
        <p:spPr bwMode="auto">
          <a:xfrm>
            <a:off x="4646613" y="4189413"/>
            <a:ext cx="762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1762" name="Line 18">
            <a:extLst>
              <a:ext uri="{FF2B5EF4-FFF2-40B4-BE49-F238E27FC236}">
                <a16:creationId xmlns:a16="http://schemas.microsoft.com/office/drawing/2014/main" id="{927E5F17-77EC-886A-1177-76FDA4A002E6}"/>
              </a:ext>
            </a:extLst>
          </p:cNvPr>
          <p:cNvSpPr>
            <a:spLocks noChangeShapeType="1"/>
          </p:cNvSpPr>
          <p:nvPr/>
        </p:nvSpPr>
        <p:spPr bwMode="auto">
          <a:xfrm>
            <a:off x="4646613" y="4951413"/>
            <a:ext cx="762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1763" name="Line 19">
            <a:extLst>
              <a:ext uri="{FF2B5EF4-FFF2-40B4-BE49-F238E27FC236}">
                <a16:creationId xmlns:a16="http://schemas.microsoft.com/office/drawing/2014/main" id="{8788A1DE-0F94-A728-0E29-03362F724891}"/>
              </a:ext>
            </a:extLst>
          </p:cNvPr>
          <p:cNvSpPr>
            <a:spLocks noChangeShapeType="1"/>
          </p:cNvSpPr>
          <p:nvPr/>
        </p:nvSpPr>
        <p:spPr bwMode="auto">
          <a:xfrm>
            <a:off x="6856413" y="4189413"/>
            <a:ext cx="0" cy="7620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1764" name="Line 20">
            <a:extLst>
              <a:ext uri="{FF2B5EF4-FFF2-40B4-BE49-F238E27FC236}">
                <a16:creationId xmlns:a16="http://schemas.microsoft.com/office/drawing/2014/main" id="{5E38504F-A7F7-2985-8022-C49FAD76A7DF}"/>
              </a:ext>
            </a:extLst>
          </p:cNvPr>
          <p:cNvSpPr>
            <a:spLocks noChangeShapeType="1"/>
          </p:cNvSpPr>
          <p:nvPr/>
        </p:nvSpPr>
        <p:spPr bwMode="auto">
          <a:xfrm>
            <a:off x="6780213" y="4189413"/>
            <a:ext cx="762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1765" name="Line 21">
            <a:extLst>
              <a:ext uri="{FF2B5EF4-FFF2-40B4-BE49-F238E27FC236}">
                <a16:creationId xmlns:a16="http://schemas.microsoft.com/office/drawing/2014/main" id="{B2AFDC3C-536C-E089-AB19-E7CB2C3EFA0F}"/>
              </a:ext>
            </a:extLst>
          </p:cNvPr>
          <p:cNvSpPr>
            <a:spLocks noChangeShapeType="1"/>
          </p:cNvSpPr>
          <p:nvPr/>
        </p:nvSpPr>
        <p:spPr bwMode="auto">
          <a:xfrm>
            <a:off x="6780213" y="4951413"/>
            <a:ext cx="762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1766" name="Line 22">
            <a:extLst>
              <a:ext uri="{FF2B5EF4-FFF2-40B4-BE49-F238E27FC236}">
                <a16:creationId xmlns:a16="http://schemas.microsoft.com/office/drawing/2014/main" id="{F495147D-A155-9607-D8D7-56648DB64243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4189413"/>
            <a:ext cx="0" cy="7620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1767" name="Line 23">
            <a:extLst>
              <a:ext uri="{FF2B5EF4-FFF2-40B4-BE49-F238E27FC236}">
                <a16:creationId xmlns:a16="http://schemas.microsoft.com/office/drawing/2014/main" id="{E02B8ADF-0B2F-BD84-663B-EB7954DC6906}"/>
              </a:ext>
            </a:extLst>
          </p:cNvPr>
          <p:cNvSpPr>
            <a:spLocks noChangeShapeType="1"/>
          </p:cNvSpPr>
          <p:nvPr/>
        </p:nvSpPr>
        <p:spPr bwMode="auto">
          <a:xfrm>
            <a:off x="7696200" y="4189413"/>
            <a:ext cx="762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1768" name="Line 24">
            <a:extLst>
              <a:ext uri="{FF2B5EF4-FFF2-40B4-BE49-F238E27FC236}">
                <a16:creationId xmlns:a16="http://schemas.microsoft.com/office/drawing/2014/main" id="{D0FE8C74-4BA0-1529-EB77-0A45873FD85B}"/>
              </a:ext>
            </a:extLst>
          </p:cNvPr>
          <p:cNvSpPr>
            <a:spLocks noChangeShapeType="1"/>
          </p:cNvSpPr>
          <p:nvPr/>
        </p:nvSpPr>
        <p:spPr bwMode="auto">
          <a:xfrm>
            <a:off x="7696200" y="4951413"/>
            <a:ext cx="762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1769" name="Rectangle 25">
            <a:extLst>
              <a:ext uri="{FF2B5EF4-FFF2-40B4-BE49-F238E27FC236}">
                <a16:creationId xmlns:a16="http://schemas.microsoft.com/office/drawing/2014/main" id="{43DE64BD-8F54-8ECF-CC7D-FEE3B89BE6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00600" y="4419600"/>
            <a:ext cx="911225" cy="417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 b="1">
                <a:latin typeface="Times New Roman" charset="0"/>
                <a:ea typeface="ＭＳ Ｐゴシック" charset="0"/>
              </a:rPr>
              <a:t>=</a:t>
            </a:r>
          </a:p>
        </p:txBody>
      </p:sp>
      <p:sp>
        <p:nvSpPr>
          <p:cNvPr id="31770" name="Line 26">
            <a:extLst>
              <a:ext uri="{FF2B5EF4-FFF2-40B4-BE49-F238E27FC236}">
                <a16:creationId xmlns:a16="http://schemas.microsoft.com/office/drawing/2014/main" id="{AAC0F481-BEE9-9316-451D-B51B42DB76D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1371600"/>
            <a:ext cx="0" cy="2362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1771" name="Line 27">
            <a:extLst>
              <a:ext uri="{FF2B5EF4-FFF2-40B4-BE49-F238E27FC236}">
                <a16:creationId xmlns:a16="http://schemas.microsoft.com/office/drawing/2014/main" id="{A4751082-5138-17B1-BAD7-8981D2DE2B6D}"/>
              </a:ext>
            </a:extLst>
          </p:cNvPr>
          <p:cNvSpPr>
            <a:spLocks noChangeShapeType="1"/>
          </p:cNvSpPr>
          <p:nvPr/>
        </p:nvSpPr>
        <p:spPr bwMode="auto">
          <a:xfrm>
            <a:off x="4876800" y="1371600"/>
            <a:ext cx="0" cy="2438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1772" name="Line 28">
            <a:extLst>
              <a:ext uri="{FF2B5EF4-FFF2-40B4-BE49-F238E27FC236}">
                <a16:creationId xmlns:a16="http://schemas.microsoft.com/office/drawing/2014/main" id="{C93A9B51-7E52-6BC7-2F28-0164F4F3F0A5}"/>
              </a:ext>
            </a:extLst>
          </p:cNvPr>
          <p:cNvSpPr>
            <a:spLocks noChangeShapeType="1"/>
          </p:cNvSpPr>
          <p:nvPr/>
        </p:nvSpPr>
        <p:spPr bwMode="auto">
          <a:xfrm>
            <a:off x="609600" y="3276600"/>
            <a:ext cx="2362200" cy="0"/>
          </a:xfrm>
          <a:prstGeom prst="line">
            <a:avLst/>
          </a:prstGeom>
          <a:noFill/>
          <a:ln w="9525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1773" name="Line 29">
            <a:extLst>
              <a:ext uri="{FF2B5EF4-FFF2-40B4-BE49-F238E27FC236}">
                <a16:creationId xmlns:a16="http://schemas.microsoft.com/office/drawing/2014/main" id="{6EB575DB-197F-E01E-73DA-C7B111C1F24D}"/>
              </a:ext>
            </a:extLst>
          </p:cNvPr>
          <p:cNvSpPr>
            <a:spLocks noChangeShapeType="1"/>
          </p:cNvSpPr>
          <p:nvPr/>
        </p:nvSpPr>
        <p:spPr bwMode="auto">
          <a:xfrm>
            <a:off x="5105400" y="3276600"/>
            <a:ext cx="2362200" cy="0"/>
          </a:xfrm>
          <a:prstGeom prst="line">
            <a:avLst/>
          </a:prstGeom>
          <a:noFill/>
          <a:ln w="9525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1774" name="Text Box 30">
            <a:extLst>
              <a:ext uri="{FF2B5EF4-FFF2-40B4-BE49-F238E27FC236}">
                <a16:creationId xmlns:a16="http://schemas.microsoft.com/office/drawing/2014/main" id="{7C90E628-8971-76F0-295B-70433D368C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0" y="3886200"/>
            <a:ext cx="2230438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(addition mod 2)</a:t>
            </a:r>
          </a:p>
        </p:txBody>
      </p:sp>
      <p:sp>
        <p:nvSpPr>
          <p:cNvPr id="31775" name="Text Box 31">
            <a:extLst>
              <a:ext uri="{FF2B5EF4-FFF2-40B4-BE49-F238E27FC236}">
                <a16:creationId xmlns:a16="http://schemas.microsoft.com/office/drawing/2014/main" id="{9C88E126-56E5-35CA-2A49-DC4FADDAD9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6200" y="4940300"/>
            <a:ext cx="5257800" cy="19177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Matmul prefix with binary arithmetic is equivalent to carry-look ahead!</a:t>
            </a:r>
          </a:p>
          <a:p>
            <a:pPr>
              <a:defRPr/>
            </a:pPr>
            <a:endParaRPr lang="en-US" sz="2400">
              <a:latin typeface="Times New Roman" charset="0"/>
              <a:ea typeface="ＭＳ Ｐゴシック" charset="0"/>
            </a:endParaRPr>
          </a:p>
          <a:p>
            <a:pPr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Compute c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 </a:t>
            </a:r>
            <a:r>
              <a:rPr lang="en-US" sz="2400">
                <a:latin typeface="Times New Roman" charset="0"/>
                <a:ea typeface="ＭＳ Ｐゴシック" charset="0"/>
              </a:rPr>
              <a:t>by prefix, then </a:t>
            </a:r>
          </a:p>
          <a:p>
            <a:pPr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s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</a:t>
            </a:r>
            <a:r>
              <a:rPr lang="en-US" sz="2400">
                <a:latin typeface="Times New Roman" charset="0"/>
                <a:ea typeface="ＭＳ Ｐゴシック" charset="0"/>
              </a:rPr>
              <a:t> = a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 </a:t>
            </a:r>
            <a:r>
              <a:rPr lang="en-US" sz="2400">
                <a:latin typeface="Times New Roman" charset="0"/>
                <a:ea typeface="ＭＳ Ｐゴシック" charset="0"/>
              </a:rPr>
              <a:t>+ b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 </a:t>
            </a:r>
            <a:r>
              <a:rPr lang="en-US" sz="2400">
                <a:latin typeface="Times New Roman" charset="0"/>
                <a:ea typeface="ＭＳ Ｐゴシック" charset="0"/>
              </a:rPr>
              <a:t>+c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i-1  </a:t>
            </a:r>
            <a:r>
              <a:rPr lang="en-US" sz="2400">
                <a:latin typeface="Times New Roman" charset="0"/>
                <a:ea typeface="ＭＳ Ｐゴシック" charset="0"/>
              </a:rPr>
              <a:t>in parallel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>
            <a:extLst>
              <a:ext uri="{FF2B5EF4-FFF2-40B4-BE49-F238E27FC236}">
                <a16:creationId xmlns:a16="http://schemas.microsoft.com/office/drawing/2014/main" id="{7705038E-78AB-825C-42ED-4DBCACF8476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0"/>
            <a:ext cx="7772400" cy="533400"/>
          </a:xfrm>
        </p:spPr>
        <p:txBody>
          <a:bodyPr/>
          <a:lstStyle/>
          <a:p>
            <a:pPr eaLnBrk="1" hangingPunct="1">
              <a:defRPr/>
            </a:pPr>
            <a:r>
              <a:rPr lang="en-US">
                <a:solidFill>
                  <a:schemeClr val="tx1"/>
                </a:solidFill>
              </a:rPr>
              <a:t>Tridiagonal Factor</a:t>
            </a:r>
          </a:p>
        </p:txBody>
      </p:sp>
      <p:sp>
        <p:nvSpPr>
          <p:cNvPr id="32771" name="Rectangle 3">
            <a:extLst>
              <a:ext uri="{FF2B5EF4-FFF2-40B4-BE49-F238E27FC236}">
                <a16:creationId xmlns:a16="http://schemas.microsoft.com/office/drawing/2014/main" id="{45405DF7-9DAD-C7B5-1F11-79C604C77A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362200" y="0"/>
            <a:ext cx="7616825" cy="3484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endParaRPr lang="en-US" sz="2400" b="1">
              <a:latin typeface="Times New Roman" charset="0"/>
              <a:ea typeface="ＭＳ Ｐゴシック" charset="0"/>
            </a:endParaRPr>
          </a:p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 b="1">
                <a:latin typeface="Times New Roman" charset="0"/>
                <a:ea typeface="ＭＳ Ｐゴシック" charset="0"/>
              </a:rPr>
              <a:t>                                      	</a:t>
            </a:r>
            <a:r>
              <a:rPr lang="en-US" sz="2400">
                <a:latin typeface="Times New Roman" charset="0"/>
                <a:ea typeface="ＭＳ Ｐゴシック" charset="0"/>
              </a:rPr>
              <a:t>a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1</a:t>
            </a:r>
            <a:r>
              <a:rPr lang="en-US" sz="2400">
                <a:latin typeface="Times New Roman" charset="0"/>
                <a:ea typeface="ＭＳ Ｐゴシック" charset="0"/>
              </a:rPr>
              <a:t>   b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1</a:t>
            </a:r>
            <a:endParaRPr lang="en-US" sz="2400" b="1">
              <a:latin typeface="Times New Roman" charset="0"/>
              <a:ea typeface="ＭＳ Ｐゴシック" charset="0"/>
            </a:endParaRPr>
          </a:p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 b="1">
                <a:latin typeface="Times New Roman" charset="0"/>
                <a:ea typeface="ＭＳ Ｐゴシック" charset="0"/>
              </a:rPr>
              <a:t> 				</a:t>
            </a:r>
            <a:r>
              <a:rPr lang="en-US" sz="2400">
                <a:latin typeface="Times New Roman" charset="0"/>
                <a:ea typeface="ＭＳ Ｐゴシック" charset="0"/>
              </a:rPr>
              <a:t>c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1</a:t>
            </a:r>
            <a:r>
              <a:rPr lang="en-US" sz="2400">
                <a:latin typeface="Times New Roman" charset="0"/>
                <a:ea typeface="ＭＳ Ｐゴシック" charset="0"/>
              </a:rPr>
              <a:t>   a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2</a:t>
            </a:r>
            <a:r>
              <a:rPr lang="en-US" sz="2400">
                <a:latin typeface="Times New Roman" charset="0"/>
                <a:ea typeface="ＭＳ Ｐゴシック" charset="0"/>
              </a:rPr>
              <a:t>   b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2</a:t>
            </a:r>
            <a:endParaRPr lang="en-US" sz="2400">
              <a:latin typeface="Times New Roman" charset="0"/>
              <a:ea typeface="ＭＳ Ｐゴシック" charset="0"/>
            </a:endParaRPr>
          </a:p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 				      c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2</a:t>
            </a:r>
            <a:r>
              <a:rPr lang="en-US" sz="2400">
                <a:latin typeface="Times New Roman" charset="0"/>
                <a:ea typeface="ＭＳ Ｐゴシック" charset="0"/>
              </a:rPr>
              <a:t>   a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3</a:t>
            </a:r>
            <a:r>
              <a:rPr lang="en-US" sz="2400">
                <a:latin typeface="Times New Roman" charset="0"/>
                <a:ea typeface="ＭＳ Ｐゴシック" charset="0"/>
              </a:rPr>
              <a:t>   b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3</a:t>
            </a:r>
            <a:endParaRPr lang="en-US" sz="2400">
              <a:latin typeface="Times New Roman" charset="0"/>
              <a:ea typeface="ＭＳ Ｐゴシック" charset="0"/>
            </a:endParaRPr>
          </a:p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 					c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3</a:t>
            </a:r>
            <a:r>
              <a:rPr lang="en-US" sz="2400">
                <a:latin typeface="Times New Roman" charset="0"/>
                <a:ea typeface="ＭＳ Ｐゴシック" charset="0"/>
              </a:rPr>
              <a:t>   a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4</a:t>
            </a:r>
            <a:r>
              <a:rPr lang="en-US" sz="2400">
                <a:latin typeface="Times New Roman" charset="0"/>
                <a:ea typeface="ＭＳ Ｐゴシック" charset="0"/>
              </a:rPr>
              <a:t>   b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4</a:t>
            </a:r>
            <a:endParaRPr lang="en-US" sz="2400">
              <a:latin typeface="Times New Roman" charset="0"/>
              <a:ea typeface="ＭＳ Ｐゴシック" charset="0"/>
            </a:endParaRPr>
          </a:p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 					      c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4</a:t>
            </a:r>
            <a:r>
              <a:rPr lang="en-US" sz="2400">
                <a:latin typeface="Times New Roman" charset="0"/>
                <a:ea typeface="ＭＳ Ｐゴシック" charset="0"/>
              </a:rPr>
              <a:t>   a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5</a:t>
            </a:r>
            <a:endParaRPr lang="en-US" sz="2400">
              <a:latin typeface="Times New Roman" charset="0"/>
              <a:ea typeface="ＭＳ Ｐゴシック" charset="0"/>
            </a:endParaRPr>
          </a:p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			</a:t>
            </a:r>
          </a:p>
        </p:txBody>
      </p:sp>
      <p:sp>
        <p:nvSpPr>
          <p:cNvPr id="32772" name="Line 4">
            <a:extLst>
              <a:ext uri="{FF2B5EF4-FFF2-40B4-BE49-F238E27FC236}">
                <a16:creationId xmlns:a16="http://schemas.microsoft.com/office/drawing/2014/main" id="{574AA39B-D938-4FEE-D107-621B30C019D3}"/>
              </a:ext>
            </a:extLst>
          </p:cNvPr>
          <p:cNvSpPr>
            <a:spLocks noChangeShapeType="1"/>
          </p:cNvSpPr>
          <p:nvPr/>
        </p:nvSpPr>
        <p:spPr bwMode="auto">
          <a:xfrm>
            <a:off x="1295400" y="3581400"/>
            <a:ext cx="0" cy="99060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2773" name="Line 5">
            <a:extLst>
              <a:ext uri="{FF2B5EF4-FFF2-40B4-BE49-F238E27FC236}">
                <a16:creationId xmlns:a16="http://schemas.microsoft.com/office/drawing/2014/main" id="{84360A7B-2062-1991-FB07-37A8F0284239}"/>
              </a:ext>
            </a:extLst>
          </p:cNvPr>
          <p:cNvSpPr>
            <a:spLocks noChangeShapeType="1"/>
          </p:cNvSpPr>
          <p:nvPr/>
        </p:nvSpPr>
        <p:spPr bwMode="auto">
          <a:xfrm>
            <a:off x="2057400" y="3579813"/>
            <a:ext cx="0" cy="99060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2774" name="Line 6">
            <a:extLst>
              <a:ext uri="{FF2B5EF4-FFF2-40B4-BE49-F238E27FC236}">
                <a16:creationId xmlns:a16="http://schemas.microsoft.com/office/drawing/2014/main" id="{EB16BDBA-2596-2B0F-71A1-BAD84088D39A}"/>
              </a:ext>
            </a:extLst>
          </p:cNvPr>
          <p:cNvSpPr>
            <a:spLocks noChangeShapeType="1"/>
          </p:cNvSpPr>
          <p:nvPr/>
        </p:nvSpPr>
        <p:spPr bwMode="auto">
          <a:xfrm>
            <a:off x="2590800" y="3579813"/>
            <a:ext cx="0" cy="99060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2775" name="Line 7">
            <a:extLst>
              <a:ext uri="{FF2B5EF4-FFF2-40B4-BE49-F238E27FC236}">
                <a16:creationId xmlns:a16="http://schemas.microsoft.com/office/drawing/2014/main" id="{5582934A-C093-3436-1058-4F1DC22E2A68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3400" y="3579813"/>
            <a:ext cx="0" cy="99060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2776" name="Line 8">
            <a:extLst>
              <a:ext uri="{FF2B5EF4-FFF2-40B4-BE49-F238E27FC236}">
                <a16:creationId xmlns:a16="http://schemas.microsoft.com/office/drawing/2014/main" id="{0F14F131-F44B-4CAF-3043-D6098B221BDC}"/>
              </a:ext>
            </a:extLst>
          </p:cNvPr>
          <p:cNvSpPr>
            <a:spLocks noChangeShapeType="1"/>
          </p:cNvSpPr>
          <p:nvPr/>
        </p:nvSpPr>
        <p:spPr bwMode="auto">
          <a:xfrm>
            <a:off x="4495800" y="3579813"/>
            <a:ext cx="0" cy="99060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2777" name="Line 9">
            <a:extLst>
              <a:ext uri="{FF2B5EF4-FFF2-40B4-BE49-F238E27FC236}">
                <a16:creationId xmlns:a16="http://schemas.microsoft.com/office/drawing/2014/main" id="{883741FC-C71A-E0BD-F0FE-0D723659B068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3579813"/>
            <a:ext cx="0" cy="99060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2778" name="Line 10">
            <a:extLst>
              <a:ext uri="{FF2B5EF4-FFF2-40B4-BE49-F238E27FC236}">
                <a16:creationId xmlns:a16="http://schemas.microsoft.com/office/drawing/2014/main" id="{D8BB64DC-143A-2184-68D9-E7A7FC1DD8E8}"/>
              </a:ext>
            </a:extLst>
          </p:cNvPr>
          <p:cNvSpPr>
            <a:spLocks noChangeShapeType="1"/>
          </p:cNvSpPr>
          <p:nvPr/>
        </p:nvSpPr>
        <p:spPr bwMode="auto">
          <a:xfrm>
            <a:off x="3048000" y="5027613"/>
            <a:ext cx="0" cy="1676400"/>
          </a:xfrm>
          <a:prstGeom prst="line">
            <a:avLst/>
          </a:prstGeom>
          <a:noFill/>
          <a:ln w="254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2779" name="Line 11">
            <a:extLst>
              <a:ext uri="{FF2B5EF4-FFF2-40B4-BE49-F238E27FC236}">
                <a16:creationId xmlns:a16="http://schemas.microsoft.com/office/drawing/2014/main" id="{851915A7-3ADF-B19C-7DF8-FACAC94CC7BA}"/>
              </a:ext>
            </a:extLst>
          </p:cNvPr>
          <p:cNvSpPr>
            <a:spLocks noChangeShapeType="1"/>
          </p:cNvSpPr>
          <p:nvPr/>
        </p:nvSpPr>
        <p:spPr bwMode="auto">
          <a:xfrm>
            <a:off x="4419600" y="5027613"/>
            <a:ext cx="0" cy="1676400"/>
          </a:xfrm>
          <a:prstGeom prst="line">
            <a:avLst/>
          </a:prstGeom>
          <a:noFill/>
          <a:ln w="254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2780" name="Line 12">
            <a:extLst>
              <a:ext uri="{FF2B5EF4-FFF2-40B4-BE49-F238E27FC236}">
                <a16:creationId xmlns:a16="http://schemas.microsoft.com/office/drawing/2014/main" id="{28588C96-BA4E-8AF9-2AF8-C98BDD60902A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0" y="5027613"/>
            <a:ext cx="0" cy="1676400"/>
          </a:xfrm>
          <a:prstGeom prst="line">
            <a:avLst/>
          </a:prstGeom>
          <a:noFill/>
          <a:ln w="254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2781" name="Line 13">
            <a:extLst>
              <a:ext uri="{FF2B5EF4-FFF2-40B4-BE49-F238E27FC236}">
                <a16:creationId xmlns:a16="http://schemas.microsoft.com/office/drawing/2014/main" id="{3A69C337-CB9B-0CCF-7D78-B6B2EF707FC3}"/>
              </a:ext>
            </a:extLst>
          </p:cNvPr>
          <p:cNvSpPr>
            <a:spLocks noChangeShapeType="1"/>
          </p:cNvSpPr>
          <p:nvPr/>
        </p:nvSpPr>
        <p:spPr bwMode="auto">
          <a:xfrm>
            <a:off x="6096000" y="5027613"/>
            <a:ext cx="0" cy="1676400"/>
          </a:xfrm>
          <a:prstGeom prst="line">
            <a:avLst/>
          </a:prstGeom>
          <a:noFill/>
          <a:ln w="254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2782" name="Line 14">
            <a:extLst>
              <a:ext uri="{FF2B5EF4-FFF2-40B4-BE49-F238E27FC236}">
                <a16:creationId xmlns:a16="http://schemas.microsoft.com/office/drawing/2014/main" id="{0081D194-C077-9576-925F-456AD504D7C7}"/>
              </a:ext>
            </a:extLst>
          </p:cNvPr>
          <p:cNvSpPr>
            <a:spLocks noChangeShapeType="1"/>
          </p:cNvSpPr>
          <p:nvPr/>
        </p:nvSpPr>
        <p:spPr bwMode="auto">
          <a:xfrm>
            <a:off x="4114800" y="531813"/>
            <a:ext cx="762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2783" name="Line 15">
            <a:extLst>
              <a:ext uri="{FF2B5EF4-FFF2-40B4-BE49-F238E27FC236}">
                <a16:creationId xmlns:a16="http://schemas.microsoft.com/office/drawing/2014/main" id="{696F21A5-3F47-012A-A1D7-C5346EB4EBE3}"/>
              </a:ext>
            </a:extLst>
          </p:cNvPr>
          <p:cNvSpPr>
            <a:spLocks noChangeShapeType="1"/>
          </p:cNvSpPr>
          <p:nvPr/>
        </p:nvSpPr>
        <p:spPr bwMode="auto">
          <a:xfrm>
            <a:off x="1295400" y="3579813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2784" name="Line 16">
            <a:extLst>
              <a:ext uri="{FF2B5EF4-FFF2-40B4-BE49-F238E27FC236}">
                <a16:creationId xmlns:a16="http://schemas.microsoft.com/office/drawing/2014/main" id="{C09BF075-0036-AA85-164A-DF532F65A737}"/>
              </a:ext>
            </a:extLst>
          </p:cNvPr>
          <p:cNvSpPr>
            <a:spLocks noChangeShapeType="1"/>
          </p:cNvSpPr>
          <p:nvPr/>
        </p:nvSpPr>
        <p:spPr bwMode="auto">
          <a:xfrm>
            <a:off x="1295400" y="4570413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2785" name="Line 17">
            <a:extLst>
              <a:ext uri="{FF2B5EF4-FFF2-40B4-BE49-F238E27FC236}">
                <a16:creationId xmlns:a16="http://schemas.microsoft.com/office/drawing/2014/main" id="{E4AC2F2E-9145-18D9-5302-A7B7D36461A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981200" y="3579813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2786" name="Line 18">
            <a:extLst>
              <a:ext uri="{FF2B5EF4-FFF2-40B4-BE49-F238E27FC236}">
                <a16:creationId xmlns:a16="http://schemas.microsoft.com/office/drawing/2014/main" id="{04403F3C-096E-AFB4-3416-F101BF43A29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981200" y="4570413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2787" name="Line 19">
            <a:extLst>
              <a:ext uri="{FF2B5EF4-FFF2-40B4-BE49-F238E27FC236}">
                <a16:creationId xmlns:a16="http://schemas.microsoft.com/office/drawing/2014/main" id="{0AAB3EB8-4E65-E70D-FA47-69DDEBAAF885}"/>
              </a:ext>
            </a:extLst>
          </p:cNvPr>
          <p:cNvSpPr>
            <a:spLocks noChangeShapeType="1"/>
          </p:cNvSpPr>
          <p:nvPr/>
        </p:nvSpPr>
        <p:spPr bwMode="auto">
          <a:xfrm>
            <a:off x="2590800" y="3579813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2788" name="Line 20">
            <a:extLst>
              <a:ext uri="{FF2B5EF4-FFF2-40B4-BE49-F238E27FC236}">
                <a16:creationId xmlns:a16="http://schemas.microsoft.com/office/drawing/2014/main" id="{A0253F41-8E56-661B-629C-A60B00A69BBE}"/>
              </a:ext>
            </a:extLst>
          </p:cNvPr>
          <p:cNvSpPr>
            <a:spLocks noChangeShapeType="1"/>
          </p:cNvSpPr>
          <p:nvPr/>
        </p:nvSpPr>
        <p:spPr bwMode="auto">
          <a:xfrm>
            <a:off x="2590800" y="4570413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2789" name="Line 21">
            <a:extLst>
              <a:ext uri="{FF2B5EF4-FFF2-40B4-BE49-F238E27FC236}">
                <a16:creationId xmlns:a16="http://schemas.microsoft.com/office/drawing/2014/main" id="{155E372C-7078-6217-69E9-2AA493400AE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67200" y="3579813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2790" name="Line 22">
            <a:extLst>
              <a:ext uri="{FF2B5EF4-FFF2-40B4-BE49-F238E27FC236}">
                <a16:creationId xmlns:a16="http://schemas.microsoft.com/office/drawing/2014/main" id="{DC6C91C4-50FC-1D59-362D-77284B88B7B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67200" y="4570413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2791" name="Line 23">
            <a:extLst>
              <a:ext uri="{FF2B5EF4-FFF2-40B4-BE49-F238E27FC236}">
                <a16:creationId xmlns:a16="http://schemas.microsoft.com/office/drawing/2014/main" id="{676BB9AE-B084-C65A-7205-AC9470EDD3D3}"/>
              </a:ext>
            </a:extLst>
          </p:cNvPr>
          <p:cNvSpPr>
            <a:spLocks noChangeShapeType="1"/>
          </p:cNvSpPr>
          <p:nvPr/>
        </p:nvSpPr>
        <p:spPr bwMode="auto">
          <a:xfrm>
            <a:off x="4495800" y="3579813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2792" name="Line 24">
            <a:extLst>
              <a:ext uri="{FF2B5EF4-FFF2-40B4-BE49-F238E27FC236}">
                <a16:creationId xmlns:a16="http://schemas.microsoft.com/office/drawing/2014/main" id="{204F552E-0106-16FA-12E7-318AEEAE572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181600" y="3579813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2793" name="Line 25">
            <a:extLst>
              <a:ext uri="{FF2B5EF4-FFF2-40B4-BE49-F238E27FC236}">
                <a16:creationId xmlns:a16="http://schemas.microsoft.com/office/drawing/2014/main" id="{2B52E819-3A8A-D2E5-D680-6C5185AD6D47}"/>
              </a:ext>
            </a:extLst>
          </p:cNvPr>
          <p:cNvSpPr>
            <a:spLocks noChangeShapeType="1"/>
          </p:cNvSpPr>
          <p:nvPr/>
        </p:nvSpPr>
        <p:spPr bwMode="auto">
          <a:xfrm>
            <a:off x="4495800" y="4570413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2794" name="Line 26">
            <a:extLst>
              <a:ext uri="{FF2B5EF4-FFF2-40B4-BE49-F238E27FC236}">
                <a16:creationId xmlns:a16="http://schemas.microsoft.com/office/drawing/2014/main" id="{C81A3255-4860-857B-5F81-238F36F90D9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181600" y="4570413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2795" name="Line 27">
            <a:extLst>
              <a:ext uri="{FF2B5EF4-FFF2-40B4-BE49-F238E27FC236}">
                <a16:creationId xmlns:a16="http://schemas.microsoft.com/office/drawing/2014/main" id="{4996086D-46AB-207E-A08F-1725296F2189}"/>
              </a:ext>
            </a:extLst>
          </p:cNvPr>
          <p:cNvSpPr>
            <a:spLocks noChangeShapeType="1"/>
          </p:cNvSpPr>
          <p:nvPr/>
        </p:nvSpPr>
        <p:spPr bwMode="auto">
          <a:xfrm>
            <a:off x="3048000" y="5027613"/>
            <a:ext cx="76200" cy="0"/>
          </a:xfrm>
          <a:prstGeom prst="line">
            <a:avLst/>
          </a:prstGeom>
          <a:noFill/>
          <a:ln w="254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2796" name="Line 28">
            <a:extLst>
              <a:ext uri="{FF2B5EF4-FFF2-40B4-BE49-F238E27FC236}">
                <a16:creationId xmlns:a16="http://schemas.microsoft.com/office/drawing/2014/main" id="{534A83CC-74DC-9C9F-B04B-1B74E95678E8}"/>
              </a:ext>
            </a:extLst>
          </p:cNvPr>
          <p:cNvSpPr>
            <a:spLocks noChangeShapeType="1"/>
          </p:cNvSpPr>
          <p:nvPr/>
        </p:nvSpPr>
        <p:spPr bwMode="auto">
          <a:xfrm>
            <a:off x="3048000" y="6704013"/>
            <a:ext cx="76200" cy="0"/>
          </a:xfrm>
          <a:prstGeom prst="line">
            <a:avLst/>
          </a:prstGeom>
          <a:noFill/>
          <a:ln w="254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2797" name="Line 29">
            <a:extLst>
              <a:ext uri="{FF2B5EF4-FFF2-40B4-BE49-F238E27FC236}">
                <a16:creationId xmlns:a16="http://schemas.microsoft.com/office/drawing/2014/main" id="{C16733FE-F601-1E58-4B32-BAEF3224895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343400" y="5027613"/>
            <a:ext cx="76200" cy="0"/>
          </a:xfrm>
          <a:prstGeom prst="line">
            <a:avLst/>
          </a:prstGeom>
          <a:noFill/>
          <a:ln w="254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2798" name="Line 30">
            <a:extLst>
              <a:ext uri="{FF2B5EF4-FFF2-40B4-BE49-F238E27FC236}">
                <a16:creationId xmlns:a16="http://schemas.microsoft.com/office/drawing/2014/main" id="{0153FEF1-DF5D-5798-0CD8-56BDE7302B8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343400" y="6704013"/>
            <a:ext cx="76200" cy="0"/>
          </a:xfrm>
          <a:prstGeom prst="line">
            <a:avLst/>
          </a:prstGeom>
          <a:noFill/>
          <a:ln w="254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2799" name="Line 31">
            <a:extLst>
              <a:ext uri="{FF2B5EF4-FFF2-40B4-BE49-F238E27FC236}">
                <a16:creationId xmlns:a16="http://schemas.microsoft.com/office/drawing/2014/main" id="{05D4F528-03EE-393A-FBB3-1F53F2161BAA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0" y="5027613"/>
            <a:ext cx="76200" cy="0"/>
          </a:xfrm>
          <a:prstGeom prst="line">
            <a:avLst/>
          </a:prstGeom>
          <a:noFill/>
          <a:ln w="254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2800" name="Line 32">
            <a:extLst>
              <a:ext uri="{FF2B5EF4-FFF2-40B4-BE49-F238E27FC236}">
                <a16:creationId xmlns:a16="http://schemas.microsoft.com/office/drawing/2014/main" id="{3027B695-DA18-C701-5FB3-5FB0CFB9701A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0" y="6704013"/>
            <a:ext cx="76200" cy="0"/>
          </a:xfrm>
          <a:prstGeom prst="line">
            <a:avLst/>
          </a:prstGeom>
          <a:noFill/>
          <a:ln w="254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2801" name="Line 33">
            <a:extLst>
              <a:ext uri="{FF2B5EF4-FFF2-40B4-BE49-F238E27FC236}">
                <a16:creationId xmlns:a16="http://schemas.microsoft.com/office/drawing/2014/main" id="{3AB099E8-5427-6D37-4CE4-70A248A7FF1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019800" y="5027613"/>
            <a:ext cx="76200" cy="0"/>
          </a:xfrm>
          <a:prstGeom prst="line">
            <a:avLst/>
          </a:prstGeom>
          <a:noFill/>
          <a:ln w="254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2802" name="Line 34">
            <a:extLst>
              <a:ext uri="{FF2B5EF4-FFF2-40B4-BE49-F238E27FC236}">
                <a16:creationId xmlns:a16="http://schemas.microsoft.com/office/drawing/2014/main" id="{3A9406E9-9FC2-454D-BE97-68E0ED65AD3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019800" y="6704013"/>
            <a:ext cx="76200" cy="0"/>
          </a:xfrm>
          <a:prstGeom prst="line">
            <a:avLst/>
          </a:prstGeom>
          <a:noFill/>
          <a:ln w="254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2803" name="Line 35">
            <a:extLst>
              <a:ext uri="{FF2B5EF4-FFF2-40B4-BE49-F238E27FC236}">
                <a16:creationId xmlns:a16="http://schemas.microsoft.com/office/drawing/2014/main" id="{4F0D1B85-7BD8-6522-FD36-A73C944021D7}"/>
              </a:ext>
            </a:extLst>
          </p:cNvPr>
          <p:cNvSpPr>
            <a:spLocks noChangeShapeType="1"/>
          </p:cNvSpPr>
          <p:nvPr/>
        </p:nvSpPr>
        <p:spPr bwMode="auto">
          <a:xfrm>
            <a:off x="381000" y="4037013"/>
            <a:ext cx="685800" cy="0"/>
          </a:xfrm>
          <a:prstGeom prst="line">
            <a:avLst/>
          </a:prstGeom>
          <a:noFill/>
          <a:ln w="50800">
            <a:solidFill>
              <a:srgbClr val="FFFFFF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2804" name="Rectangle 36">
            <a:extLst>
              <a:ext uri="{FF2B5EF4-FFF2-40B4-BE49-F238E27FC236}">
                <a16:creationId xmlns:a16="http://schemas.microsoft.com/office/drawing/2014/main" id="{C10DF38F-857D-9773-D6F9-1F7F3E3046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5188" y="3810000"/>
            <a:ext cx="758825" cy="417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FFF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=</a:t>
            </a:r>
          </a:p>
        </p:txBody>
      </p:sp>
      <p:sp>
        <p:nvSpPr>
          <p:cNvPr id="32805" name="Rectangle 37">
            <a:extLst>
              <a:ext uri="{FF2B5EF4-FFF2-40B4-BE49-F238E27FC236}">
                <a16:creationId xmlns:a16="http://schemas.microsoft.com/office/drawing/2014/main" id="{75125CA2-1CFC-D1C6-873B-79474B5BC2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676400"/>
            <a:ext cx="1524000" cy="417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 b="1">
                <a:latin typeface="Times New Roman" charset="0"/>
                <a:ea typeface="ＭＳ Ｐゴシック" charset="0"/>
              </a:rPr>
              <a:t>T    =</a:t>
            </a:r>
            <a:endParaRPr lang="en-US" sz="9600" b="1">
              <a:latin typeface="Times New Roman" charset="0"/>
              <a:ea typeface="ＭＳ Ｐゴシック" charset="0"/>
            </a:endParaRPr>
          </a:p>
        </p:txBody>
      </p:sp>
      <p:sp>
        <p:nvSpPr>
          <p:cNvPr id="32806" name="Rectangle 38">
            <a:extLst>
              <a:ext uri="{FF2B5EF4-FFF2-40B4-BE49-F238E27FC236}">
                <a16:creationId xmlns:a16="http://schemas.microsoft.com/office/drawing/2014/main" id="{70AEF73D-502C-CE51-556C-6A2DFF7DE3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2788" y="5638800"/>
            <a:ext cx="1139825" cy="417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 b="1">
                <a:latin typeface="Times New Roman" charset="0"/>
                <a:ea typeface="ＭＳ Ｐゴシック" charset="0"/>
              </a:rPr>
              <a:t>T    =</a:t>
            </a:r>
          </a:p>
        </p:txBody>
      </p:sp>
      <p:grpSp>
        <p:nvGrpSpPr>
          <p:cNvPr id="21542" name="Group 39">
            <a:extLst>
              <a:ext uri="{FF2B5EF4-FFF2-40B4-BE49-F238E27FC236}">
                <a16:creationId xmlns:a16="http://schemas.microsoft.com/office/drawing/2014/main" id="{543947AE-CF70-B3D1-F238-2FF63F86D5F2}"/>
              </a:ext>
            </a:extLst>
          </p:cNvPr>
          <p:cNvGrpSpPr>
            <a:grpSpLocks/>
          </p:cNvGrpSpPr>
          <p:nvPr/>
        </p:nvGrpSpPr>
        <p:grpSpPr bwMode="auto">
          <a:xfrm>
            <a:off x="5791200" y="1371600"/>
            <a:ext cx="1522413" cy="1054100"/>
            <a:chOff x="4464" y="816"/>
            <a:chExt cx="959" cy="664"/>
          </a:xfrm>
        </p:grpSpPr>
        <p:sp>
          <p:nvSpPr>
            <p:cNvPr id="32808" name="Rectangle 40">
              <a:extLst>
                <a:ext uri="{FF2B5EF4-FFF2-40B4-BE49-F238E27FC236}">
                  <a16:creationId xmlns:a16="http://schemas.microsoft.com/office/drawing/2014/main" id="{65D9080A-E90F-1E0C-234C-8668ACA0D1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72" y="824"/>
              <a:ext cx="800" cy="656"/>
            </a:xfrm>
            <a:prstGeom prst="rect">
              <a:avLst/>
            </a:prstGeom>
            <a:noFill/>
            <a:ln w="25400">
              <a:solidFill>
                <a:schemeClr val="hlink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32809" name="Rectangle 41">
              <a:extLst>
                <a:ext uri="{FF2B5EF4-FFF2-40B4-BE49-F238E27FC236}">
                  <a16:creationId xmlns:a16="http://schemas.microsoft.com/office/drawing/2014/main" id="{A119D4BD-7890-CB53-C62B-32AD47249D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65" y="865"/>
              <a:ext cx="958" cy="5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12700">
                  <a:solidFill>
                    <a:schemeClr val="hlink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eaLnBrk="0" hangingPunct="0">
                <a:lnSpc>
                  <a:spcPct val="90000"/>
                </a:lnSpc>
                <a:spcBef>
                  <a:spcPct val="50000"/>
                </a:spcBef>
                <a:defRPr/>
              </a:pPr>
              <a:r>
                <a:rPr lang="en-US" sz="2400">
                  <a:latin typeface="Times New Roman" charset="0"/>
                  <a:ea typeface="ＭＳ Ｐゴシック" charset="0"/>
                </a:rPr>
                <a:t>D</a:t>
              </a:r>
              <a:r>
                <a:rPr lang="en-US" sz="2400" baseline="-25000">
                  <a:latin typeface="Times New Roman" charset="0"/>
                  <a:ea typeface="ＭＳ Ｐゴシック" charset="0"/>
                </a:rPr>
                <a:t>n-1</a:t>
              </a:r>
              <a:endParaRPr lang="en-US" sz="2400">
                <a:latin typeface="Times New Roman" charset="0"/>
                <a:ea typeface="ＭＳ Ｐゴシック" charset="0"/>
              </a:endParaRPr>
            </a:p>
            <a:p>
              <a:pPr eaLnBrk="0" hangingPunct="0">
                <a:lnSpc>
                  <a:spcPct val="90000"/>
                </a:lnSpc>
                <a:spcBef>
                  <a:spcPct val="50000"/>
                </a:spcBef>
                <a:defRPr/>
              </a:pPr>
              <a:r>
                <a:rPr lang="en-US" sz="2400">
                  <a:latin typeface="Times New Roman" charset="0"/>
                  <a:ea typeface="ＭＳ Ｐゴシック" charset="0"/>
                </a:rPr>
                <a:t>         D</a:t>
              </a:r>
              <a:r>
                <a:rPr lang="en-US" sz="2400" baseline="-25000">
                  <a:latin typeface="Times New Roman" charset="0"/>
                  <a:ea typeface="ＭＳ Ｐゴシック" charset="0"/>
                </a:rPr>
                <a:t>n</a:t>
              </a:r>
            </a:p>
          </p:txBody>
        </p:sp>
        <p:sp>
          <p:nvSpPr>
            <p:cNvPr id="32810" name="Line 42">
              <a:extLst>
                <a:ext uri="{FF2B5EF4-FFF2-40B4-BE49-F238E27FC236}">
                  <a16:creationId xmlns:a16="http://schemas.microsoft.com/office/drawing/2014/main" id="{68F2BB32-0311-1C66-5136-43D5D9973EE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6" y="816"/>
              <a:ext cx="0" cy="384"/>
            </a:xfrm>
            <a:prstGeom prst="line">
              <a:avLst/>
            </a:prstGeom>
            <a:noFill/>
            <a:ln w="25400">
              <a:solidFill>
                <a:schemeClr val="hlink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32811" name="Line 43">
              <a:extLst>
                <a:ext uri="{FF2B5EF4-FFF2-40B4-BE49-F238E27FC236}">
                  <a16:creationId xmlns:a16="http://schemas.microsoft.com/office/drawing/2014/main" id="{64CEAA73-AC13-64CE-A7CD-9E857460D3F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464" y="1200"/>
              <a:ext cx="432" cy="0"/>
            </a:xfrm>
            <a:prstGeom prst="line">
              <a:avLst/>
            </a:prstGeom>
            <a:noFill/>
            <a:ln w="25400">
              <a:solidFill>
                <a:schemeClr val="hlink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sp>
        <p:nvSpPr>
          <p:cNvPr id="32812" name="Rectangle 44">
            <a:extLst>
              <a:ext uri="{FF2B5EF4-FFF2-40B4-BE49-F238E27FC236}">
                <a16:creationId xmlns:a16="http://schemas.microsoft.com/office/drawing/2014/main" id="{400EE4B9-E948-683E-AA45-0616231B1C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83388" y="5334000"/>
            <a:ext cx="1901825" cy="928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d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n</a:t>
            </a:r>
            <a:r>
              <a:rPr lang="en-US" sz="2400">
                <a:latin typeface="Times New Roman" charset="0"/>
                <a:ea typeface="ＭＳ Ｐゴシック" charset="0"/>
              </a:rPr>
              <a:t> = D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n</a:t>
            </a:r>
            <a:r>
              <a:rPr lang="en-US" sz="2400">
                <a:latin typeface="Times New Roman" charset="0"/>
                <a:ea typeface="ＭＳ Ｐゴシック" charset="0"/>
              </a:rPr>
              <a:t>/D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n-1</a:t>
            </a:r>
            <a:endParaRPr lang="en-US" sz="2400">
              <a:latin typeface="Times New Roman" charset="0"/>
              <a:ea typeface="ＭＳ Ｐゴシック" charset="0"/>
            </a:endParaRPr>
          </a:p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l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n</a:t>
            </a:r>
            <a:r>
              <a:rPr lang="en-US" sz="2400">
                <a:latin typeface="Times New Roman" charset="0"/>
                <a:ea typeface="ＭＳ Ｐゴシック" charset="0"/>
              </a:rPr>
              <a:t>  = c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n</a:t>
            </a:r>
            <a:r>
              <a:rPr lang="en-US" sz="2400">
                <a:latin typeface="Times New Roman" charset="0"/>
                <a:ea typeface="ＭＳ Ｐゴシック" charset="0"/>
              </a:rPr>
              <a:t>/d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n</a:t>
            </a:r>
            <a:r>
              <a:rPr lang="en-US" sz="2400">
                <a:latin typeface="Times New Roman" charset="0"/>
                <a:ea typeface="ＭＳ Ｐゴシック" charset="0"/>
              </a:rPr>
              <a:t> </a:t>
            </a:r>
          </a:p>
        </p:txBody>
      </p:sp>
      <p:sp>
        <p:nvSpPr>
          <p:cNvPr id="32813" name="Text Box 45">
            <a:extLst>
              <a:ext uri="{FF2B5EF4-FFF2-40B4-BE49-F238E27FC236}">
                <a16:creationId xmlns:a16="http://schemas.microsoft.com/office/drawing/2014/main" id="{C3445831-8A6A-3C24-9E4F-5B7B1357B9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5049838"/>
            <a:ext cx="5602288" cy="18081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 dirty="0">
                <a:latin typeface="Times New Roman" charset="0"/>
                <a:ea typeface="ＭＳ Ｐゴシック" charset="0"/>
              </a:rPr>
              <a:t>                                   	1                d</a:t>
            </a:r>
            <a:r>
              <a:rPr lang="en-US" sz="2400" baseline="-25000" dirty="0">
                <a:latin typeface="Times New Roman" charset="0"/>
                <a:ea typeface="ＭＳ Ｐゴシック" charset="0"/>
              </a:rPr>
              <a:t>1</a:t>
            </a:r>
            <a:r>
              <a:rPr lang="en-US" sz="2400" dirty="0">
                <a:latin typeface="Times New Roman" charset="0"/>
                <a:ea typeface="ＭＳ Ｐゴシック" charset="0"/>
              </a:rPr>
              <a:t>   b</a:t>
            </a:r>
            <a:r>
              <a:rPr lang="en-US" sz="2400" baseline="-25000" dirty="0">
                <a:latin typeface="Times New Roman" charset="0"/>
                <a:ea typeface="ＭＳ Ｐゴシック" charset="0"/>
              </a:rPr>
              <a:t>1</a:t>
            </a:r>
            <a:endParaRPr lang="en-US" sz="2400" dirty="0">
              <a:latin typeface="Times New Roman" charset="0"/>
              <a:ea typeface="ＭＳ Ｐゴシック" charset="0"/>
            </a:endParaRPr>
          </a:p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 dirty="0">
                <a:latin typeface="Times New Roman" charset="0"/>
                <a:ea typeface="ＭＳ Ｐゴシック" charset="0"/>
              </a:rPr>
              <a:t> 			l</a:t>
            </a:r>
            <a:r>
              <a:rPr lang="en-US" sz="2400" baseline="-25000" dirty="0">
                <a:latin typeface="Times New Roman" charset="0"/>
                <a:ea typeface="ＭＳ Ｐゴシック" charset="0"/>
              </a:rPr>
              <a:t>1</a:t>
            </a:r>
            <a:r>
              <a:rPr lang="en-US" sz="2400" dirty="0">
                <a:latin typeface="Times New Roman" charset="0"/>
                <a:ea typeface="ＭＳ Ｐゴシック" charset="0"/>
              </a:rPr>
              <a:t>   1                 d</a:t>
            </a:r>
            <a:r>
              <a:rPr lang="en-US" sz="2400" baseline="-25000" dirty="0">
                <a:latin typeface="Times New Roman" charset="0"/>
                <a:ea typeface="ＭＳ Ｐゴシック" charset="0"/>
              </a:rPr>
              <a:t>2</a:t>
            </a:r>
            <a:r>
              <a:rPr lang="en-US" sz="2400" dirty="0">
                <a:latin typeface="Times New Roman" charset="0"/>
                <a:ea typeface="ＭＳ Ｐゴシック" charset="0"/>
              </a:rPr>
              <a:t>    b</a:t>
            </a:r>
            <a:r>
              <a:rPr lang="en-US" sz="2400" baseline="-25000" dirty="0">
                <a:latin typeface="Times New Roman" charset="0"/>
                <a:ea typeface="ＭＳ Ｐゴシック" charset="0"/>
              </a:rPr>
              <a:t>2</a:t>
            </a:r>
            <a:endParaRPr lang="en-US" sz="2400" dirty="0">
              <a:latin typeface="Times New Roman" charset="0"/>
              <a:ea typeface="ＭＳ Ｐゴシック" charset="0"/>
            </a:endParaRPr>
          </a:p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 dirty="0">
                <a:latin typeface="Times New Roman" charset="0"/>
                <a:ea typeface="ＭＳ Ｐゴシック" charset="0"/>
              </a:rPr>
              <a:t> 		                  l</a:t>
            </a:r>
            <a:r>
              <a:rPr lang="en-US" sz="2400" baseline="-25000" dirty="0">
                <a:latin typeface="Times New Roman" charset="0"/>
                <a:ea typeface="ＭＳ Ｐゴシック" charset="0"/>
              </a:rPr>
              <a:t>2</a:t>
            </a:r>
            <a:r>
              <a:rPr lang="en-US" sz="2400" dirty="0">
                <a:latin typeface="Times New Roman" charset="0"/>
                <a:ea typeface="ＭＳ Ｐゴシック" charset="0"/>
              </a:rPr>
              <a:t>   1                  d</a:t>
            </a:r>
            <a:r>
              <a:rPr lang="en-US" sz="2400" baseline="-25000" dirty="0">
                <a:latin typeface="Times New Roman" charset="0"/>
                <a:ea typeface="ＭＳ Ｐゴシック" charset="0"/>
              </a:rPr>
              <a:t>3</a:t>
            </a:r>
            <a:endParaRPr lang="en-US" sz="2400" dirty="0">
              <a:latin typeface="Times New Roman" charset="0"/>
              <a:ea typeface="ＭＳ Ｐゴシック" charset="0"/>
            </a:endParaRPr>
          </a:p>
          <a:p>
            <a:pPr>
              <a:defRPr/>
            </a:pPr>
            <a:endParaRPr lang="en-US" sz="2400" dirty="0">
              <a:latin typeface="Times New Roman" charset="0"/>
              <a:ea typeface="ＭＳ Ｐゴシック" charset="0"/>
            </a:endParaRPr>
          </a:p>
        </p:txBody>
      </p:sp>
      <p:sp>
        <p:nvSpPr>
          <p:cNvPr id="32814" name="Text Box 46">
            <a:extLst>
              <a:ext uri="{FF2B5EF4-FFF2-40B4-BE49-F238E27FC236}">
                <a16:creationId xmlns:a16="http://schemas.microsoft.com/office/drawing/2014/main" id="{1553742C-899A-84B1-1856-6404CA38F7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05400" y="2438400"/>
            <a:ext cx="3414713" cy="420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D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n</a:t>
            </a:r>
            <a:r>
              <a:rPr lang="en-US" sz="2400">
                <a:latin typeface="Times New Roman" charset="0"/>
                <a:ea typeface="ＭＳ Ｐゴシック" charset="0"/>
              </a:rPr>
              <a:t> = a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n</a:t>
            </a:r>
            <a:r>
              <a:rPr lang="en-US" sz="2400">
                <a:latin typeface="Times New Roman" charset="0"/>
                <a:ea typeface="ＭＳ Ｐゴシック" charset="0"/>
              </a:rPr>
              <a:t> D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n-1</a:t>
            </a:r>
            <a:r>
              <a:rPr lang="en-US" sz="2400">
                <a:latin typeface="Times New Roman" charset="0"/>
                <a:ea typeface="ＭＳ Ｐゴシック" charset="0"/>
              </a:rPr>
              <a:t> - b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n-1 </a:t>
            </a:r>
            <a:r>
              <a:rPr lang="en-US" sz="2400">
                <a:latin typeface="Times New Roman" charset="0"/>
                <a:ea typeface="ＭＳ Ｐゴシック" charset="0"/>
              </a:rPr>
              <a:t>c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n-1</a:t>
            </a:r>
            <a:r>
              <a:rPr lang="en-US" sz="2400">
                <a:latin typeface="Times New Roman" charset="0"/>
                <a:ea typeface="ＭＳ Ｐゴシック" charset="0"/>
              </a:rPr>
              <a:t> D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n-2</a:t>
            </a:r>
            <a:r>
              <a:rPr lang="en-US" sz="2400">
                <a:latin typeface="Times New Roman" charset="0"/>
                <a:ea typeface="ＭＳ Ｐゴシック" charset="0"/>
              </a:rPr>
              <a:t> </a:t>
            </a:r>
          </a:p>
        </p:txBody>
      </p:sp>
      <p:sp>
        <p:nvSpPr>
          <p:cNvPr id="32815" name="Text Box 47">
            <a:extLst>
              <a:ext uri="{FF2B5EF4-FFF2-40B4-BE49-F238E27FC236}">
                <a16:creationId xmlns:a16="http://schemas.microsoft.com/office/drawing/2014/main" id="{C920B45A-EEBB-3A96-9B93-A5D0D6B190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-457200"/>
            <a:ext cx="3886200" cy="3902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5000">
                <a:latin typeface="Times New Roman" charset="0"/>
                <a:ea typeface="ＭＳ Ｐゴシック" charset="0"/>
              </a:rPr>
              <a:t>[  ]</a:t>
            </a:r>
          </a:p>
        </p:txBody>
      </p:sp>
      <p:sp>
        <p:nvSpPr>
          <p:cNvPr id="32816" name="Text Box 48">
            <a:extLst>
              <a:ext uri="{FF2B5EF4-FFF2-40B4-BE49-F238E27FC236}">
                <a16:creationId xmlns:a16="http://schemas.microsoft.com/office/drawing/2014/main" id="{D2F03B09-AD91-D9ED-1B75-C5CBFBD0C2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62475" y="533400"/>
            <a:ext cx="4530725" cy="822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Determinants  (D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0</a:t>
            </a:r>
            <a:r>
              <a:rPr lang="en-US" sz="2400">
                <a:latin typeface="Times New Roman" charset="0"/>
                <a:ea typeface="ＭＳ Ｐゴシック" charset="0"/>
              </a:rPr>
              <a:t>=1, D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1</a:t>
            </a:r>
            <a:r>
              <a:rPr lang="en-US" sz="2400">
                <a:latin typeface="Times New Roman" charset="0"/>
                <a:ea typeface="ＭＳ Ｐゴシック" charset="0"/>
              </a:rPr>
              <a:t>=a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1</a:t>
            </a:r>
            <a:r>
              <a:rPr lang="en-US" sz="2400">
                <a:latin typeface="Times New Roman" charset="0"/>
                <a:ea typeface="ＭＳ Ｐゴシック" charset="0"/>
              </a:rPr>
              <a:t>)</a:t>
            </a:r>
          </a:p>
          <a:p>
            <a:pPr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(D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k</a:t>
            </a:r>
            <a:r>
              <a:rPr lang="en-US" sz="2400">
                <a:latin typeface="Times New Roman" charset="0"/>
                <a:ea typeface="ＭＳ Ｐゴシック" charset="0"/>
              </a:rPr>
              <a:t> is the det of the kxk upper left):</a:t>
            </a:r>
          </a:p>
        </p:txBody>
      </p:sp>
      <p:sp>
        <p:nvSpPr>
          <p:cNvPr id="32817" name="Text Box 49">
            <a:extLst>
              <a:ext uri="{FF2B5EF4-FFF2-40B4-BE49-F238E27FC236}">
                <a16:creationId xmlns:a16="http://schemas.microsoft.com/office/drawing/2014/main" id="{54473228-40B7-ADEB-C008-7B5E894C73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1600" y="3581400"/>
            <a:ext cx="3902075" cy="9318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D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n</a:t>
            </a:r>
            <a:r>
              <a:rPr lang="en-US" sz="2400">
                <a:latin typeface="Times New Roman" charset="0"/>
                <a:ea typeface="ＭＳ Ｐゴシック" charset="0"/>
              </a:rPr>
              <a:t>	    a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n</a:t>
            </a:r>
            <a:r>
              <a:rPr lang="en-US" sz="2400">
                <a:latin typeface="Times New Roman" charset="0"/>
                <a:ea typeface="ＭＳ Ｐゴシック" charset="0"/>
              </a:rPr>
              <a:t>     -b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n-1</a:t>
            </a:r>
            <a:r>
              <a:rPr lang="en-US" sz="2400">
                <a:latin typeface="Times New Roman" charset="0"/>
                <a:ea typeface="ＭＳ Ｐゴシック" charset="0"/>
              </a:rPr>
              <a:t>c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n-1</a:t>
            </a:r>
            <a:r>
              <a:rPr lang="en-US" sz="2400">
                <a:latin typeface="Times New Roman" charset="0"/>
                <a:ea typeface="ＭＳ Ｐゴシック" charset="0"/>
              </a:rPr>
              <a:t>      D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n-1</a:t>
            </a:r>
            <a:endParaRPr lang="en-US" sz="2400">
              <a:latin typeface="Times New Roman" charset="0"/>
              <a:ea typeface="ＭＳ Ｐゴシック" charset="0"/>
            </a:endParaRPr>
          </a:p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D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n-1</a:t>
            </a:r>
            <a:r>
              <a:rPr lang="en-US" sz="2400">
                <a:latin typeface="Times New Roman" charset="0"/>
                <a:ea typeface="ＭＳ Ｐゴシック" charset="0"/>
              </a:rPr>
              <a:t> 	    1	     0	      D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n-2</a:t>
            </a:r>
          </a:p>
        </p:txBody>
      </p:sp>
      <p:sp>
        <p:nvSpPr>
          <p:cNvPr id="32818" name="Text Box 50">
            <a:extLst>
              <a:ext uri="{FF2B5EF4-FFF2-40B4-BE49-F238E27FC236}">
                <a16:creationId xmlns:a16="http://schemas.microsoft.com/office/drawing/2014/main" id="{FF97CE59-9984-CB99-AD34-CF309C96D5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24400" y="2971800"/>
            <a:ext cx="3963988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Compute D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n</a:t>
            </a:r>
            <a:r>
              <a:rPr lang="en-US" sz="2400">
                <a:latin typeface="Times New Roman" charset="0"/>
                <a:ea typeface="ＭＳ Ｐゴシック" charset="0"/>
              </a:rPr>
              <a:t> by matmul_prefix</a:t>
            </a:r>
          </a:p>
        </p:txBody>
      </p:sp>
      <p:sp>
        <p:nvSpPr>
          <p:cNvPr id="32819" name="Text Box 51">
            <a:extLst>
              <a:ext uri="{FF2B5EF4-FFF2-40B4-BE49-F238E27FC236}">
                <a16:creationId xmlns:a16="http://schemas.microsoft.com/office/drawing/2014/main" id="{A5FD5AD1-AE99-325A-15E0-2B89E92EEC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159" y="4722813"/>
            <a:ext cx="2292350" cy="8318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 dirty="0">
                <a:latin typeface="Times New Roman" charset="0"/>
                <a:ea typeface="ＭＳ Ｐゴシック" charset="0"/>
              </a:rPr>
              <a:t>3 </a:t>
            </a:r>
            <a:r>
              <a:rPr lang="en-US" sz="2400" dirty="0" err="1">
                <a:latin typeface="Times New Roman" charset="0"/>
                <a:ea typeface="ＭＳ Ｐゴシック" charset="0"/>
              </a:rPr>
              <a:t>embarassing</a:t>
            </a:r>
            <a:endParaRPr lang="en-US" sz="2400" dirty="0">
              <a:latin typeface="Times New Roman" charset="0"/>
              <a:ea typeface="ＭＳ Ｐゴシック" charset="0"/>
            </a:endParaRPr>
          </a:p>
          <a:p>
            <a:pPr>
              <a:defRPr/>
            </a:pPr>
            <a:r>
              <a:rPr lang="en-US" sz="2400" dirty="0">
                <a:latin typeface="Times New Roman" charset="0"/>
                <a:ea typeface="ＭＳ Ｐゴシック" charset="0"/>
              </a:rPr>
              <a:t>Parallels + prefix</a:t>
            </a:r>
          </a:p>
        </p:txBody>
      </p:sp>
      <p:grpSp>
        <p:nvGrpSpPr>
          <p:cNvPr id="21551" name="Group 52">
            <a:extLst>
              <a:ext uri="{FF2B5EF4-FFF2-40B4-BE49-F238E27FC236}">
                <a16:creationId xmlns:a16="http://schemas.microsoft.com/office/drawing/2014/main" id="{76CC1E41-0140-71F2-D955-FA075F807871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4114800" y="3581400"/>
            <a:ext cx="228600" cy="914400"/>
            <a:chOff x="1344" y="1344"/>
            <a:chExt cx="144" cy="576"/>
          </a:xfrm>
        </p:grpSpPr>
        <p:sp>
          <p:nvSpPr>
            <p:cNvPr id="32821" name="Line 53">
              <a:extLst>
                <a:ext uri="{FF2B5EF4-FFF2-40B4-BE49-F238E27FC236}">
                  <a16:creationId xmlns:a16="http://schemas.microsoft.com/office/drawing/2014/main" id="{0793C1BB-F33F-40BA-B443-DCD6E0F7493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344" y="1344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21598" name="Group 54">
              <a:extLst>
                <a:ext uri="{FF2B5EF4-FFF2-40B4-BE49-F238E27FC236}">
                  <a16:creationId xmlns:a16="http://schemas.microsoft.com/office/drawing/2014/main" id="{925DBE52-788B-79B5-5928-37B5DE0EBAF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44" y="1344"/>
              <a:ext cx="144" cy="576"/>
              <a:chOff x="1344" y="1344"/>
              <a:chExt cx="144" cy="576"/>
            </a:xfrm>
          </p:grpSpPr>
          <p:sp>
            <p:nvSpPr>
              <p:cNvPr id="32823" name="Line 55">
                <a:extLst>
                  <a:ext uri="{FF2B5EF4-FFF2-40B4-BE49-F238E27FC236}">
                    <a16:creationId xmlns:a16="http://schemas.microsoft.com/office/drawing/2014/main" id="{3458969F-DC05-5A54-F8E4-1F569C98CDF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344" y="1344"/>
                <a:ext cx="14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2824" name="Line 56">
                <a:extLst>
                  <a:ext uri="{FF2B5EF4-FFF2-40B4-BE49-F238E27FC236}">
                    <a16:creationId xmlns:a16="http://schemas.microsoft.com/office/drawing/2014/main" id="{C68E7F3D-E74A-7DA4-82F3-79E3C289E58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344" y="1920"/>
                <a:ext cx="14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</p:grpSp>
      </p:grpSp>
      <p:grpSp>
        <p:nvGrpSpPr>
          <p:cNvPr id="21552" name="Group 57">
            <a:extLst>
              <a:ext uri="{FF2B5EF4-FFF2-40B4-BE49-F238E27FC236}">
                <a16:creationId xmlns:a16="http://schemas.microsoft.com/office/drawing/2014/main" id="{86CF8E67-9BCF-580D-FC2B-C8BB00A08A03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5181600" y="3581400"/>
            <a:ext cx="228600" cy="914400"/>
            <a:chOff x="1344" y="1344"/>
            <a:chExt cx="144" cy="576"/>
          </a:xfrm>
        </p:grpSpPr>
        <p:sp>
          <p:nvSpPr>
            <p:cNvPr id="32826" name="Line 58">
              <a:extLst>
                <a:ext uri="{FF2B5EF4-FFF2-40B4-BE49-F238E27FC236}">
                  <a16:creationId xmlns:a16="http://schemas.microsoft.com/office/drawing/2014/main" id="{00442417-F9BB-EB68-8E48-6B5EB20EB60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344" y="1344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21594" name="Group 59">
              <a:extLst>
                <a:ext uri="{FF2B5EF4-FFF2-40B4-BE49-F238E27FC236}">
                  <a16:creationId xmlns:a16="http://schemas.microsoft.com/office/drawing/2014/main" id="{DF3D04FE-45DF-8EC5-160E-F7AE2836456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44" y="1344"/>
              <a:ext cx="144" cy="576"/>
              <a:chOff x="1344" y="1344"/>
              <a:chExt cx="144" cy="576"/>
            </a:xfrm>
          </p:grpSpPr>
          <p:sp>
            <p:nvSpPr>
              <p:cNvPr id="32828" name="Line 60">
                <a:extLst>
                  <a:ext uri="{FF2B5EF4-FFF2-40B4-BE49-F238E27FC236}">
                    <a16:creationId xmlns:a16="http://schemas.microsoft.com/office/drawing/2014/main" id="{688BEBAB-C6CD-580B-E4A1-F539140B38B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344" y="1344"/>
                <a:ext cx="14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2829" name="Line 61">
                <a:extLst>
                  <a:ext uri="{FF2B5EF4-FFF2-40B4-BE49-F238E27FC236}">
                    <a16:creationId xmlns:a16="http://schemas.microsoft.com/office/drawing/2014/main" id="{87322549-111D-2466-A034-86D730BB00A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344" y="1920"/>
                <a:ext cx="14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</p:grpSp>
      </p:grpSp>
      <p:grpSp>
        <p:nvGrpSpPr>
          <p:cNvPr id="21553" name="Group 62">
            <a:extLst>
              <a:ext uri="{FF2B5EF4-FFF2-40B4-BE49-F238E27FC236}">
                <a16:creationId xmlns:a16="http://schemas.microsoft.com/office/drawing/2014/main" id="{E1D227C7-7E05-EDA3-56AE-ECEA6D82B42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1905000" y="3657600"/>
            <a:ext cx="228600" cy="914400"/>
            <a:chOff x="1344" y="1344"/>
            <a:chExt cx="144" cy="576"/>
          </a:xfrm>
        </p:grpSpPr>
        <p:sp>
          <p:nvSpPr>
            <p:cNvPr id="32831" name="Line 63">
              <a:extLst>
                <a:ext uri="{FF2B5EF4-FFF2-40B4-BE49-F238E27FC236}">
                  <a16:creationId xmlns:a16="http://schemas.microsoft.com/office/drawing/2014/main" id="{6D0FAAE0-0ABB-D728-4E8D-546F02CA49E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344" y="1344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21590" name="Group 64">
              <a:extLst>
                <a:ext uri="{FF2B5EF4-FFF2-40B4-BE49-F238E27FC236}">
                  <a16:creationId xmlns:a16="http://schemas.microsoft.com/office/drawing/2014/main" id="{8179FC0F-FE58-4ADA-CA1D-DD208CCEDCA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44" y="1344"/>
              <a:ext cx="144" cy="576"/>
              <a:chOff x="1344" y="1344"/>
              <a:chExt cx="144" cy="576"/>
            </a:xfrm>
          </p:grpSpPr>
          <p:sp>
            <p:nvSpPr>
              <p:cNvPr id="32833" name="Line 65">
                <a:extLst>
                  <a:ext uri="{FF2B5EF4-FFF2-40B4-BE49-F238E27FC236}">
                    <a16:creationId xmlns:a16="http://schemas.microsoft.com/office/drawing/2014/main" id="{04B0F2FE-851F-EAEE-84B2-38D0324833B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344" y="1344"/>
                <a:ext cx="14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2834" name="Line 66">
                <a:extLst>
                  <a:ext uri="{FF2B5EF4-FFF2-40B4-BE49-F238E27FC236}">
                    <a16:creationId xmlns:a16="http://schemas.microsoft.com/office/drawing/2014/main" id="{858CFDDE-8F56-98EE-EDA1-07CB0C27338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344" y="1920"/>
                <a:ext cx="14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</p:grpSp>
      </p:grpSp>
      <p:grpSp>
        <p:nvGrpSpPr>
          <p:cNvPr id="21554" name="Group 67">
            <a:extLst>
              <a:ext uri="{FF2B5EF4-FFF2-40B4-BE49-F238E27FC236}">
                <a16:creationId xmlns:a16="http://schemas.microsoft.com/office/drawing/2014/main" id="{C67B61B6-360C-DC25-7B4B-89E2B2121889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4267200" y="5029200"/>
            <a:ext cx="228600" cy="1371600"/>
            <a:chOff x="1344" y="1344"/>
            <a:chExt cx="144" cy="576"/>
          </a:xfrm>
        </p:grpSpPr>
        <p:sp>
          <p:nvSpPr>
            <p:cNvPr id="32836" name="Line 68">
              <a:extLst>
                <a:ext uri="{FF2B5EF4-FFF2-40B4-BE49-F238E27FC236}">
                  <a16:creationId xmlns:a16="http://schemas.microsoft.com/office/drawing/2014/main" id="{82FC1A1A-5565-6D34-3008-A9232380FCE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344" y="1344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21586" name="Group 69">
              <a:extLst>
                <a:ext uri="{FF2B5EF4-FFF2-40B4-BE49-F238E27FC236}">
                  <a16:creationId xmlns:a16="http://schemas.microsoft.com/office/drawing/2014/main" id="{6CC279DD-D888-5109-A870-5FEE36255F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44" y="1344"/>
              <a:ext cx="144" cy="576"/>
              <a:chOff x="1344" y="1344"/>
              <a:chExt cx="144" cy="576"/>
            </a:xfrm>
          </p:grpSpPr>
          <p:sp>
            <p:nvSpPr>
              <p:cNvPr id="32838" name="Line 70">
                <a:extLst>
                  <a:ext uri="{FF2B5EF4-FFF2-40B4-BE49-F238E27FC236}">
                    <a16:creationId xmlns:a16="http://schemas.microsoft.com/office/drawing/2014/main" id="{F34AC63B-5AA4-299C-8D49-ED9A9893826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344" y="1344"/>
                <a:ext cx="14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2839" name="Line 71">
                <a:extLst>
                  <a:ext uri="{FF2B5EF4-FFF2-40B4-BE49-F238E27FC236}">
                    <a16:creationId xmlns:a16="http://schemas.microsoft.com/office/drawing/2014/main" id="{D10AE8CA-14E4-6FB6-AE9B-47FBA985F56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344" y="1920"/>
                <a:ext cx="14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</p:grpSp>
      </p:grpSp>
      <p:grpSp>
        <p:nvGrpSpPr>
          <p:cNvPr id="21555" name="Group 72">
            <a:extLst>
              <a:ext uri="{FF2B5EF4-FFF2-40B4-BE49-F238E27FC236}">
                <a16:creationId xmlns:a16="http://schemas.microsoft.com/office/drawing/2014/main" id="{678814D9-7A77-2BD3-8938-3DFC0A3451BE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5867400" y="5029200"/>
            <a:ext cx="381000" cy="1295400"/>
            <a:chOff x="1344" y="1344"/>
            <a:chExt cx="144" cy="576"/>
          </a:xfrm>
        </p:grpSpPr>
        <p:sp>
          <p:nvSpPr>
            <p:cNvPr id="32841" name="Line 73">
              <a:extLst>
                <a:ext uri="{FF2B5EF4-FFF2-40B4-BE49-F238E27FC236}">
                  <a16:creationId xmlns:a16="http://schemas.microsoft.com/office/drawing/2014/main" id="{E0D29EEE-DB9F-D7CD-B22F-E202B4B2CF9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344" y="1344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21582" name="Group 74">
              <a:extLst>
                <a:ext uri="{FF2B5EF4-FFF2-40B4-BE49-F238E27FC236}">
                  <a16:creationId xmlns:a16="http://schemas.microsoft.com/office/drawing/2014/main" id="{5BA812C1-69BF-522C-3DC1-E7DD911EBBE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44" y="1344"/>
              <a:ext cx="144" cy="576"/>
              <a:chOff x="1344" y="1344"/>
              <a:chExt cx="144" cy="576"/>
            </a:xfrm>
          </p:grpSpPr>
          <p:sp>
            <p:nvSpPr>
              <p:cNvPr id="32843" name="Line 75">
                <a:extLst>
                  <a:ext uri="{FF2B5EF4-FFF2-40B4-BE49-F238E27FC236}">
                    <a16:creationId xmlns:a16="http://schemas.microsoft.com/office/drawing/2014/main" id="{0CF4459B-3F81-3A03-7BA8-8343A359D11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344" y="1344"/>
                <a:ext cx="14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2844" name="Line 76">
                <a:extLst>
                  <a:ext uri="{FF2B5EF4-FFF2-40B4-BE49-F238E27FC236}">
                    <a16:creationId xmlns:a16="http://schemas.microsoft.com/office/drawing/2014/main" id="{06293807-F862-3D38-0DA0-637C1DB89E3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344" y="1920"/>
                <a:ext cx="14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</p:grpSp>
      </p:grpSp>
      <p:grpSp>
        <p:nvGrpSpPr>
          <p:cNvPr id="21556" name="Group 77">
            <a:extLst>
              <a:ext uri="{FF2B5EF4-FFF2-40B4-BE49-F238E27FC236}">
                <a16:creationId xmlns:a16="http://schemas.microsoft.com/office/drawing/2014/main" id="{C3BBFB9A-221D-6B3F-24B4-B9EF91F45ACD}"/>
              </a:ext>
            </a:extLst>
          </p:cNvPr>
          <p:cNvGrpSpPr>
            <a:grpSpLocks/>
          </p:cNvGrpSpPr>
          <p:nvPr/>
        </p:nvGrpSpPr>
        <p:grpSpPr bwMode="auto">
          <a:xfrm>
            <a:off x="1219200" y="3657600"/>
            <a:ext cx="228600" cy="914400"/>
            <a:chOff x="1344" y="1344"/>
            <a:chExt cx="144" cy="576"/>
          </a:xfrm>
        </p:grpSpPr>
        <p:sp>
          <p:nvSpPr>
            <p:cNvPr id="32846" name="Line 78">
              <a:extLst>
                <a:ext uri="{FF2B5EF4-FFF2-40B4-BE49-F238E27FC236}">
                  <a16:creationId xmlns:a16="http://schemas.microsoft.com/office/drawing/2014/main" id="{BA06E6CE-4476-3640-F5DF-0BCA7606524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344" y="1344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21578" name="Group 79">
              <a:extLst>
                <a:ext uri="{FF2B5EF4-FFF2-40B4-BE49-F238E27FC236}">
                  <a16:creationId xmlns:a16="http://schemas.microsoft.com/office/drawing/2014/main" id="{20645A43-D22F-E40D-9993-978D81B4523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44" y="1344"/>
              <a:ext cx="144" cy="576"/>
              <a:chOff x="1344" y="1344"/>
              <a:chExt cx="144" cy="576"/>
            </a:xfrm>
          </p:grpSpPr>
          <p:sp>
            <p:nvSpPr>
              <p:cNvPr id="32848" name="Line 80">
                <a:extLst>
                  <a:ext uri="{FF2B5EF4-FFF2-40B4-BE49-F238E27FC236}">
                    <a16:creationId xmlns:a16="http://schemas.microsoft.com/office/drawing/2014/main" id="{E5C81F6E-1296-4FE4-278A-D6F853529AC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344" y="1344"/>
                <a:ext cx="14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2849" name="Line 81">
                <a:extLst>
                  <a:ext uri="{FF2B5EF4-FFF2-40B4-BE49-F238E27FC236}">
                    <a16:creationId xmlns:a16="http://schemas.microsoft.com/office/drawing/2014/main" id="{9BDA716E-B9E4-4884-0057-5B0567303EE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344" y="1920"/>
                <a:ext cx="14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</p:grpSp>
      </p:grpSp>
      <p:grpSp>
        <p:nvGrpSpPr>
          <p:cNvPr id="21557" name="Group 87">
            <a:extLst>
              <a:ext uri="{FF2B5EF4-FFF2-40B4-BE49-F238E27FC236}">
                <a16:creationId xmlns:a16="http://schemas.microsoft.com/office/drawing/2014/main" id="{E5BA5670-92B5-2276-6244-F1CECD99FF6E}"/>
              </a:ext>
            </a:extLst>
          </p:cNvPr>
          <p:cNvGrpSpPr>
            <a:grpSpLocks/>
          </p:cNvGrpSpPr>
          <p:nvPr/>
        </p:nvGrpSpPr>
        <p:grpSpPr bwMode="auto">
          <a:xfrm>
            <a:off x="2514600" y="3657600"/>
            <a:ext cx="228600" cy="914400"/>
            <a:chOff x="1344" y="1344"/>
            <a:chExt cx="144" cy="576"/>
          </a:xfrm>
        </p:grpSpPr>
        <p:sp>
          <p:nvSpPr>
            <p:cNvPr id="32856" name="Line 88">
              <a:extLst>
                <a:ext uri="{FF2B5EF4-FFF2-40B4-BE49-F238E27FC236}">
                  <a16:creationId xmlns:a16="http://schemas.microsoft.com/office/drawing/2014/main" id="{4E10010D-959E-FF0F-C061-173639C0605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344" y="1344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21574" name="Group 89">
              <a:extLst>
                <a:ext uri="{FF2B5EF4-FFF2-40B4-BE49-F238E27FC236}">
                  <a16:creationId xmlns:a16="http://schemas.microsoft.com/office/drawing/2014/main" id="{4D5CC0C6-8927-CF94-FF08-4DB7874E1ED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44" y="1344"/>
              <a:ext cx="144" cy="576"/>
              <a:chOff x="1344" y="1344"/>
              <a:chExt cx="144" cy="576"/>
            </a:xfrm>
          </p:grpSpPr>
          <p:sp>
            <p:nvSpPr>
              <p:cNvPr id="32858" name="Line 90">
                <a:extLst>
                  <a:ext uri="{FF2B5EF4-FFF2-40B4-BE49-F238E27FC236}">
                    <a16:creationId xmlns:a16="http://schemas.microsoft.com/office/drawing/2014/main" id="{D6AD4537-C406-A422-9238-FE6B3C18083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344" y="1344"/>
                <a:ext cx="14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2859" name="Line 91">
                <a:extLst>
                  <a:ext uri="{FF2B5EF4-FFF2-40B4-BE49-F238E27FC236}">
                    <a16:creationId xmlns:a16="http://schemas.microsoft.com/office/drawing/2014/main" id="{2C0F05A3-F906-40C1-FD6A-49F53C649AD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344" y="1920"/>
                <a:ext cx="14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</p:grpSp>
      </p:grpSp>
      <p:grpSp>
        <p:nvGrpSpPr>
          <p:cNvPr id="21558" name="Group 92">
            <a:extLst>
              <a:ext uri="{FF2B5EF4-FFF2-40B4-BE49-F238E27FC236}">
                <a16:creationId xmlns:a16="http://schemas.microsoft.com/office/drawing/2014/main" id="{A3BA8D60-E707-2B99-E021-3042B3598902}"/>
              </a:ext>
            </a:extLst>
          </p:cNvPr>
          <p:cNvGrpSpPr>
            <a:grpSpLocks/>
          </p:cNvGrpSpPr>
          <p:nvPr/>
        </p:nvGrpSpPr>
        <p:grpSpPr bwMode="auto">
          <a:xfrm>
            <a:off x="4495800" y="3581400"/>
            <a:ext cx="228600" cy="914400"/>
            <a:chOff x="1344" y="1344"/>
            <a:chExt cx="144" cy="576"/>
          </a:xfrm>
        </p:grpSpPr>
        <p:sp>
          <p:nvSpPr>
            <p:cNvPr id="32861" name="Line 93">
              <a:extLst>
                <a:ext uri="{FF2B5EF4-FFF2-40B4-BE49-F238E27FC236}">
                  <a16:creationId xmlns:a16="http://schemas.microsoft.com/office/drawing/2014/main" id="{86D30AA0-97D1-E8A5-43BA-FE89D02DA8D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344" y="1344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21570" name="Group 94">
              <a:extLst>
                <a:ext uri="{FF2B5EF4-FFF2-40B4-BE49-F238E27FC236}">
                  <a16:creationId xmlns:a16="http://schemas.microsoft.com/office/drawing/2014/main" id="{D5C4C055-A08F-51BD-41A4-3626DDCFD2F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44" y="1344"/>
              <a:ext cx="144" cy="576"/>
              <a:chOff x="1344" y="1344"/>
              <a:chExt cx="144" cy="576"/>
            </a:xfrm>
          </p:grpSpPr>
          <p:sp>
            <p:nvSpPr>
              <p:cNvPr id="32863" name="Line 95">
                <a:extLst>
                  <a:ext uri="{FF2B5EF4-FFF2-40B4-BE49-F238E27FC236}">
                    <a16:creationId xmlns:a16="http://schemas.microsoft.com/office/drawing/2014/main" id="{3DDFC853-B75F-07D6-2FF0-E06FE7078D7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344" y="1344"/>
                <a:ext cx="14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2864" name="Line 96">
                <a:extLst>
                  <a:ext uri="{FF2B5EF4-FFF2-40B4-BE49-F238E27FC236}">
                    <a16:creationId xmlns:a16="http://schemas.microsoft.com/office/drawing/2014/main" id="{C0551605-3D5B-A25D-9F34-568B5F87C88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344" y="1920"/>
                <a:ext cx="14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</p:grpSp>
      </p:grpSp>
      <p:grpSp>
        <p:nvGrpSpPr>
          <p:cNvPr id="21559" name="Group 97">
            <a:extLst>
              <a:ext uri="{FF2B5EF4-FFF2-40B4-BE49-F238E27FC236}">
                <a16:creationId xmlns:a16="http://schemas.microsoft.com/office/drawing/2014/main" id="{AD045F24-46D7-21BE-C424-DBBAD1BDB014}"/>
              </a:ext>
            </a:extLst>
          </p:cNvPr>
          <p:cNvGrpSpPr>
            <a:grpSpLocks/>
          </p:cNvGrpSpPr>
          <p:nvPr/>
        </p:nvGrpSpPr>
        <p:grpSpPr bwMode="auto">
          <a:xfrm>
            <a:off x="2819400" y="5105400"/>
            <a:ext cx="304800" cy="1295400"/>
            <a:chOff x="1344" y="1344"/>
            <a:chExt cx="144" cy="576"/>
          </a:xfrm>
        </p:grpSpPr>
        <p:sp>
          <p:nvSpPr>
            <p:cNvPr id="32866" name="Line 98">
              <a:extLst>
                <a:ext uri="{FF2B5EF4-FFF2-40B4-BE49-F238E27FC236}">
                  <a16:creationId xmlns:a16="http://schemas.microsoft.com/office/drawing/2014/main" id="{CFD0AD5E-F5E7-78D4-70CA-C944938462B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344" y="1344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21566" name="Group 99">
              <a:extLst>
                <a:ext uri="{FF2B5EF4-FFF2-40B4-BE49-F238E27FC236}">
                  <a16:creationId xmlns:a16="http://schemas.microsoft.com/office/drawing/2014/main" id="{E0D0F3F3-C554-ED87-A7C1-D5D416FEB8D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44" y="1344"/>
              <a:ext cx="144" cy="576"/>
              <a:chOff x="1344" y="1344"/>
              <a:chExt cx="144" cy="576"/>
            </a:xfrm>
          </p:grpSpPr>
          <p:sp>
            <p:nvSpPr>
              <p:cNvPr id="32868" name="Line 100">
                <a:extLst>
                  <a:ext uri="{FF2B5EF4-FFF2-40B4-BE49-F238E27FC236}">
                    <a16:creationId xmlns:a16="http://schemas.microsoft.com/office/drawing/2014/main" id="{32B781F3-5423-6F0A-9F01-45E06C463A0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344" y="1344"/>
                <a:ext cx="14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2869" name="Line 101">
                <a:extLst>
                  <a:ext uri="{FF2B5EF4-FFF2-40B4-BE49-F238E27FC236}">
                    <a16:creationId xmlns:a16="http://schemas.microsoft.com/office/drawing/2014/main" id="{72345EF0-46CD-FA2E-6394-3C017485B35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344" y="1920"/>
                <a:ext cx="14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</p:grpSp>
      </p:grpSp>
      <p:grpSp>
        <p:nvGrpSpPr>
          <p:cNvPr id="21560" name="Group 102">
            <a:extLst>
              <a:ext uri="{FF2B5EF4-FFF2-40B4-BE49-F238E27FC236}">
                <a16:creationId xmlns:a16="http://schemas.microsoft.com/office/drawing/2014/main" id="{5F0D9C0F-EFFD-8946-4198-71311080B4EE}"/>
              </a:ext>
            </a:extLst>
          </p:cNvPr>
          <p:cNvGrpSpPr>
            <a:grpSpLocks/>
          </p:cNvGrpSpPr>
          <p:nvPr/>
        </p:nvGrpSpPr>
        <p:grpSpPr bwMode="auto">
          <a:xfrm>
            <a:off x="4572000" y="5029200"/>
            <a:ext cx="304800" cy="1371600"/>
            <a:chOff x="1344" y="1344"/>
            <a:chExt cx="144" cy="576"/>
          </a:xfrm>
        </p:grpSpPr>
        <p:sp>
          <p:nvSpPr>
            <p:cNvPr id="32871" name="Line 103">
              <a:extLst>
                <a:ext uri="{FF2B5EF4-FFF2-40B4-BE49-F238E27FC236}">
                  <a16:creationId xmlns:a16="http://schemas.microsoft.com/office/drawing/2014/main" id="{7CCE3D23-661B-EF97-9594-91996F935AE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344" y="1344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21562" name="Group 104">
              <a:extLst>
                <a:ext uri="{FF2B5EF4-FFF2-40B4-BE49-F238E27FC236}">
                  <a16:creationId xmlns:a16="http://schemas.microsoft.com/office/drawing/2014/main" id="{5F6BB33F-44D7-E9F0-577B-EC56736D873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44" y="1344"/>
              <a:ext cx="144" cy="576"/>
              <a:chOff x="1344" y="1344"/>
              <a:chExt cx="144" cy="576"/>
            </a:xfrm>
          </p:grpSpPr>
          <p:sp>
            <p:nvSpPr>
              <p:cNvPr id="32873" name="Line 105">
                <a:extLst>
                  <a:ext uri="{FF2B5EF4-FFF2-40B4-BE49-F238E27FC236}">
                    <a16:creationId xmlns:a16="http://schemas.microsoft.com/office/drawing/2014/main" id="{19EF773B-1892-E778-666C-4E87735C771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344" y="1344"/>
                <a:ext cx="14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2874" name="Line 106">
                <a:extLst>
                  <a:ext uri="{FF2B5EF4-FFF2-40B4-BE49-F238E27FC236}">
                    <a16:creationId xmlns:a16="http://schemas.microsoft.com/office/drawing/2014/main" id="{C831331F-5013-9160-2D5C-D88116C411C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344" y="1920"/>
                <a:ext cx="14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</p:grp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>
            <a:extLst>
              <a:ext uri="{FF2B5EF4-FFF2-40B4-BE49-F238E27FC236}">
                <a16:creationId xmlns:a16="http://schemas.microsoft.com/office/drawing/2014/main" id="{18D93AC2-DF52-07A8-B8F2-297107A75A3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0" y="1143000"/>
            <a:ext cx="9067800" cy="4114800"/>
          </a:xfrm>
          <a:extLs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90488" tIns="44450" rIns="90488" bIns="44450"/>
          <a:lstStyle/>
          <a:p>
            <a:pPr marL="285750" indent="-285750" eaLnBrk="1" hangingPunct="1">
              <a:lnSpc>
                <a:spcPct val="90000"/>
              </a:lnSpc>
              <a:buFontTx/>
              <a:buNone/>
              <a:defRPr/>
            </a:pPr>
            <a:r>
              <a:rPr lang="en-US" sz="3600" b="1"/>
              <a:t>The log</a:t>
            </a:r>
            <a:r>
              <a:rPr lang="en-US" sz="3600" b="1" baseline="-25000"/>
              <a:t>2 </a:t>
            </a:r>
            <a:r>
              <a:rPr lang="en-US" sz="3600" b="1"/>
              <a:t>n parallel steps is not the main reason for the usefulness of parallel prefix.  </a:t>
            </a:r>
          </a:p>
          <a:p>
            <a:pPr marL="285750" indent="-285750" eaLnBrk="1" hangingPunct="1">
              <a:lnSpc>
                <a:spcPct val="90000"/>
              </a:lnSpc>
              <a:buFontTx/>
              <a:buNone/>
              <a:defRPr/>
            </a:pPr>
            <a:endParaRPr lang="en-US" sz="3600" b="1"/>
          </a:p>
          <a:p>
            <a:pPr marL="285750" indent="-285750" eaLnBrk="1" hangingPunct="1">
              <a:lnSpc>
                <a:spcPct val="90000"/>
              </a:lnSpc>
              <a:buFontTx/>
              <a:buNone/>
              <a:defRPr/>
            </a:pPr>
            <a:r>
              <a:rPr lang="en-US" sz="3600" b="1"/>
              <a:t>Say n = 1000p </a:t>
            </a:r>
            <a:r>
              <a:rPr lang="en-US" sz="3600"/>
              <a:t>(1000 summands per processor)</a:t>
            </a:r>
          </a:p>
          <a:p>
            <a:pPr marL="285750" indent="-285750" eaLnBrk="1" hangingPunct="1">
              <a:lnSpc>
                <a:spcPct val="90000"/>
              </a:lnSpc>
              <a:buFontTx/>
              <a:buNone/>
              <a:defRPr/>
            </a:pPr>
            <a:r>
              <a:rPr lang="en-US" sz="2800" b="1"/>
              <a:t>Time = (2000 adds) + (log</a:t>
            </a:r>
            <a:r>
              <a:rPr lang="en-US" sz="2800" b="1" baseline="-25000"/>
              <a:t>2</a:t>
            </a:r>
            <a:r>
              <a:rPr lang="en-US" sz="2800" b="1"/>
              <a:t>P message passings)</a:t>
            </a:r>
          </a:p>
          <a:p>
            <a:pPr marL="285750" indent="-285750" eaLnBrk="1" hangingPunct="1">
              <a:lnSpc>
                <a:spcPct val="90000"/>
              </a:lnSpc>
              <a:buFontTx/>
              <a:buNone/>
              <a:defRPr/>
            </a:pPr>
            <a:endParaRPr lang="en-US" sz="2800" b="1"/>
          </a:p>
          <a:p>
            <a:pPr marL="285750" indent="-285750" eaLnBrk="1" hangingPunct="1">
              <a:lnSpc>
                <a:spcPct val="90000"/>
              </a:lnSpc>
              <a:buFontTx/>
              <a:buNone/>
              <a:defRPr/>
            </a:pPr>
            <a:r>
              <a:rPr lang="en-US" sz="3600" b="1"/>
              <a:t>     fast &amp; embarassingly parallel</a:t>
            </a:r>
          </a:p>
          <a:p>
            <a:pPr marL="285750" indent="-285750" eaLnBrk="1" hangingPunct="1">
              <a:lnSpc>
                <a:spcPct val="90000"/>
              </a:lnSpc>
              <a:buFontTx/>
              <a:buNone/>
              <a:defRPr/>
            </a:pPr>
            <a:r>
              <a:rPr lang="en-US" sz="3600" b="1"/>
              <a:t> </a:t>
            </a:r>
            <a:r>
              <a:rPr lang="en-US" sz="3600"/>
              <a:t>(2000 local adds are serial for each processor of course)</a:t>
            </a:r>
          </a:p>
        </p:txBody>
      </p:sp>
      <p:sp>
        <p:nvSpPr>
          <p:cNvPr id="33795" name="Rectangle 3">
            <a:extLst>
              <a:ext uri="{FF2B5EF4-FFF2-40B4-BE49-F238E27FC236}">
                <a16:creationId xmlns:a16="http://schemas.microsoft.com/office/drawing/2014/main" id="{D0ECF3A6-4977-075D-004A-966EF1C63AF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14400" y="0"/>
            <a:ext cx="7162800" cy="1143000"/>
          </a:xfrm>
          <a:extLs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90488" tIns="44450" rIns="90488" bIns="44450"/>
          <a:lstStyle/>
          <a:p>
            <a:pPr eaLnBrk="1" hangingPunct="1"/>
            <a:r>
              <a:rPr lang="en-US" altLang="en-US" sz="5400">
                <a:solidFill>
                  <a:schemeClr val="accent2"/>
                </a:solidFill>
              </a:rPr>
              <a:t>The </a:t>
            </a:r>
            <a:r>
              <a:rPr lang="ja-JP" altLang="en-US" sz="5400">
                <a:solidFill>
                  <a:schemeClr val="accent2"/>
                </a:solidFill>
              </a:rPr>
              <a:t>“</a:t>
            </a:r>
            <a:r>
              <a:rPr lang="en-US" altLang="ja-JP" sz="5400">
                <a:solidFill>
                  <a:schemeClr val="accent2"/>
                </a:solidFill>
              </a:rPr>
              <a:t>Myth</a:t>
            </a:r>
            <a:r>
              <a:rPr lang="ja-JP" altLang="en-US" sz="5400">
                <a:solidFill>
                  <a:schemeClr val="accent2"/>
                </a:solidFill>
              </a:rPr>
              <a:t>”</a:t>
            </a:r>
            <a:r>
              <a:rPr lang="en-US" altLang="ja-JP" sz="5400">
                <a:solidFill>
                  <a:schemeClr val="accent2"/>
                </a:solidFill>
              </a:rPr>
              <a:t> of log n</a:t>
            </a:r>
            <a:endParaRPr lang="en-US" altLang="en-US" sz="5400">
              <a:solidFill>
                <a:schemeClr val="accent2"/>
              </a:solidFill>
            </a:endParaRPr>
          </a:p>
        </p:txBody>
      </p:sp>
      <p:sp>
        <p:nvSpPr>
          <p:cNvPr id="33796" name="Line 4">
            <a:extLst>
              <a:ext uri="{FF2B5EF4-FFF2-40B4-BE49-F238E27FC236}">
                <a16:creationId xmlns:a16="http://schemas.microsoft.com/office/drawing/2014/main" id="{5BC12C68-5740-08E8-29C1-0A6419CAF4F7}"/>
              </a:ext>
            </a:extLst>
          </p:cNvPr>
          <p:cNvSpPr>
            <a:spLocks noChangeShapeType="1"/>
          </p:cNvSpPr>
          <p:nvPr/>
        </p:nvSpPr>
        <p:spPr bwMode="auto">
          <a:xfrm>
            <a:off x="2209800" y="3886200"/>
            <a:ext cx="0" cy="60960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</p:spTree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Line 2">
            <a:extLst>
              <a:ext uri="{FF2B5EF4-FFF2-40B4-BE49-F238E27FC236}">
                <a16:creationId xmlns:a16="http://schemas.microsoft.com/office/drawing/2014/main" id="{7DB65DE5-1D83-DC3B-7886-9C1CEBB826D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04800" y="152400"/>
            <a:ext cx="4191000" cy="5181600"/>
          </a:xfrm>
          <a:prstGeom prst="line">
            <a:avLst/>
          </a:prstGeom>
          <a:noFill/>
          <a:ln w="508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4819" name="Line 3">
            <a:extLst>
              <a:ext uri="{FF2B5EF4-FFF2-40B4-BE49-F238E27FC236}">
                <a16:creationId xmlns:a16="http://schemas.microsoft.com/office/drawing/2014/main" id="{57F93999-8BFC-8556-659D-077602DE4914}"/>
              </a:ext>
            </a:extLst>
          </p:cNvPr>
          <p:cNvSpPr>
            <a:spLocks noChangeShapeType="1"/>
          </p:cNvSpPr>
          <p:nvPr/>
        </p:nvSpPr>
        <p:spPr bwMode="auto">
          <a:xfrm>
            <a:off x="4495800" y="152400"/>
            <a:ext cx="4191000" cy="5181600"/>
          </a:xfrm>
          <a:prstGeom prst="line">
            <a:avLst/>
          </a:prstGeom>
          <a:noFill/>
          <a:ln w="508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4820" name="Line 4">
            <a:extLst>
              <a:ext uri="{FF2B5EF4-FFF2-40B4-BE49-F238E27FC236}">
                <a16:creationId xmlns:a16="http://schemas.microsoft.com/office/drawing/2014/main" id="{B5338211-3C6D-4167-69CD-32E177480F33}"/>
              </a:ext>
            </a:extLst>
          </p:cNvPr>
          <p:cNvSpPr>
            <a:spLocks noChangeShapeType="1"/>
          </p:cNvSpPr>
          <p:nvPr/>
        </p:nvSpPr>
        <p:spPr bwMode="auto">
          <a:xfrm>
            <a:off x="2057400" y="3124200"/>
            <a:ext cx="1828800" cy="2209800"/>
          </a:xfrm>
          <a:prstGeom prst="line">
            <a:avLst/>
          </a:prstGeom>
          <a:noFill/>
          <a:ln w="508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4821" name="Line 5">
            <a:extLst>
              <a:ext uri="{FF2B5EF4-FFF2-40B4-BE49-F238E27FC236}">
                <a16:creationId xmlns:a16="http://schemas.microsoft.com/office/drawing/2014/main" id="{4DA7AC0F-1C28-A9AD-EE69-45F99A9FC7F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105400" y="3124200"/>
            <a:ext cx="1828800" cy="2209800"/>
          </a:xfrm>
          <a:prstGeom prst="line">
            <a:avLst/>
          </a:prstGeom>
          <a:noFill/>
          <a:ln w="508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4822" name="Line 6">
            <a:extLst>
              <a:ext uri="{FF2B5EF4-FFF2-40B4-BE49-F238E27FC236}">
                <a16:creationId xmlns:a16="http://schemas.microsoft.com/office/drawing/2014/main" id="{CFE8FD50-1F67-1637-16D7-E30508BC6080}"/>
              </a:ext>
            </a:extLst>
          </p:cNvPr>
          <p:cNvSpPr>
            <a:spLocks noChangeShapeType="1"/>
          </p:cNvSpPr>
          <p:nvPr/>
        </p:nvSpPr>
        <p:spPr bwMode="auto">
          <a:xfrm>
            <a:off x="990600" y="4495800"/>
            <a:ext cx="457200" cy="838200"/>
          </a:xfrm>
          <a:prstGeom prst="line">
            <a:avLst/>
          </a:prstGeom>
          <a:noFill/>
          <a:ln w="508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4823" name="Line 7">
            <a:extLst>
              <a:ext uri="{FF2B5EF4-FFF2-40B4-BE49-F238E27FC236}">
                <a16:creationId xmlns:a16="http://schemas.microsoft.com/office/drawing/2014/main" id="{25950AB3-E5A2-68A0-00DD-7FC0CB5BCF3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743200" y="4495800"/>
            <a:ext cx="457200" cy="838200"/>
          </a:xfrm>
          <a:prstGeom prst="line">
            <a:avLst/>
          </a:prstGeom>
          <a:noFill/>
          <a:ln w="508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4824" name="Line 8">
            <a:extLst>
              <a:ext uri="{FF2B5EF4-FFF2-40B4-BE49-F238E27FC236}">
                <a16:creationId xmlns:a16="http://schemas.microsoft.com/office/drawing/2014/main" id="{B70CB593-3C45-142B-CB42-4159851A5330}"/>
              </a:ext>
            </a:extLst>
          </p:cNvPr>
          <p:cNvSpPr>
            <a:spLocks noChangeShapeType="1"/>
          </p:cNvSpPr>
          <p:nvPr/>
        </p:nvSpPr>
        <p:spPr bwMode="auto">
          <a:xfrm>
            <a:off x="5791200" y="4572000"/>
            <a:ext cx="457200" cy="762000"/>
          </a:xfrm>
          <a:prstGeom prst="line">
            <a:avLst/>
          </a:prstGeom>
          <a:noFill/>
          <a:ln w="508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4825" name="Line 9">
            <a:extLst>
              <a:ext uri="{FF2B5EF4-FFF2-40B4-BE49-F238E27FC236}">
                <a16:creationId xmlns:a16="http://schemas.microsoft.com/office/drawing/2014/main" id="{C6527CE6-940D-FE32-05DD-788B25568DC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543800" y="4495800"/>
            <a:ext cx="457200" cy="838200"/>
          </a:xfrm>
          <a:prstGeom prst="line">
            <a:avLst/>
          </a:prstGeom>
          <a:noFill/>
          <a:ln w="508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4826" name="Oval 10">
            <a:extLst>
              <a:ext uri="{FF2B5EF4-FFF2-40B4-BE49-F238E27FC236}">
                <a16:creationId xmlns:a16="http://schemas.microsoft.com/office/drawing/2014/main" id="{CD097EAE-B363-1555-4AD1-2A3481401F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4950" y="5264150"/>
            <a:ext cx="139700" cy="139700"/>
          </a:xfrm>
          <a:prstGeom prst="ellipse">
            <a:avLst/>
          </a:prstGeom>
          <a:solidFill>
            <a:schemeClr val="hlink"/>
          </a:solidFill>
          <a:ln w="1270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4827" name="Oval 11">
            <a:extLst>
              <a:ext uri="{FF2B5EF4-FFF2-40B4-BE49-F238E27FC236}">
                <a16:creationId xmlns:a16="http://schemas.microsoft.com/office/drawing/2014/main" id="{D677BB0F-017C-5E57-E9DE-7DEC869265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950" y="5264150"/>
            <a:ext cx="139700" cy="139700"/>
          </a:xfrm>
          <a:prstGeom prst="ellipse">
            <a:avLst/>
          </a:prstGeom>
          <a:solidFill>
            <a:schemeClr val="hlink"/>
          </a:solidFill>
          <a:ln w="1270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4828" name="Oval 12">
            <a:extLst>
              <a:ext uri="{FF2B5EF4-FFF2-40B4-BE49-F238E27FC236}">
                <a16:creationId xmlns:a16="http://schemas.microsoft.com/office/drawing/2014/main" id="{F9737C29-1934-0C8F-C783-44C316EF08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3350" y="5264150"/>
            <a:ext cx="139700" cy="139700"/>
          </a:xfrm>
          <a:prstGeom prst="ellipse">
            <a:avLst/>
          </a:prstGeom>
          <a:solidFill>
            <a:schemeClr val="hlink"/>
          </a:solidFill>
          <a:ln w="1270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4829" name="Oval 13">
            <a:extLst>
              <a:ext uri="{FF2B5EF4-FFF2-40B4-BE49-F238E27FC236}">
                <a16:creationId xmlns:a16="http://schemas.microsoft.com/office/drawing/2014/main" id="{B61A8846-17AB-BE2F-7190-A9E3474B94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6350" y="5264150"/>
            <a:ext cx="139700" cy="139700"/>
          </a:xfrm>
          <a:prstGeom prst="ellipse">
            <a:avLst/>
          </a:prstGeom>
          <a:solidFill>
            <a:schemeClr val="hlink"/>
          </a:solidFill>
          <a:ln w="1270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4830" name="Oval 14">
            <a:extLst>
              <a:ext uri="{FF2B5EF4-FFF2-40B4-BE49-F238E27FC236}">
                <a16:creationId xmlns:a16="http://schemas.microsoft.com/office/drawing/2014/main" id="{1A62BE45-3AAD-3629-AB16-0A0B09FBD3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550" y="5264150"/>
            <a:ext cx="139700" cy="139700"/>
          </a:xfrm>
          <a:prstGeom prst="ellipse">
            <a:avLst/>
          </a:prstGeom>
          <a:solidFill>
            <a:schemeClr val="hlink"/>
          </a:solidFill>
          <a:ln w="1270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4831" name="Oval 15">
            <a:extLst>
              <a:ext uri="{FF2B5EF4-FFF2-40B4-BE49-F238E27FC236}">
                <a16:creationId xmlns:a16="http://schemas.microsoft.com/office/drawing/2014/main" id="{6E4FC32F-5B46-9584-3C7B-1E4B0AFB80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78550" y="5264150"/>
            <a:ext cx="139700" cy="139700"/>
          </a:xfrm>
          <a:prstGeom prst="ellipse">
            <a:avLst/>
          </a:prstGeom>
          <a:solidFill>
            <a:schemeClr val="hlink"/>
          </a:solidFill>
          <a:ln w="1270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4832" name="Oval 16">
            <a:extLst>
              <a:ext uri="{FF2B5EF4-FFF2-40B4-BE49-F238E27FC236}">
                <a16:creationId xmlns:a16="http://schemas.microsoft.com/office/drawing/2014/main" id="{5AEDB412-E632-DAEF-5A31-2C6FEF8BDD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73950" y="5264150"/>
            <a:ext cx="139700" cy="139700"/>
          </a:xfrm>
          <a:prstGeom prst="ellipse">
            <a:avLst/>
          </a:prstGeom>
          <a:solidFill>
            <a:schemeClr val="hlink"/>
          </a:solidFill>
          <a:ln w="1270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4833" name="Oval 17">
            <a:extLst>
              <a:ext uri="{FF2B5EF4-FFF2-40B4-BE49-F238E27FC236}">
                <a16:creationId xmlns:a16="http://schemas.microsoft.com/office/drawing/2014/main" id="{C6BE265F-C9D1-F766-409C-040BFCD0EB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16950" y="5264150"/>
            <a:ext cx="139700" cy="139700"/>
          </a:xfrm>
          <a:prstGeom prst="ellipse">
            <a:avLst/>
          </a:prstGeom>
          <a:solidFill>
            <a:schemeClr val="hlink"/>
          </a:solidFill>
          <a:ln w="1270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4834" name="Rectangle 18">
            <a:extLst>
              <a:ext uri="{FF2B5EF4-FFF2-40B4-BE49-F238E27FC236}">
                <a16:creationId xmlns:a16="http://schemas.microsoft.com/office/drawing/2014/main" id="{D8F2C2A4-C67B-3C1E-C900-5A929CF75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38" y="5557838"/>
            <a:ext cx="8924925" cy="430212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 b="1">
                <a:latin typeface="Times New Roman" charset="0"/>
                <a:ea typeface="ＭＳ Ｐゴシック" charset="0"/>
              </a:rPr>
              <a:t>1	    2              3             4              5              6              7             8</a:t>
            </a:r>
          </a:p>
        </p:txBody>
      </p:sp>
      <p:sp>
        <p:nvSpPr>
          <p:cNvPr id="34835" name="Rectangle 19">
            <a:extLst>
              <a:ext uri="{FF2B5EF4-FFF2-40B4-BE49-F238E27FC236}">
                <a16:creationId xmlns:a16="http://schemas.microsoft.com/office/drawing/2014/main" id="{424477AC-B947-D025-49B0-AC897103E9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2038" y="-4763"/>
            <a:ext cx="1228725" cy="430213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80, 000</a:t>
            </a:r>
          </a:p>
        </p:txBody>
      </p:sp>
      <p:sp>
        <p:nvSpPr>
          <p:cNvPr id="34836" name="Rectangle 20">
            <a:extLst>
              <a:ext uri="{FF2B5EF4-FFF2-40B4-BE49-F238E27FC236}">
                <a16:creationId xmlns:a16="http://schemas.microsoft.com/office/drawing/2014/main" id="{50AECC99-9984-FB9A-AC4D-038C96D832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3638" y="5100638"/>
            <a:ext cx="1152525" cy="430212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10, 000</a:t>
            </a:r>
          </a:p>
        </p:txBody>
      </p:sp>
      <p:sp>
        <p:nvSpPr>
          <p:cNvPr id="34837" name="Rectangle 21">
            <a:extLst>
              <a:ext uri="{FF2B5EF4-FFF2-40B4-BE49-F238E27FC236}">
                <a16:creationId xmlns:a16="http://schemas.microsoft.com/office/drawing/2014/main" id="{A3C40914-DB1A-63F2-C456-CCED024A41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38" y="528638"/>
            <a:ext cx="3209925" cy="1598612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10, 000 adds + 3 communication hops</a:t>
            </a:r>
          </a:p>
          <a:p>
            <a:pPr eaLnBrk="0" hangingPunct="0">
              <a:lnSpc>
                <a:spcPct val="90000"/>
              </a:lnSpc>
              <a:spcBef>
                <a:spcPct val="50000"/>
              </a:spcBef>
              <a:buClr>
                <a:schemeClr val="hlink"/>
              </a:buClr>
              <a:buSzPct val="100000"/>
              <a:buFont typeface="Monotype Sorts" charset="0"/>
              <a:buNone/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 total speed is as if there is no communication</a:t>
            </a:r>
          </a:p>
        </p:txBody>
      </p:sp>
      <p:sp>
        <p:nvSpPr>
          <p:cNvPr id="34838" name="Rectangle 22">
            <a:extLst>
              <a:ext uri="{FF2B5EF4-FFF2-40B4-BE49-F238E27FC236}">
                <a16:creationId xmlns:a16="http://schemas.microsoft.com/office/drawing/2014/main" id="{761885CE-012B-C705-DD38-2EBF9257A5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8" y="6173788"/>
            <a:ext cx="8226425" cy="417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lvl="3"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	log</a:t>
            </a:r>
            <a:r>
              <a:rPr lang="en-US" sz="2400" baseline="-25000">
                <a:latin typeface="Times New Roman" charset="0"/>
                <a:ea typeface="ＭＳ Ｐゴシック" charset="0"/>
              </a:rPr>
              <a:t>2</a:t>
            </a:r>
            <a:r>
              <a:rPr lang="en-US" sz="2400">
                <a:latin typeface="Times New Roman" charset="0"/>
                <a:ea typeface="ＭＳ Ｐゴシック" charset="0"/>
              </a:rPr>
              <a:t>n = number of steps to add n numbers  (NO!!)</a:t>
            </a:r>
          </a:p>
        </p:txBody>
      </p:sp>
      <p:sp>
        <p:nvSpPr>
          <p:cNvPr id="34839" name="Rectangle 23">
            <a:extLst>
              <a:ext uri="{FF2B5EF4-FFF2-40B4-BE49-F238E27FC236}">
                <a16:creationId xmlns:a16="http://schemas.microsoft.com/office/drawing/2014/main" id="{95854086-B1C3-F2B2-9855-77AE17AD07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1838" y="2890838"/>
            <a:ext cx="1533525" cy="430212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40, 000</a:t>
            </a:r>
          </a:p>
        </p:txBody>
      </p:sp>
      <p:sp>
        <p:nvSpPr>
          <p:cNvPr id="34840" name="Rectangle 24">
            <a:extLst>
              <a:ext uri="{FF2B5EF4-FFF2-40B4-BE49-F238E27FC236}">
                <a16:creationId xmlns:a16="http://schemas.microsoft.com/office/drawing/2014/main" id="{DD3A2A98-B816-A62F-E49B-1FB77451EB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19638" y="4262438"/>
            <a:ext cx="1152525" cy="430212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20, 000</a:t>
            </a:r>
          </a:p>
        </p:txBody>
      </p:sp>
      <p:sp>
        <p:nvSpPr>
          <p:cNvPr id="34841" name="Rectangle 25">
            <a:extLst>
              <a:ext uri="{FF2B5EF4-FFF2-40B4-BE49-F238E27FC236}">
                <a16:creationId xmlns:a16="http://schemas.microsoft.com/office/drawing/2014/main" id="{91844496-7C4B-6A92-FFDD-35AF88CCBA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6638" y="2281238"/>
            <a:ext cx="1990725" cy="1416050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algn="ctr"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3200">
                <a:latin typeface="Times New Roman" charset="0"/>
                <a:ea typeface="ＭＳ Ｐゴシック" charset="0"/>
              </a:rPr>
              <a:t>Myth of log n  Example</a:t>
            </a:r>
          </a:p>
        </p:txBody>
      </p:sp>
    </p:spTree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>
            <a:extLst>
              <a:ext uri="{FF2B5EF4-FFF2-40B4-BE49-F238E27FC236}">
                <a16:creationId xmlns:a16="http://schemas.microsoft.com/office/drawing/2014/main" id="{1731F0D2-59B7-DF4C-3153-1D17EB9E6AC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90600" y="685800"/>
            <a:ext cx="7162800" cy="4114800"/>
          </a:xfrm>
          <a:extLs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90488" tIns="44450" rIns="90488" bIns="44450"/>
          <a:lstStyle/>
          <a:p>
            <a:pPr marL="285750" indent="-285750" algn="ctr" eaLnBrk="1" hangingPunct="1">
              <a:buFontTx/>
              <a:buNone/>
              <a:defRPr/>
            </a:pPr>
            <a:r>
              <a:rPr lang="en-US" sz="8000"/>
              <a:t>Any Prefix Operation May Be Segmented!</a:t>
            </a:r>
          </a:p>
        </p:txBody>
      </p:sp>
    </p:spTree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A26D5296-79C4-6A6A-279A-697401DC0AA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-228600"/>
            <a:ext cx="8991600" cy="1143000"/>
          </a:xfrm>
          <a:extLs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90488" tIns="44450" rIns="90488" bIns="44450"/>
          <a:lstStyle/>
          <a:p>
            <a:pPr eaLnBrk="1" hangingPunct="1">
              <a:defRPr/>
            </a:pPr>
            <a:r>
              <a:rPr lang="en-US" sz="5400">
                <a:solidFill>
                  <a:schemeClr val="tx1"/>
                </a:solidFill>
              </a:rPr>
              <a:t>Segmented Operations</a:t>
            </a:r>
          </a:p>
        </p:txBody>
      </p:sp>
      <p:sp>
        <p:nvSpPr>
          <p:cNvPr id="36867" name="Rectangle 3">
            <a:extLst>
              <a:ext uri="{FF2B5EF4-FFF2-40B4-BE49-F238E27FC236}">
                <a16:creationId xmlns:a16="http://schemas.microsoft.com/office/drawing/2014/main" id="{84FB76D1-1100-607C-94D3-B2A35B99D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8788" y="3049588"/>
            <a:ext cx="7997825" cy="45069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lvl="4"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 baseline="-25000">
                <a:latin typeface="Times New Roman" charset="0"/>
                <a:ea typeface="ＭＳ Ｐゴシック" charset="0"/>
              </a:rPr>
              <a:t>2</a:t>
            </a:r>
            <a:r>
              <a:rPr lang="en-US" sz="2400">
                <a:latin typeface="Times New Roman" charset="0"/>
                <a:ea typeface="ＭＳ Ｐゴシック" charset="0"/>
              </a:rPr>
              <a:t>		(y, T)		(y, F)    </a:t>
            </a:r>
          </a:p>
          <a:p>
            <a:pPr lvl="3"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     (x, T)		(x  y, T)	(y, F)</a:t>
            </a:r>
          </a:p>
          <a:p>
            <a:pPr lvl="3"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     (x, F)		(y, T)		(x</a:t>
            </a:r>
            <a:r>
              <a:rPr lang="en-US" sz="2400">
                <a:latin typeface="Symbol" charset="0"/>
                <a:ea typeface="ＭＳ Ｐゴシック" charset="0"/>
              </a:rPr>
              <a:t>+</a:t>
            </a:r>
            <a:r>
              <a:rPr lang="en-US" sz="2400">
                <a:latin typeface="Times New Roman" charset="0"/>
                <a:ea typeface="ＭＳ Ｐゴシック" charset="0"/>
              </a:rPr>
              <a:t>y, F)</a:t>
            </a:r>
          </a:p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endParaRPr lang="en-US" sz="2400" b="1">
              <a:latin typeface="Times New Roman" charset="0"/>
              <a:ea typeface="ＭＳ Ｐゴシック" charset="0"/>
            </a:endParaRPr>
          </a:p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e. g.	1	2	3	4	5	6	7	8</a:t>
            </a:r>
          </a:p>
          <a:p>
            <a:pPr lvl="2"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T	T      	F	F	F      	T      	F      	T</a:t>
            </a:r>
          </a:p>
          <a:p>
            <a:pPr lvl="2"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1	3  	3	7         12	6	7	8     </a:t>
            </a:r>
          </a:p>
          <a:p>
            <a:pPr lvl="2" eaLnBrk="0" hangingPunct="0">
              <a:lnSpc>
                <a:spcPct val="90000"/>
              </a:lnSpc>
              <a:spcBef>
                <a:spcPct val="50000"/>
              </a:spcBef>
              <a:defRPr/>
            </a:pPr>
            <a:endParaRPr lang="en-US" sz="2400">
              <a:latin typeface="Times New Roman" charset="0"/>
              <a:ea typeface="ＭＳ Ｐゴシック" charset="0"/>
            </a:endParaRPr>
          </a:p>
          <a:p>
            <a:pPr lvl="1" hangingPunct="0">
              <a:lnSpc>
                <a:spcPct val="90000"/>
              </a:lnSpc>
              <a:spcBef>
                <a:spcPct val="50000"/>
              </a:spcBef>
              <a:defRPr/>
            </a:pPr>
            <a:endParaRPr lang="en-US" sz="2400">
              <a:latin typeface="Times New Roman" charset="0"/>
              <a:ea typeface="ＭＳ Ｐゴシック" charset="0"/>
            </a:endParaRPr>
          </a:p>
        </p:txBody>
      </p:sp>
      <p:sp>
        <p:nvSpPr>
          <p:cNvPr id="36868" name="Rectangle 4">
            <a:extLst>
              <a:ext uri="{FF2B5EF4-FFF2-40B4-BE49-F238E27FC236}">
                <a16:creationId xmlns:a16="http://schemas.microsoft.com/office/drawing/2014/main" id="{112A146B-C386-D7FF-E13E-0DFCB7EC40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9350" y="5035550"/>
            <a:ext cx="1739900" cy="444500"/>
          </a:xfrm>
          <a:prstGeom prst="rect">
            <a:avLst/>
          </a:prstGeom>
          <a:noFill/>
          <a:ln w="12700">
            <a:solidFill>
              <a:schemeClr val="hlink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6869" name="Rectangle 5">
            <a:extLst>
              <a:ext uri="{FF2B5EF4-FFF2-40B4-BE49-F238E27FC236}">
                <a16:creationId xmlns:a16="http://schemas.microsoft.com/office/drawing/2014/main" id="{BD07667B-D3F8-6BD9-10B9-F18F1607D6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8150" y="5035550"/>
            <a:ext cx="2654300" cy="444500"/>
          </a:xfrm>
          <a:prstGeom prst="rect">
            <a:avLst/>
          </a:prstGeom>
          <a:noFill/>
          <a:ln w="12700">
            <a:solidFill>
              <a:schemeClr val="hlink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6870" name="Rectangle 6">
            <a:extLst>
              <a:ext uri="{FF2B5EF4-FFF2-40B4-BE49-F238E27FC236}">
                <a16:creationId xmlns:a16="http://schemas.microsoft.com/office/drawing/2014/main" id="{86DDEB61-55E7-B8D1-1ED7-D9DB67DAA9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1350" y="5035550"/>
            <a:ext cx="2654300" cy="444500"/>
          </a:xfrm>
          <a:prstGeom prst="rect">
            <a:avLst/>
          </a:prstGeom>
          <a:noFill/>
          <a:ln w="12700">
            <a:solidFill>
              <a:schemeClr val="hlink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6871" name="Line 7">
            <a:extLst>
              <a:ext uri="{FF2B5EF4-FFF2-40B4-BE49-F238E27FC236}">
                <a16:creationId xmlns:a16="http://schemas.microsoft.com/office/drawing/2014/main" id="{F462D0C4-B441-F0E9-4B6C-36D0FFDAD351}"/>
              </a:ext>
            </a:extLst>
          </p:cNvPr>
          <p:cNvSpPr>
            <a:spLocks noChangeShapeType="1"/>
          </p:cNvSpPr>
          <p:nvPr/>
        </p:nvSpPr>
        <p:spPr bwMode="auto">
          <a:xfrm>
            <a:off x="6553200" y="5029200"/>
            <a:ext cx="0" cy="457200"/>
          </a:xfrm>
          <a:prstGeom prst="line">
            <a:avLst/>
          </a:prstGeom>
          <a:noFill/>
          <a:ln w="12700">
            <a:solidFill>
              <a:schemeClr val="hlink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6872" name="Line 8">
            <a:extLst>
              <a:ext uri="{FF2B5EF4-FFF2-40B4-BE49-F238E27FC236}">
                <a16:creationId xmlns:a16="http://schemas.microsoft.com/office/drawing/2014/main" id="{E471B229-9A41-73CA-1638-B6946476D5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467600" y="5029200"/>
            <a:ext cx="0" cy="457200"/>
          </a:xfrm>
          <a:prstGeom prst="line">
            <a:avLst/>
          </a:prstGeom>
          <a:noFill/>
          <a:ln w="12700">
            <a:solidFill>
              <a:schemeClr val="hlink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6873" name="Line 9">
            <a:extLst>
              <a:ext uri="{FF2B5EF4-FFF2-40B4-BE49-F238E27FC236}">
                <a16:creationId xmlns:a16="http://schemas.microsoft.com/office/drawing/2014/main" id="{EED3DE72-1064-4829-FEC3-5F767FE69386}"/>
              </a:ext>
            </a:extLst>
          </p:cNvPr>
          <p:cNvSpPr>
            <a:spLocks noChangeShapeType="1"/>
          </p:cNvSpPr>
          <p:nvPr/>
        </p:nvSpPr>
        <p:spPr bwMode="auto">
          <a:xfrm>
            <a:off x="2895600" y="5562600"/>
            <a:ext cx="0" cy="838200"/>
          </a:xfrm>
          <a:prstGeom prst="line">
            <a:avLst/>
          </a:prstGeom>
          <a:noFill/>
          <a:ln w="12700">
            <a:solidFill>
              <a:schemeClr val="hlink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6874" name="Line 10">
            <a:extLst>
              <a:ext uri="{FF2B5EF4-FFF2-40B4-BE49-F238E27FC236}">
                <a16:creationId xmlns:a16="http://schemas.microsoft.com/office/drawing/2014/main" id="{FFEC6953-FFFB-A1E7-54C5-5BD6A157E2D7}"/>
              </a:ext>
            </a:extLst>
          </p:cNvPr>
          <p:cNvSpPr>
            <a:spLocks noChangeShapeType="1"/>
          </p:cNvSpPr>
          <p:nvPr/>
        </p:nvSpPr>
        <p:spPr bwMode="auto">
          <a:xfrm>
            <a:off x="5638800" y="5562600"/>
            <a:ext cx="0" cy="838200"/>
          </a:xfrm>
          <a:prstGeom prst="line">
            <a:avLst/>
          </a:prstGeom>
          <a:noFill/>
          <a:ln w="12700">
            <a:solidFill>
              <a:schemeClr val="hlink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6875" name="Line 11">
            <a:extLst>
              <a:ext uri="{FF2B5EF4-FFF2-40B4-BE49-F238E27FC236}">
                <a16:creationId xmlns:a16="http://schemas.microsoft.com/office/drawing/2014/main" id="{2F7091B9-984B-2665-995C-91E43306366C}"/>
              </a:ext>
            </a:extLst>
          </p:cNvPr>
          <p:cNvSpPr>
            <a:spLocks noChangeShapeType="1"/>
          </p:cNvSpPr>
          <p:nvPr/>
        </p:nvSpPr>
        <p:spPr bwMode="auto">
          <a:xfrm>
            <a:off x="6553200" y="5562600"/>
            <a:ext cx="0" cy="838200"/>
          </a:xfrm>
          <a:prstGeom prst="line">
            <a:avLst/>
          </a:prstGeom>
          <a:noFill/>
          <a:ln w="12700">
            <a:solidFill>
              <a:schemeClr val="hlink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6876" name="Line 12">
            <a:extLst>
              <a:ext uri="{FF2B5EF4-FFF2-40B4-BE49-F238E27FC236}">
                <a16:creationId xmlns:a16="http://schemas.microsoft.com/office/drawing/2014/main" id="{6C23C6DD-F2EC-652D-8D6C-D20A3A21E314}"/>
              </a:ext>
            </a:extLst>
          </p:cNvPr>
          <p:cNvSpPr>
            <a:spLocks noChangeShapeType="1"/>
          </p:cNvSpPr>
          <p:nvPr/>
        </p:nvSpPr>
        <p:spPr bwMode="auto">
          <a:xfrm>
            <a:off x="7467600" y="5562600"/>
            <a:ext cx="0" cy="838200"/>
          </a:xfrm>
          <a:prstGeom prst="line">
            <a:avLst/>
          </a:prstGeom>
          <a:noFill/>
          <a:ln w="12700">
            <a:solidFill>
              <a:schemeClr val="hlink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6877" name="Rectangle 13">
            <a:extLst>
              <a:ext uri="{FF2B5EF4-FFF2-40B4-BE49-F238E27FC236}">
                <a16:creationId xmlns:a16="http://schemas.microsoft.com/office/drawing/2014/main" id="{361F9BF2-6F0C-97C8-AF49-C09BF01CB2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0188" y="6021388"/>
            <a:ext cx="1292225" cy="417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Result</a:t>
            </a:r>
          </a:p>
        </p:txBody>
      </p:sp>
      <p:sp>
        <p:nvSpPr>
          <p:cNvPr id="36878" name="Line 14">
            <a:extLst>
              <a:ext uri="{FF2B5EF4-FFF2-40B4-BE49-F238E27FC236}">
                <a16:creationId xmlns:a16="http://schemas.microsoft.com/office/drawing/2014/main" id="{8C53D4CA-551C-9463-B562-1544A55D2086}"/>
              </a:ext>
            </a:extLst>
          </p:cNvPr>
          <p:cNvSpPr>
            <a:spLocks noChangeShapeType="1"/>
          </p:cNvSpPr>
          <p:nvPr/>
        </p:nvSpPr>
        <p:spPr bwMode="auto">
          <a:xfrm>
            <a:off x="2057400" y="3505200"/>
            <a:ext cx="5257800" cy="0"/>
          </a:xfrm>
          <a:prstGeom prst="line">
            <a:avLst/>
          </a:prstGeom>
          <a:noFill/>
          <a:ln w="12700">
            <a:solidFill>
              <a:schemeClr val="hlink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6879" name="Rectangle 15">
            <a:extLst>
              <a:ext uri="{FF2B5EF4-FFF2-40B4-BE49-F238E27FC236}">
                <a16:creationId xmlns:a16="http://schemas.microsoft.com/office/drawing/2014/main" id="{3B44F308-A427-5A08-6CA3-A6BE83D206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91400" y="1524000"/>
            <a:ext cx="381000" cy="420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6880" name="Text Box 16">
            <a:extLst>
              <a:ext uri="{FF2B5EF4-FFF2-40B4-BE49-F238E27FC236}">
                <a16:creationId xmlns:a16="http://schemas.microsoft.com/office/drawing/2014/main" id="{54889B20-3110-37CF-7E99-FC26245EB1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609600"/>
            <a:ext cx="6248400" cy="2540000"/>
          </a:xfrm>
          <a:prstGeom prst="rect">
            <a:avLst/>
          </a:prstGeom>
          <a:noFill/>
          <a:ln w="9525">
            <a:solidFill>
              <a:srgbClr val="FFFF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20000"/>
              </a:spcBef>
              <a:defRPr/>
            </a:pPr>
            <a:r>
              <a:rPr lang="en-US" sz="4000">
                <a:latin typeface="Times New Roman" charset="0"/>
                <a:ea typeface="ＭＳ Ｐゴシック" charset="0"/>
              </a:rPr>
              <a:t>Inputs = Ordered Pairs</a:t>
            </a:r>
          </a:p>
          <a:p>
            <a:pPr>
              <a:spcBef>
                <a:spcPct val="20000"/>
              </a:spcBef>
              <a:defRPr/>
            </a:pPr>
            <a:r>
              <a:rPr lang="en-US" sz="4000">
                <a:latin typeface="Times New Roman" charset="0"/>
                <a:ea typeface="ＭＳ Ｐゴシック" charset="0"/>
              </a:rPr>
              <a:t>              (operand, boolean)</a:t>
            </a:r>
          </a:p>
          <a:p>
            <a:pPr>
              <a:spcBef>
                <a:spcPct val="20000"/>
              </a:spcBef>
              <a:defRPr/>
            </a:pPr>
            <a:r>
              <a:rPr lang="en-US" sz="4000">
                <a:latin typeface="Times New Roman" charset="0"/>
                <a:ea typeface="ＭＳ Ｐゴシック" charset="0"/>
              </a:rPr>
              <a:t>e.g. (x, T) or (x, F)</a:t>
            </a:r>
          </a:p>
          <a:p>
            <a:pPr>
              <a:defRPr/>
            </a:pPr>
            <a:endParaRPr lang="en-US" sz="2400">
              <a:latin typeface="Times New Roman" charset="0"/>
              <a:ea typeface="ＭＳ Ｐゴシック" charset="0"/>
            </a:endParaRPr>
          </a:p>
        </p:txBody>
      </p:sp>
      <p:sp>
        <p:nvSpPr>
          <p:cNvPr id="36881" name="Text Box 17">
            <a:extLst>
              <a:ext uri="{FF2B5EF4-FFF2-40B4-BE49-F238E27FC236}">
                <a16:creationId xmlns:a16="http://schemas.microsoft.com/office/drawing/2014/main" id="{5BE923FF-9420-CA11-986E-E98FF44634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00800" y="914400"/>
            <a:ext cx="2514600" cy="1196975"/>
          </a:xfrm>
          <a:prstGeom prst="rect">
            <a:avLst/>
          </a:prstGeom>
          <a:noFill/>
          <a:ln w="9525">
            <a:solidFill>
              <a:schemeClr val="tx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Change of segment indicated  by switching T/F</a:t>
            </a:r>
          </a:p>
        </p:txBody>
      </p:sp>
      <p:grpSp>
        <p:nvGrpSpPr>
          <p:cNvPr id="25617" name="Group 18">
            <a:extLst>
              <a:ext uri="{FF2B5EF4-FFF2-40B4-BE49-F238E27FC236}">
                <a16:creationId xmlns:a16="http://schemas.microsoft.com/office/drawing/2014/main" id="{C44FCFBB-C586-08AA-C156-5DD97B667AF9}"/>
              </a:ext>
            </a:extLst>
          </p:cNvPr>
          <p:cNvGrpSpPr>
            <a:grpSpLocks/>
          </p:cNvGrpSpPr>
          <p:nvPr/>
        </p:nvGrpSpPr>
        <p:grpSpPr bwMode="auto">
          <a:xfrm>
            <a:off x="4343400" y="3505200"/>
            <a:ext cx="350838" cy="457200"/>
            <a:chOff x="4262" y="1174"/>
            <a:chExt cx="221" cy="288"/>
          </a:xfrm>
        </p:grpSpPr>
        <p:sp>
          <p:nvSpPr>
            <p:cNvPr id="36883" name="Text Box 19">
              <a:extLst>
                <a:ext uri="{FF2B5EF4-FFF2-40B4-BE49-F238E27FC236}">
                  <a16:creationId xmlns:a16="http://schemas.microsoft.com/office/drawing/2014/main" id="{5225D3BE-899C-2AD3-4CF7-3E75D331945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2" y="1174"/>
              <a:ext cx="221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en-US" sz="2400">
                  <a:latin typeface="Symbol" charset="0"/>
                  <a:ea typeface="ＭＳ Ｐゴシック" charset="0"/>
                </a:rPr>
                <a:t>+</a:t>
              </a:r>
            </a:p>
          </p:txBody>
        </p:sp>
        <p:sp>
          <p:nvSpPr>
            <p:cNvPr id="36884" name="Oval 20">
              <a:extLst>
                <a:ext uri="{FF2B5EF4-FFF2-40B4-BE49-F238E27FC236}">
                  <a16:creationId xmlns:a16="http://schemas.microsoft.com/office/drawing/2014/main" id="{4CA90FFF-4CB0-286F-B057-A818132BD6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0" y="1296"/>
              <a:ext cx="96" cy="96"/>
            </a:xfrm>
            <a:prstGeom prst="ellipse">
              <a:avLst/>
            </a:prstGeom>
            <a:noFill/>
            <a:ln w="9525">
              <a:solidFill>
                <a:srgbClr val="FFFF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25618" name="Group 21">
            <a:extLst>
              <a:ext uri="{FF2B5EF4-FFF2-40B4-BE49-F238E27FC236}">
                <a16:creationId xmlns:a16="http://schemas.microsoft.com/office/drawing/2014/main" id="{DB86A578-30A4-E283-D38E-C4AB1DB5FD0B}"/>
              </a:ext>
            </a:extLst>
          </p:cNvPr>
          <p:cNvGrpSpPr>
            <a:grpSpLocks/>
          </p:cNvGrpSpPr>
          <p:nvPr/>
        </p:nvGrpSpPr>
        <p:grpSpPr bwMode="auto">
          <a:xfrm>
            <a:off x="2057400" y="3048000"/>
            <a:ext cx="350838" cy="457200"/>
            <a:chOff x="4262" y="1174"/>
            <a:chExt cx="221" cy="288"/>
          </a:xfrm>
        </p:grpSpPr>
        <p:sp>
          <p:nvSpPr>
            <p:cNvPr id="36886" name="Text Box 22">
              <a:extLst>
                <a:ext uri="{FF2B5EF4-FFF2-40B4-BE49-F238E27FC236}">
                  <a16:creationId xmlns:a16="http://schemas.microsoft.com/office/drawing/2014/main" id="{52A2CC3D-9FD9-9E6E-7A1E-C6EE4AB904A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2" y="1174"/>
              <a:ext cx="221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en-US" sz="2400">
                  <a:latin typeface="Symbol" charset="0"/>
                  <a:ea typeface="ＭＳ Ｐゴシック" charset="0"/>
                </a:rPr>
                <a:t>+</a:t>
              </a:r>
            </a:p>
          </p:txBody>
        </p:sp>
        <p:sp>
          <p:nvSpPr>
            <p:cNvPr id="36887" name="Oval 23">
              <a:extLst>
                <a:ext uri="{FF2B5EF4-FFF2-40B4-BE49-F238E27FC236}">
                  <a16:creationId xmlns:a16="http://schemas.microsoft.com/office/drawing/2014/main" id="{D005DE86-2ECC-2B7A-3034-C03C923427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0" y="1296"/>
              <a:ext cx="96" cy="96"/>
            </a:xfrm>
            <a:prstGeom prst="ellipse">
              <a:avLst/>
            </a:prstGeom>
            <a:noFill/>
            <a:ln w="9525">
              <a:solidFill>
                <a:srgbClr val="FFFF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</p:spTree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>
            <a:extLst>
              <a:ext uri="{FF2B5EF4-FFF2-40B4-BE49-F238E27FC236}">
                <a16:creationId xmlns:a16="http://schemas.microsoft.com/office/drawing/2014/main" id="{334801E7-9543-E108-7AB3-A8D99C76376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extLs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90488" tIns="44450" rIns="90488" bIns="44450"/>
          <a:lstStyle/>
          <a:p>
            <a:pPr eaLnBrk="1" hangingPunct="1">
              <a:defRPr/>
            </a:pPr>
            <a:r>
              <a:rPr lang="en-US">
                <a:solidFill>
                  <a:schemeClr val="tx1"/>
                </a:solidFill>
              </a:rPr>
              <a:t> Copy Prefix:    </a:t>
            </a:r>
            <a:r>
              <a:rPr lang="en-US" b="1">
                <a:solidFill>
                  <a:schemeClr val="tx1"/>
                </a:solidFill>
              </a:rPr>
              <a:t>x  y = x</a:t>
            </a:r>
            <a:br>
              <a:rPr lang="en-US" b="1">
                <a:solidFill>
                  <a:schemeClr val="tx1"/>
                </a:solidFill>
              </a:rPr>
            </a:b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sz="2800">
                <a:solidFill>
                  <a:schemeClr val="tx1"/>
                </a:solidFill>
              </a:rPr>
              <a:t>(is associative)</a:t>
            </a:r>
          </a:p>
        </p:txBody>
      </p:sp>
      <p:sp>
        <p:nvSpPr>
          <p:cNvPr id="37891" name="Rectangle 3">
            <a:extLst>
              <a:ext uri="{FF2B5EF4-FFF2-40B4-BE49-F238E27FC236}">
                <a16:creationId xmlns:a16="http://schemas.microsoft.com/office/drawing/2014/main" id="{EF64A73C-EC30-41DE-A0C5-E114A8599D9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3886200"/>
            <a:ext cx="7924800" cy="2438400"/>
          </a:xfrm>
          <a:extLs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90488" tIns="44450" rIns="90488" bIns="44450"/>
          <a:lstStyle/>
          <a:p>
            <a:pPr marL="285750" indent="-285750" algn="ctr" eaLnBrk="1" hangingPunct="1">
              <a:lnSpc>
                <a:spcPct val="90000"/>
              </a:lnSpc>
              <a:buFontTx/>
              <a:buNone/>
              <a:defRPr/>
            </a:pPr>
            <a:r>
              <a:rPr lang="en-US" sz="3600" b="1"/>
              <a:t>Segmented</a:t>
            </a:r>
          </a:p>
          <a:p>
            <a:pPr marL="285750" indent="-285750" eaLnBrk="1" hangingPunct="1">
              <a:lnSpc>
                <a:spcPct val="90000"/>
              </a:lnSpc>
              <a:buFontTx/>
              <a:buNone/>
              <a:defRPr/>
            </a:pPr>
            <a:endParaRPr lang="en-US" b="1"/>
          </a:p>
          <a:p>
            <a:pPr marL="285750" indent="-285750" eaLnBrk="1" hangingPunct="1">
              <a:lnSpc>
                <a:spcPct val="90000"/>
              </a:lnSpc>
              <a:buFontTx/>
              <a:buNone/>
              <a:defRPr/>
            </a:pPr>
            <a:r>
              <a:rPr lang="en-US" b="1"/>
              <a:t> 1	2	3	4	5	6	7	8</a:t>
            </a:r>
          </a:p>
          <a:p>
            <a:pPr marL="285750" indent="-285750" eaLnBrk="1" hangingPunct="1">
              <a:lnSpc>
                <a:spcPct val="90000"/>
              </a:lnSpc>
              <a:buFontTx/>
              <a:buNone/>
              <a:defRPr/>
            </a:pPr>
            <a:r>
              <a:rPr lang="en-US" b="1"/>
              <a:t> T	T	F	F	F	T	F	T</a:t>
            </a:r>
          </a:p>
          <a:p>
            <a:pPr marL="285750" indent="-285750" eaLnBrk="1" hangingPunct="1">
              <a:lnSpc>
                <a:spcPct val="90000"/>
              </a:lnSpc>
              <a:buFontTx/>
              <a:buNone/>
              <a:defRPr/>
            </a:pPr>
            <a:r>
              <a:rPr lang="en-US" b="1"/>
              <a:t> 1	1	3	3	3	6	7	8</a:t>
            </a:r>
          </a:p>
          <a:p>
            <a:pPr marL="285750" indent="-285750" algn="ctr" eaLnBrk="1" hangingPunct="1">
              <a:lnSpc>
                <a:spcPct val="90000"/>
              </a:lnSpc>
              <a:buFontTx/>
              <a:buNone/>
              <a:defRPr/>
            </a:pPr>
            <a:endParaRPr lang="en-US" b="1"/>
          </a:p>
        </p:txBody>
      </p:sp>
      <p:sp>
        <p:nvSpPr>
          <p:cNvPr id="37892" name="Line 4">
            <a:extLst>
              <a:ext uri="{FF2B5EF4-FFF2-40B4-BE49-F238E27FC236}">
                <a16:creationId xmlns:a16="http://schemas.microsoft.com/office/drawing/2014/main" id="{6E8EE78E-70EC-E8E3-5AA5-FCDC4215A5BF}"/>
              </a:ext>
            </a:extLst>
          </p:cNvPr>
          <p:cNvSpPr>
            <a:spLocks noChangeShapeType="1"/>
          </p:cNvSpPr>
          <p:nvPr/>
        </p:nvSpPr>
        <p:spPr bwMode="auto">
          <a:xfrm>
            <a:off x="2362200" y="4953000"/>
            <a:ext cx="0" cy="1600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7893" name="Line 5">
            <a:extLst>
              <a:ext uri="{FF2B5EF4-FFF2-40B4-BE49-F238E27FC236}">
                <a16:creationId xmlns:a16="http://schemas.microsoft.com/office/drawing/2014/main" id="{FDA0C686-75ED-08AE-C4AB-45661E29B53F}"/>
              </a:ext>
            </a:extLst>
          </p:cNvPr>
          <p:cNvSpPr>
            <a:spLocks noChangeShapeType="1"/>
          </p:cNvSpPr>
          <p:nvPr/>
        </p:nvSpPr>
        <p:spPr bwMode="auto">
          <a:xfrm>
            <a:off x="5029200" y="5029200"/>
            <a:ext cx="0" cy="1600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7894" name="Line 6">
            <a:extLst>
              <a:ext uri="{FF2B5EF4-FFF2-40B4-BE49-F238E27FC236}">
                <a16:creationId xmlns:a16="http://schemas.microsoft.com/office/drawing/2014/main" id="{72F431DF-277B-57D2-FE31-AAF80733E80A}"/>
              </a:ext>
            </a:extLst>
          </p:cNvPr>
          <p:cNvSpPr>
            <a:spLocks noChangeShapeType="1"/>
          </p:cNvSpPr>
          <p:nvPr/>
        </p:nvSpPr>
        <p:spPr bwMode="auto">
          <a:xfrm>
            <a:off x="6019800" y="5029200"/>
            <a:ext cx="0" cy="1600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7895" name="Line 7">
            <a:extLst>
              <a:ext uri="{FF2B5EF4-FFF2-40B4-BE49-F238E27FC236}">
                <a16:creationId xmlns:a16="http://schemas.microsoft.com/office/drawing/2014/main" id="{EDE6D72A-492E-8622-1E1D-D5630E825F4B}"/>
              </a:ext>
            </a:extLst>
          </p:cNvPr>
          <p:cNvSpPr>
            <a:spLocks noChangeShapeType="1"/>
          </p:cNvSpPr>
          <p:nvPr/>
        </p:nvSpPr>
        <p:spPr bwMode="auto">
          <a:xfrm>
            <a:off x="7010400" y="5029200"/>
            <a:ext cx="0" cy="1600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grpSp>
        <p:nvGrpSpPr>
          <p:cNvPr id="26631" name="Group 8">
            <a:extLst>
              <a:ext uri="{FF2B5EF4-FFF2-40B4-BE49-F238E27FC236}">
                <a16:creationId xmlns:a16="http://schemas.microsoft.com/office/drawing/2014/main" id="{CC883D11-A77A-119E-FAF9-3F9D90DEB771}"/>
              </a:ext>
            </a:extLst>
          </p:cNvPr>
          <p:cNvGrpSpPr>
            <a:grpSpLocks/>
          </p:cNvGrpSpPr>
          <p:nvPr/>
        </p:nvGrpSpPr>
        <p:grpSpPr bwMode="auto">
          <a:xfrm>
            <a:off x="5867400" y="304800"/>
            <a:ext cx="350838" cy="457200"/>
            <a:chOff x="4262" y="1174"/>
            <a:chExt cx="221" cy="288"/>
          </a:xfrm>
        </p:grpSpPr>
        <p:sp>
          <p:nvSpPr>
            <p:cNvPr id="37897" name="Text Box 9">
              <a:extLst>
                <a:ext uri="{FF2B5EF4-FFF2-40B4-BE49-F238E27FC236}">
                  <a16:creationId xmlns:a16="http://schemas.microsoft.com/office/drawing/2014/main" id="{9C075A9C-7CD9-82F1-C426-D52ABBB2E92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2" y="1174"/>
              <a:ext cx="221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en-US" sz="2400">
                  <a:latin typeface="Symbol" charset="0"/>
                  <a:ea typeface="ＭＳ Ｐゴシック" charset="0"/>
                </a:rPr>
                <a:t>+</a:t>
              </a:r>
            </a:p>
          </p:txBody>
        </p:sp>
        <p:sp>
          <p:nvSpPr>
            <p:cNvPr id="37898" name="Oval 10">
              <a:extLst>
                <a:ext uri="{FF2B5EF4-FFF2-40B4-BE49-F238E27FC236}">
                  <a16:creationId xmlns:a16="http://schemas.microsoft.com/office/drawing/2014/main" id="{95989F78-A8E6-5A44-58B4-1C4C9CB35C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0" y="1296"/>
              <a:ext cx="96" cy="96"/>
            </a:xfrm>
            <a:prstGeom prst="ellipse">
              <a:avLst/>
            </a:prstGeom>
            <a:noFill/>
            <a:ln w="9525">
              <a:solidFill>
                <a:srgbClr val="FFFF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</p:spTree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>
            <a:extLst>
              <a:ext uri="{FF2B5EF4-FFF2-40B4-BE49-F238E27FC236}">
                <a16:creationId xmlns:a16="http://schemas.microsoft.com/office/drawing/2014/main" id="{F15FE676-5641-DF51-66B6-63C223CC25E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extLs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90488" tIns="44450" rIns="90488" bIns="44450"/>
          <a:lstStyle/>
          <a:p>
            <a:pPr eaLnBrk="1" hangingPunct="1"/>
            <a:r>
              <a:rPr lang="en-US" altLang="en-US">
                <a:solidFill>
                  <a:schemeClr val="accent2"/>
                </a:solidFill>
              </a:rPr>
              <a:t>High Performance Fortran</a:t>
            </a:r>
            <a:br>
              <a:rPr lang="en-US" altLang="en-US">
                <a:solidFill>
                  <a:schemeClr val="hlink"/>
                </a:solidFill>
              </a:rPr>
            </a:br>
            <a:endParaRPr lang="en-US" altLang="en-US">
              <a:solidFill>
                <a:schemeClr val="hlink"/>
              </a:solidFill>
            </a:endParaRPr>
          </a:p>
        </p:txBody>
      </p:sp>
      <p:sp>
        <p:nvSpPr>
          <p:cNvPr id="38915" name="Rectangle 3">
            <a:extLst>
              <a:ext uri="{FF2B5EF4-FFF2-40B4-BE49-F238E27FC236}">
                <a16:creationId xmlns:a16="http://schemas.microsoft.com/office/drawing/2014/main" id="{B6476B34-815E-188B-78C8-AD666BBFAB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8388" y="1144588"/>
            <a:ext cx="7083425" cy="417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SUM_PREFIX ( ARRAY, </a:t>
            </a:r>
            <a:r>
              <a:rPr lang="en-US" sz="2400" u="sng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DIM</a:t>
            </a:r>
            <a:r>
              <a:rPr lang="en-US" sz="2400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, MASK, SEG, EXC)</a:t>
            </a:r>
          </a:p>
        </p:txBody>
      </p:sp>
      <p:sp>
        <p:nvSpPr>
          <p:cNvPr id="38916" name="Rectangle 4">
            <a:extLst>
              <a:ext uri="{FF2B5EF4-FFF2-40B4-BE49-F238E27FC236}">
                <a16:creationId xmlns:a16="http://schemas.microsoft.com/office/drawing/2014/main" id="{DCF1FA8F-3E82-3227-4F70-DE725ABC52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4988" y="1906588"/>
            <a:ext cx="8378825" cy="1108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lvl="2"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>
                <a:latin typeface="Times New Roman" charset="0"/>
                <a:ea typeface="ＭＳ Ｐゴシック" charset="0"/>
              </a:rPr>
              <a:t>1     2     3     4     5				T     T     T     T     T</a:t>
            </a:r>
          </a:p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>
                <a:latin typeface="Times New Roman" charset="0"/>
                <a:ea typeface="ＭＳ Ｐゴシック" charset="0"/>
              </a:rPr>
              <a:t>A = 	6     7     8     9    10			M =	F     F     T     T     T</a:t>
            </a:r>
          </a:p>
          <a:p>
            <a:pPr lvl="2"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>
                <a:latin typeface="Times New Roman" charset="0"/>
                <a:ea typeface="ＭＳ Ｐゴシック" charset="0"/>
              </a:rPr>
              <a:t>11   12   13   14  15  			T     F     T     F     F</a:t>
            </a:r>
          </a:p>
        </p:txBody>
      </p:sp>
      <p:sp>
        <p:nvSpPr>
          <p:cNvPr id="38917" name="Line 5">
            <a:extLst>
              <a:ext uri="{FF2B5EF4-FFF2-40B4-BE49-F238E27FC236}">
                <a16:creationId xmlns:a16="http://schemas.microsoft.com/office/drawing/2014/main" id="{09872C83-ABDF-1799-26B6-5DD246B25715}"/>
              </a:ext>
            </a:extLst>
          </p:cNvPr>
          <p:cNvSpPr>
            <a:spLocks noChangeShapeType="1"/>
          </p:cNvSpPr>
          <p:nvPr/>
        </p:nvSpPr>
        <p:spPr bwMode="auto">
          <a:xfrm>
            <a:off x="1295400" y="1905000"/>
            <a:ext cx="0" cy="114300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8918" name="Line 6">
            <a:extLst>
              <a:ext uri="{FF2B5EF4-FFF2-40B4-BE49-F238E27FC236}">
                <a16:creationId xmlns:a16="http://schemas.microsoft.com/office/drawing/2014/main" id="{CB349067-4D00-CB9E-E407-2DDC3D34B054}"/>
              </a:ext>
            </a:extLst>
          </p:cNvPr>
          <p:cNvSpPr>
            <a:spLocks noChangeShapeType="1"/>
          </p:cNvSpPr>
          <p:nvPr/>
        </p:nvSpPr>
        <p:spPr bwMode="auto">
          <a:xfrm>
            <a:off x="3581400" y="1905000"/>
            <a:ext cx="0" cy="114300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8919" name="Line 7">
            <a:extLst>
              <a:ext uri="{FF2B5EF4-FFF2-40B4-BE49-F238E27FC236}">
                <a16:creationId xmlns:a16="http://schemas.microsoft.com/office/drawing/2014/main" id="{D325E12A-6566-5085-893F-1CA2243D4A46}"/>
              </a:ext>
            </a:extLst>
          </p:cNvPr>
          <p:cNvSpPr>
            <a:spLocks noChangeShapeType="1"/>
          </p:cNvSpPr>
          <p:nvPr/>
        </p:nvSpPr>
        <p:spPr bwMode="auto">
          <a:xfrm>
            <a:off x="5943600" y="1905000"/>
            <a:ext cx="0" cy="114300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8920" name="Line 8">
            <a:extLst>
              <a:ext uri="{FF2B5EF4-FFF2-40B4-BE49-F238E27FC236}">
                <a16:creationId xmlns:a16="http://schemas.microsoft.com/office/drawing/2014/main" id="{BBE281CD-4857-2D48-01FE-E5358C22F959}"/>
              </a:ext>
            </a:extLst>
          </p:cNvPr>
          <p:cNvSpPr>
            <a:spLocks noChangeShapeType="1"/>
          </p:cNvSpPr>
          <p:nvPr/>
        </p:nvSpPr>
        <p:spPr bwMode="auto">
          <a:xfrm>
            <a:off x="8229600" y="1905000"/>
            <a:ext cx="0" cy="114300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8921" name="Line 9">
            <a:extLst>
              <a:ext uri="{FF2B5EF4-FFF2-40B4-BE49-F238E27FC236}">
                <a16:creationId xmlns:a16="http://schemas.microsoft.com/office/drawing/2014/main" id="{41782B45-105D-8465-081B-962DFAFD384B}"/>
              </a:ext>
            </a:extLst>
          </p:cNvPr>
          <p:cNvSpPr>
            <a:spLocks noChangeShapeType="1"/>
          </p:cNvSpPr>
          <p:nvPr/>
        </p:nvSpPr>
        <p:spPr bwMode="auto">
          <a:xfrm>
            <a:off x="1295400" y="1905000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8922" name="Line 10">
            <a:extLst>
              <a:ext uri="{FF2B5EF4-FFF2-40B4-BE49-F238E27FC236}">
                <a16:creationId xmlns:a16="http://schemas.microsoft.com/office/drawing/2014/main" id="{F08F2396-721C-CF2B-EE8D-8F1798EC1129}"/>
              </a:ext>
            </a:extLst>
          </p:cNvPr>
          <p:cNvSpPr>
            <a:spLocks noChangeShapeType="1"/>
          </p:cNvSpPr>
          <p:nvPr/>
        </p:nvSpPr>
        <p:spPr bwMode="auto">
          <a:xfrm>
            <a:off x="1295400" y="3048000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8923" name="Line 11">
            <a:extLst>
              <a:ext uri="{FF2B5EF4-FFF2-40B4-BE49-F238E27FC236}">
                <a16:creationId xmlns:a16="http://schemas.microsoft.com/office/drawing/2014/main" id="{DDF32A1C-4636-5A65-344E-AEEB92312A0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505200" y="1905000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8924" name="Line 12">
            <a:extLst>
              <a:ext uri="{FF2B5EF4-FFF2-40B4-BE49-F238E27FC236}">
                <a16:creationId xmlns:a16="http://schemas.microsoft.com/office/drawing/2014/main" id="{A0A2CE7E-4E61-1865-EA23-A8EF0072A13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505200" y="3048000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8925" name="Line 13">
            <a:extLst>
              <a:ext uri="{FF2B5EF4-FFF2-40B4-BE49-F238E27FC236}">
                <a16:creationId xmlns:a16="http://schemas.microsoft.com/office/drawing/2014/main" id="{6F2EC2DF-1D21-0F52-0D1C-6604F5ABACD6}"/>
              </a:ext>
            </a:extLst>
          </p:cNvPr>
          <p:cNvSpPr>
            <a:spLocks noChangeShapeType="1"/>
          </p:cNvSpPr>
          <p:nvPr/>
        </p:nvSpPr>
        <p:spPr bwMode="auto">
          <a:xfrm>
            <a:off x="5943600" y="1905000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8926" name="Line 14">
            <a:extLst>
              <a:ext uri="{FF2B5EF4-FFF2-40B4-BE49-F238E27FC236}">
                <a16:creationId xmlns:a16="http://schemas.microsoft.com/office/drawing/2014/main" id="{A0D29294-95A9-28CA-CD87-C40193A30E94}"/>
              </a:ext>
            </a:extLst>
          </p:cNvPr>
          <p:cNvSpPr>
            <a:spLocks noChangeShapeType="1"/>
          </p:cNvSpPr>
          <p:nvPr/>
        </p:nvSpPr>
        <p:spPr bwMode="auto">
          <a:xfrm>
            <a:off x="5943600" y="3048000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8927" name="Line 15">
            <a:extLst>
              <a:ext uri="{FF2B5EF4-FFF2-40B4-BE49-F238E27FC236}">
                <a16:creationId xmlns:a16="http://schemas.microsoft.com/office/drawing/2014/main" id="{04008006-46EE-CB53-D15D-EC1AA1A8CCF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153400" y="1905000"/>
            <a:ext cx="76200" cy="0"/>
          </a:xfrm>
          <a:prstGeom prst="line">
            <a:avLst/>
          </a:prstGeom>
          <a:noFill/>
          <a:ln w="12700">
            <a:solidFill>
              <a:srgbClr val="280049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8928" name="Line 16">
            <a:extLst>
              <a:ext uri="{FF2B5EF4-FFF2-40B4-BE49-F238E27FC236}">
                <a16:creationId xmlns:a16="http://schemas.microsoft.com/office/drawing/2014/main" id="{D804E980-EBE1-60CD-299F-A4992C0C5DC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153400" y="3048000"/>
            <a:ext cx="76200" cy="0"/>
          </a:xfrm>
          <a:prstGeom prst="line">
            <a:avLst/>
          </a:prstGeom>
          <a:noFill/>
          <a:ln w="12700">
            <a:solidFill>
              <a:srgbClr val="280049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8929" name="Rectangle 17">
            <a:extLst>
              <a:ext uri="{FF2B5EF4-FFF2-40B4-BE49-F238E27FC236}">
                <a16:creationId xmlns:a16="http://schemas.microsoft.com/office/drawing/2014/main" id="{A34428DB-E050-72BE-0995-7AFFC98D76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8788" y="3049588"/>
            <a:ext cx="8531225" cy="11890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lvl="4"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 b="1">
                <a:latin typeface="Times New Roman" charset="0"/>
                <a:ea typeface="ＭＳ Ｐゴシック" charset="0"/>
              </a:rPr>
              <a:t>      </a:t>
            </a:r>
            <a:r>
              <a:rPr lang="en-US" b="1">
                <a:latin typeface="Times New Roman" charset="0"/>
                <a:ea typeface="ＭＳ Ｐゴシック" charset="0"/>
              </a:rPr>
              <a:t> </a:t>
            </a:r>
            <a:r>
              <a:rPr lang="en-US">
                <a:latin typeface="Times New Roman" charset="0"/>
                <a:ea typeface="ＭＳ Ｐゴシック" charset="0"/>
              </a:rPr>
              <a:t>1     20    42    67    45</a:t>
            </a:r>
          </a:p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>
                <a:latin typeface="Times New Roman" charset="0"/>
                <a:ea typeface="ＭＳ Ｐゴシック" charset="0"/>
              </a:rPr>
              <a:t>SUM_PREFIX(A)  =       7     27    50    76    105</a:t>
            </a:r>
          </a:p>
          <a:p>
            <a:pPr lvl="4"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>
                <a:latin typeface="Times New Roman" charset="0"/>
                <a:ea typeface="ＭＳ Ｐゴシック" charset="0"/>
              </a:rPr>
              <a:t>         18   39    63    90    120</a:t>
            </a:r>
          </a:p>
        </p:txBody>
      </p:sp>
      <p:sp>
        <p:nvSpPr>
          <p:cNvPr id="38930" name="Line 18">
            <a:extLst>
              <a:ext uri="{FF2B5EF4-FFF2-40B4-BE49-F238E27FC236}">
                <a16:creationId xmlns:a16="http://schemas.microsoft.com/office/drawing/2014/main" id="{1961C793-F06B-3CDF-9916-73025C6DC36B}"/>
              </a:ext>
            </a:extLst>
          </p:cNvPr>
          <p:cNvSpPr>
            <a:spLocks noChangeShapeType="1"/>
          </p:cNvSpPr>
          <p:nvPr/>
        </p:nvSpPr>
        <p:spPr bwMode="auto">
          <a:xfrm>
            <a:off x="2743200" y="3124200"/>
            <a:ext cx="0" cy="114300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8931" name="Line 19">
            <a:extLst>
              <a:ext uri="{FF2B5EF4-FFF2-40B4-BE49-F238E27FC236}">
                <a16:creationId xmlns:a16="http://schemas.microsoft.com/office/drawing/2014/main" id="{51D6F628-EAFB-F494-0CAC-D1FDE44DC02C}"/>
              </a:ext>
            </a:extLst>
          </p:cNvPr>
          <p:cNvSpPr>
            <a:spLocks noChangeShapeType="1"/>
          </p:cNvSpPr>
          <p:nvPr/>
        </p:nvSpPr>
        <p:spPr bwMode="auto">
          <a:xfrm>
            <a:off x="2743200" y="3124200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8932" name="Line 20">
            <a:extLst>
              <a:ext uri="{FF2B5EF4-FFF2-40B4-BE49-F238E27FC236}">
                <a16:creationId xmlns:a16="http://schemas.microsoft.com/office/drawing/2014/main" id="{B3D0F9F1-E9CB-4D11-148E-C71601CC85DC}"/>
              </a:ext>
            </a:extLst>
          </p:cNvPr>
          <p:cNvSpPr>
            <a:spLocks noChangeShapeType="1"/>
          </p:cNvSpPr>
          <p:nvPr/>
        </p:nvSpPr>
        <p:spPr bwMode="auto">
          <a:xfrm>
            <a:off x="2743200" y="4267200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8933" name="Line 21">
            <a:extLst>
              <a:ext uri="{FF2B5EF4-FFF2-40B4-BE49-F238E27FC236}">
                <a16:creationId xmlns:a16="http://schemas.microsoft.com/office/drawing/2014/main" id="{7E8976CD-8F99-9C22-1AC8-C98BDD2A45B3}"/>
              </a:ext>
            </a:extLst>
          </p:cNvPr>
          <p:cNvSpPr>
            <a:spLocks noChangeShapeType="1"/>
          </p:cNvSpPr>
          <p:nvPr/>
        </p:nvSpPr>
        <p:spPr bwMode="auto">
          <a:xfrm>
            <a:off x="5105400" y="3124200"/>
            <a:ext cx="0" cy="114300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8934" name="Line 22">
            <a:extLst>
              <a:ext uri="{FF2B5EF4-FFF2-40B4-BE49-F238E27FC236}">
                <a16:creationId xmlns:a16="http://schemas.microsoft.com/office/drawing/2014/main" id="{2B06082E-3AAF-913F-4A14-B65184218B7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029200" y="3124200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8935" name="Line 23">
            <a:extLst>
              <a:ext uri="{FF2B5EF4-FFF2-40B4-BE49-F238E27FC236}">
                <a16:creationId xmlns:a16="http://schemas.microsoft.com/office/drawing/2014/main" id="{04A58845-351C-2985-5841-720656C8F88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029200" y="4267200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8936" name="Rectangle 24">
            <a:extLst>
              <a:ext uri="{FF2B5EF4-FFF2-40B4-BE49-F238E27FC236}">
                <a16:creationId xmlns:a16="http://schemas.microsoft.com/office/drawing/2014/main" id="{633FBA76-9E71-89E9-9F79-2144720A91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8788" y="4344988"/>
            <a:ext cx="8378825" cy="14938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>
                <a:latin typeface="Times New Roman" charset="0"/>
                <a:ea typeface="ＭＳ Ｐゴシック" charset="0"/>
              </a:rPr>
              <a:t>SUM_SUFFIX(A)		         1     3      6      10    15</a:t>
            </a:r>
          </a:p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>
                <a:latin typeface="Times New Roman" charset="0"/>
                <a:ea typeface="ＭＳ Ｐゴシック" charset="0"/>
              </a:rPr>
              <a:t>SUM_PREFIX(A, DIM = 2)  =       6     13    21    30    40</a:t>
            </a:r>
          </a:p>
          <a:p>
            <a:pPr lvl="4"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>
                <a:latin typeface="Times New Roman" charset="0"/>
                <a:ea typeface="ＭＳ Ｐゴシック" charset="0"/>
              </a:rPr>
              <a:t> 	        11    23    36</a:t>
            </a:r>
          </a:p>
          <a:p>
            <a:pPr lvl="4" hangingPunct="0">
              <a:lnSpc>
                <a:spcPct val="90000"/>
              </a:lnSpc>
              <a:spcBef>
                <a:spcPct val="50000"/>
              </a:spcBef>
              <a:defRPr/>
            </a:pPr>
            <a:endParaRPr lang="en-US">
              <a:latin typeface="Times New Roman" charset="0"/>
              <a:ea typeface="ＭＳ Ｐゴシック" charset="0"/>
            </a:endParaRPr>
          </a:p>
        </p:txBody>
      </p:sp>
      <p:sp>
        <p:nvSpPr>
          <p:cNvPr id="38937" name="Line 25">
            <a:extLst>
              <a:ext uri="{FF2B5EF4-FFF2-40B4-BE49-F238E27FC236}">
                <a16:creationId xmlns:a16="http://schemas.microsoft.com/office/drawing/2014/main" id="{95C36408-C467-0789-010C-5E4BB33B1E10}"/>
              </a:ext>
            </a:extLst>
          </p:cNvPr>
          <p:cNvSpPr>
            <a:spLocks noChangeShapeType="1"/>
          </p:cNvSpPr>
          <p:nvPr/>
        </p:nvSpPr>
        <p:spPr bwMode="auto">
          <a:xfrm>
            <a:off x="3657600" y="4343400"/>
            <a:ext cx="0" cy="114300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8938" name="Line 26">
            <a:extLst>
              <a:ext uri="{FF2B5EF4-FFF2-40B4-BE49-F238E27FC236}">
                <a16:creationId xmlns:a16="http://schemas.microsoft.com/office/drawing/2014/main" id="{8094EBEF-D0D9-89B8-AF44-303D5DAA6F5A}"/>
              </a:ext>
            </a:extLst>
          </p:cNvPr>
          <p:cNvSpPr>
            <a:spLocks noChangeShapeType="1"/>
          </p:cNvSpPr>
          <p:nvPr/>
        </p:nvSpPr>
        <p:spPr bwMode="auto">
          <a:xfrm>
            <a:off x="3657600" y="4343400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8939" name="Line 27">
            <a:extLst>
              <a:ext uri="{FF2B5EF4-FFF2-40B4-BE49-F238E27FC236}">
                <a16:creationId xmlns:a16="http://schemas.microsoft.com/office/drawing/2014/main" id="{055CB72E-623E-9FB0-C36A-4D5FBFB7F1EB}"/>
              </a:ext>
            </a:extLst>
          </p:cNvPr>
          <p:cNvSpPr>
            <a:spLocks noChangeShapeType="1"/>
          </p:cNvSpPr>
          <p:nvPr/>
        </p:nvSpPr>
        <p:spPr bwMode="auto">
          <a:xfrm>
            <a:off x="3657600" y="5486400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8940" name="Line 28">
            <a:extLst>
              <a:ext uri="{FF2B5EF4-FFF2-40B4-BE49-F238E27FC236}">
                <a16:creationId xmlns:a16="http://schemas.microsoft.com/office/drawing/2014/main" id="{A8EEDDB5-63A0-79FF-60F6-31C132E02088}"/>
              </a:ext>
            </a:extLst>
          </p:cNvPr>
          <p:cNvSpPr>
            <a:spLocks noChangeShapeType="1"/>
          </p:cNvSpPr>
          <p:nvPr/>
        </p:nvSpPr>
        <p:spPr bwMode="auto">
          <a:xfrm>
            <a:off x="5943600" y="4343400"/>
            <a:ext cx="0" cy="114300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8941" name="Line 29">
            <a:extLst>
              <a:ext uri="{FF2B5EF4-FFF2-40B4-BE49-F238E27FC236}">
                <a16:creationId xmlns:a16="http://schemas.microsoft.com/office/drawing/2014/main" id="{2C7ADBA7-0092-AF50-2CE6-F3D5C047659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867400" y="4343400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8942" name="Line 30">
            <a:extLst>
              <a:ext uri="{FF2B5EF4-FFF2-40B4-BE49-F238E27FC236}">
                <a16:creationId xmlns:a16="http://schemas.microsoft.com/office/drawing/2014/main" id="{4B1516E5-3A55-13A1-B9A3-3A16B3AF6CC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867400" y="5486400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8943" name="Rectangle 31">
            <a:extLst>
              <a:ext uri="{FF2B5EF4-FFF2-40B4-BE49-F238E27FC236}">
                <a16:creationId xmlns:a16="http://schemas.microsoft.com/office/drawing/2014/main" id="{766DEE59-530B-9568-9107-2AA56A0801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8788" y="5640388"/>
            <a:ext cx="8378825" cy="1108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lvl="4"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b="1">
                <a:latin typeface="Times New Roman" charset="0"/>
                <a:ea typeface="ＭＳ Ｐゴシック" charset="0"/>
              </a:rPr>
              <a:t> 		</a:t>
            </a:r>
            <a:r>
              <a:rPr lang="en-US">
                <a:latin typeface="Times New Roman" charset="0"/>
                <a:ea typeface="ＭＳ Ｐゴシック" charset="0"/>
              </a:rPr>
              <a:t>1     14    17      .</a:t>
            </a:r>
          </a:p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>
                <a:latin typeface="Times New Roman" charset="0"/>
                <a:ea typeface="ＭＳ Ｐゴシック" charset="0"/>
              </a:rPr>
              <a:t>SUM_PREFIX(A, MASK = M)  = 	1     14    25      .</a:t>
            </a:r>
          </a:p>
          <a:p>
            <a:pPr lvl="4"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>
                <a:latin typeface="Times New Roman" charset="0"/>
                <a:ea typeface="ＭＳ Ｐゴシック" charset="0"/>
              </a:rPr>
              <a:t> 		12   14    38</a:t>
            </a:r>
          </a:p>
        </p:txBody>
      </p:sp>
      <p:sp>
        <p:nvSpPr>
          <p:cNvPr id="38944" name="Line 32">
            <a:extLst>
              <a:ext uri="{FF2B5EF4-FFF2-40B4-BE49-F238E27FC236}">
                <a16:creationId xmlns:a16="http://schemas.microsoft.com/office/drawing/2014/main" id="{A7A2492A-5106-97AD-B982-4A89A0E7A405}"/>
              </a:ext>
            </a:extLst>
          </p:cNvPr>
          <p:cNvSpPr>
            <a:spLocks noChangeShapeType="1"/>
          </p:cNvSpPr>
          <p:nvPr/>
        </p:nvSpPr>
        <p:spPr bwMode="auto">
          <a:xfrm>
            <a:off x="5943600" y="5638800"/>
            <a:ext cx="0" cy="114300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8945" name="Line 33">
            <a:extLst>
              <a:ext uri="{FF2B5EF4-FFF2-40B4-BE49-F238E27FC236}">
                <a16:creationId xmlns:a16="http://schemas.microsoft.com/office/drawing/2014/main" id="{C6ECA6B2-7FCA-A678-CBAD-9C0FC07EAF5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867400" y="5638800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8946" name="Line 34">
            <a:extLst>
              <a:ext uri="{FF2B5EF4-FFF2-40B4-BE49-F238E27FC236}">
                <a16:creationId xmlns:a16="http://schemas.microsoft.com/office/drawing/2014/main" id="{6A09990E-C996-DE0F-3243-67EC1714D72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867400" y="6781800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8947" name="Line 35">
            <a:extLst>
              <a:ext uri="{FF2B5EF4-FFF2-40B4-BE49-F238E27FC236}">
                <a16:creationId xmlns:a16="http://schemas.microsoft.com/office/drawing/2014/main" id="{E64BE671-27B6-5FDB-6A3C-A427AB20B621}"/>
              </a:ext>
            </a:extLst>
          </p:cNvPr>
          <p:cNvSpPr>
            <a:spLocks noChangeShapeType="1"/>
          </p:cNvSpPr>
          <p:nvPr/>
        </p:nvSpPr>
        <p:spPr bwMode="auto">
          <a:xfrm>
            <a:off x="4114800" y="5638800"/>
            <a:ext cx="0" cy="114300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8948" name="Line 36">
            <a:extLst>
              <a:ext uri="{FF2B5EF4-FFF2-40B4-BE49-F238E27FC236}">
                <a16:creationId xmlns:a16="http://schemas.microsoft.com/office/drawing/2014/main" id="{75DE4626-C428-2DFF-894D-F8877122FD90}"/>
              </a:ext>
            </a:extLst>
          </p:cNvPr>
          <p:cNvSpPr>
            <a:spLocks noChangeShapeType="1"/>
          </p:cNvSpPr>
          <p:nvPr/>
        </p:nvSpPr>
        <p:spPr bwMode="auto">
          <a:xfrm>
            <a:off x="4114800" y="5638800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8949" name="Line 37">
            <a:extLst>
              <a:ext uri="{FF2B5EF4-FFF2-40B4-BE49-F238E27FC236}">
                <a16:creationId xmlns:a16="http://schemas.microsoft.com/office/drawing/2014/main" id="{6D44BCFB-8311-D7BB-A0F1-AB74835E70DE}"/>
              </a:ext>
            </a:extLst>
          </p:cNvPr>
          <p:cNvSpPr>
            <a:spLocks noChangeShapeType="1"/>
          </p:cNvSpPr>
          <p:nvPr/>
        </p:nvSpPr>
        <p:spPr bwMode="auto">
          <a:xfrm>
            <a:off x="4114800" y="6781800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</p:spTree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>
            <a:extLst>
              <a:ext uri="{FF2B5EF4-FFF2-40B4-BE49-F238E27FC236}">
                <a16:creationId xmlns:a16="http://schemas.microsoft.com/office/drawing/2014/main" id="{C239D224-7DFF-2302-6F31-FC8663D2410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extLs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90488" tIns="44450" rIns="90488" bIns="44450"/>
          <a:lstStyle/>
          <a:p>
            <a:pPr eaLnBrk="1" hangingPunct="1">
              <a:defRPr/>
            </a:pPr>
            <a:r>
              <a:rPr lang="en-US"/>
              <a:t>More HPF</a:t>
            </a:r>
            <a:br>
              <a:rPr lang="en-US"/>
            </a:br>
            <a:r>
              <a:rPr lang="en-US" sz="4000" b="1">
                <a:solidFill>
                  <a:schemeClr val="hlink"/>
                </a:solidFill>
              </a:rPr>
              <a:t>Segmented</a:t>
            </a:r>
          </a:p>
        </p:txBody>
      </p:sp>
      <p:sp>
        <p:nvSpPr>
          <p:cNvPr id="39939" name="Rectangle 3">
            <a:extLst>
              <a:ext uri="{FF2B5EF4-FFF2-40B4-BE49-F238E27FC236}">
                <a16:creationId xmlns:a16="http://schemas.microsoft.com/office/drawing/2014/main" id="{342E7A5A-9F3C-54DE-9882-C7EF9FFB7CA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90600" y="2133600"/>
            <a:ext cx="7162800" cy="4114800"/>
          </a:xfrm>
          <a:extLs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90488" tIns="44450" rIns="90488" bIns="44450"/>
          <a:lstStyle/>
          <a:p>
            <a:pPr marL="285750" indent="-285750" eaLnBrk="1" hangingPunct="1">
              <a:lnSpc>
                <a:spcPct val="90000"/>
              </a:lnSpc>
              <a:buFontTx/>
              <a:buNone/>
              <a:defRPr/>
            </a:pPr>
            <a:r>
              <a:rPr lang="en-US" sz="2000"/>
              <a:t>       	</a:t>
            </a:r>
            <a:r>
              <a:rPr lang="en-US" sz="2000" b="1"/>
              <a:t>1     2     3     4     5</a:t>
            </a:r>
          </a:p>
          <a:p>
            <a:pPr marL="285750" indent="-285750" eaLnBrk="1" hangingPunct="1">
              <a:lnSpc>
                <a:spcPct val="90000"/>
              </a:lnSpc>
              <a:buFontTx/>
              <a:buNone/>
              <a:defRPr/>
            </a:pPr>
            <a:r>
              <a:rPr lang="en-US" sz="2000" b="1"/>
              <a:t>A =    	6     7     8     9    10</a:t>
            </a:r>
          </a:p>
          <a:p>
            <a:pPr marL="285750" indent="-285750" eaLnBrk="1" hangingPunct="1">
              <a:lnSpc>
                <a:spcPct val="90000"/>
              </a:lnSpc>
              <a:buFontTx/>
              <a:buNone/>
              <a:defRPr/>
            </a:pPr>
            <a:r>
              <a:rPr lang="en-US" sz="2000" b="1"/>
              <a:t> 		11  12   13   14   15</a:t>
            </a:r>
          </a:p>
          <a:p>
            <a:pPr marL="285750" indent="-285750" eaLnBrk="1" hangingPunct="1">
              <a:lnSpc>
                <a:spcPct val="90000"/>
              </a:lnSpc>
              <a:buFontTx/>
              <a:buNone/>
              <a:defRPr/>
            </a:pPr>
            <a:endParaRPr lang="en-US" sz="2000" b="1"/>
          </a:p>
          <a:p>
            <a:pPr marL="285750" indent="-285750" eaLnBrk="1" hangingPunct="1">
              <a:lnSpc>
                <a:spcPct val="90000"/>
              </a:lnSpc>
              <a:buFontTx/>
              <a:buNone/>
              <a:defRPr/>
            </a:pPr>
            <a:r>
              <a:rPr lang="en-US" sz="2000" b="1"/>
              <a:t> 		T    T     F    F    F</a:t>
            </a:r>
          </a:p>
          <a:p>
            <a:pPr marL="285750" indent="-285750" eaLnBrk="1" hangingPunct="1">
              <a:lnSpc>
                <a:spcPct val="90000"/>
              </a:lnSpc>
              <a:buFontTx/>
              <a:buNone/>
              <a:defRPr/>
            </a:pPr>
            <a:r>
              <a:rPr lang="en-US" sz="2000" b="1"/>
              <a:t>S = 	F     T    T    F    F</a:t>
            </a:r>
          </a:p>
          <a:p>
            <a:pPr marL="285750" indent="-285750" eaLnBrk="1" hangingPunct="1">
              <a:lnSpc>
                <a:spcPct val="90000"/>
              </a:lnSpc>
              <a:buFontTx/>
              <a:buNone/>
              <a:defRPr/>
            </a:pPr>
            <a:r>
              <a:rPr lang="en-US" sz="2000" b="1"/>
              <a:t> 		T    T    T    T    T</a:t>
            </a:r>
          </a:p>
          <a:p>
            <a:pPr marL="285750" indent="-285750" eaLnBrk="1" hangingPunct="1">
              <a:lnSpc>
                <a:spcPct val="90000"/>
              </a:lnSpc>
              <a:buFontTx/>
              <a:buNone/>
              <a:defRPr/>
            </a:pPr>
            <a:endParaRPr lang="en-US" sz="2000" b="1"/>
          </a:p>
          <a:p>
            <a:pPr marL="285750" indent="-285750" eaLnBrk="1" hangingPunct="1">
              <a:lnSpc>
                <a:spcPct val="90000"/>
              </a:lnSpc>
              <a:buFontTx/>
              <a:buNone/>
              <a:defRPr/>
            </a:pPr>
            <a:r>
              <a:rPr lang="en-US" sz="2000" b="1"/>
              <a:t>Sum_Prefix (A, SEGMENTS = S)</a:t>
            </a:r>
          </a:p>
          <a:p>
            <a:pPr marL="285750" indent="-285750" eaLnBrk="1" hangingPunct="1">
              <a:lnSpc>
                <a:spcPct val="90000"/>
              </a:lnSpc>
              <a:buFontTx/>
              <a:buNone/>
              <a:defRPr/>
            </a:pPr>
            <a:r>
              <a:rPr lang="en-US" sz="2000" b="1"/>
              <a:t> 			1     13    3</a:t>
            </a:r>
          </a:p>
          <a:p>
            <a:pPr marL="285750" indent="-285750" eaLnBrk="1" hangingPunct="1">
              <a:lnSpc>
                <a:spcPct val="90000"/>
              </a:lnSpc>
              <a:buFontTx/>
              <a:buNone/>
              <a:defRPr/>
            </a:pPr>
            <a:r>
              <a:rPr lang="en-US" sz="2000" b="1"/>
              <a:t> 			6     20</a:t>
            </a:r>
          </a:p>
          <a:p>
            <a:pPr marL="285750" indent="-285750" eaLnBrk="1" hangingPunct="1">
              <a:lnSpc>
                <a:spcPct val="90000"/>
              </a:lnSpc>
              <a:buFontTx/>
              <a:buNone/>
              <a:defRPr/>
            </a:pPr>
            <a:r>
              <a:rPr lang="en-US" sz="2000" b="1"/>
              <a:t> 			11   32</a:t>
            </a:r>
          </a:p>
        </p:txBody>
      </p:sp>
      <p:sp>
        <p:nvSpPr>
          <p:cNvPr id="39940" name="Line 4">
            <a:extLst>
              <a:ext uri="{FF2B5EF4-FFF2-40B4-BE49-F238E27FC236}">
                <a16:creationId xmlns:a16="http://schemas.microsoft.com/office/drawing/2014/main" id="{7F9A7690-D799-3ED7-D141-06A41F482510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0" y="2057400"/>
            <a:ext cx="0" cy="114300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9941" name="Line 5">
            <a:extLst>
              <a:ext uri="{FF2B5EF4-FFF2-40B4-BE49-F238E27FC236}">
                <a16:creationId xmlns:a16="http://schemas.microsoft.com/office/drawing/2014/main" id="{1820E8D6-2938-F12A-E8EF-F934B368F6A3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0" y="2057400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9942" name="Line 6">
            <a:extLst>
              <a:ext uri="{FF2B5EF4-FFF2-40B4-BE49-F238E27FC236}">
                <a16:creationId xmlns:a16="http://schemas.microsoft.com/office/drawing/2014/main" id="{1C594CE7-A231-F649-45DB-CDF153B51C18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0" y="3200400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9943" name="Line 7">
            <a:extLst>
              <a:ext uri="{FF2B5EF4-FFF2-40B4-BE49-F238E27FC236}">
                <a16:creationId xmlns:a16="http://schemas.microsoft.com/office/drawing/2014/main" id="{25E9FA6F-A1F5-6DFF-642E-84076B39D941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0" y="3429000"/>
            <a:ext cx="0" cy="114300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9944" name="Line 8">
            <a:extLst>
              <a:ext uri="{FF2B5EF4-FFF2-40B4-BE49-F238E27FC236}">
                <a16:creationId xmlns:a16="http://schemas.microsoft.com/office/drawing/2014/main" id="{CF407263-4008-60FE-C562-2A6F0DCBCBC4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0" y="3429000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9945" name="Line 9">
            <a:extLst>
              <a:ext uri="{FF2B5EF4-FFF2-40B4-BE49-F238E27FC236}">
                <a16:creationId xmlns:a16="http://schemas.microsoft.com/office/drawing/2014/main" id="{AD6B1E15-B895-34DE-D2FF-39C70E3D096B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0" y="4572000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9946" name="Line 10">
            <a:extLst>
              <a:ext uri="{FF2B5EF4-FFF2-40B4-BE49-F238E27FC236}">
                <a16:creationId xmlns:a16="http://schemas.microsoft.com/office/drawing/2014/main" id="{BDB011A7-C17C-0DE0-76D0-5016CAEA1BA1}"/>
              </a:ext>
            </a:extLst>
          </p:cNvPr>
          <p:cNvSpPr>
            <a:spLocks noChangeShapeType="1"/>
          </p:cNvSpPr>
          <p:nvPr/>
        </p:nvSpPr>
        <p:spPr bwMode="auto">
          <a:xfrm>
            <a:off x="2819400" y="5105400"/>
            <a:ext cx="0" cy="114300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9947" name="Line 11">
            <a:extLst>
              <a:ext uri="{FF2B5EF4-FFF2-40B4-BE49-F238E27FC236}">
                <a16:creationId xmlns:a16="http://schemas.microsoft.com/office/drawing/2014/main" id="{DADB10E6-2AEE-C901-DEAE-4F6A91C6B09C}"/>
              </a:ext>
            </a:extLst>
          </p:cNvPr>
          <p:cNvSpPr>
            <a:spLocks noChangeShapeType="1"/>
          </p:cNvSpPr>
          <p:nvPr/>
        </p:nvSpPr>
        <p:spPr bwMode="auto">
          <a:xfrm>
            <a:off x="2819400" y="5105400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9948" name="Line 12">
            <a:extLst>
              <a:ext uri="{FF2B5EF4-FFF2-40B4-BE49-F238E27FC236}">
                <a16:creationId xmlns:a16="http://schemas.microsoft.com/office/drawing/2014/main" id="{287A6E8C-DE54-63F1-2ADD-455B04D0B9A0}"/>
              </a:ext>
            </a:extLst>
          </p:cNvPr>
          <p:cNvSpPr>
            <a:spLocks noChangeShapeType="1"/>
          </p:cNvSpPr>
          <p:nvPr/>
        </p:nvSpPr>
        <p:spPr bwMode="auto">
          <a:xfrm>
            <a:off x="2819400" y="6248400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9949" name="Line 13">
            <a:extLst>
              <a:ext uri="{FF2B5EF4-FFF2-40B4-BE49-F238E27FC236}">
                <a16:creationId xmlns:a16="http://schemas.microsoft.com/office/drawing/2014/main" id="{DAAF5C02-596C-7BC8-1AD0-872B2417E57B}"/>
              </a:ext>
            </a:extLst>
          </p:cNvPr>
          <p:cNvSpPr>
            <a:spLocks noChangeShapeType="1"/>
          </p:cNvSpPr>
          <p:nvPr/>
        </p:nvSpPr>
        <p:spPr bwMode="auto">
          <a:xfrm>
            <a:off x="3962400" y="2057400"/>
            <a:ext cx="0" cy="114300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9950" name="Line 14">
            <a:extLst>
              <a:ext uri="{FF2B5EF4-FFF2-40B4-BE49-F238E27FC236}">
                <a16:creationId xmlns:a16="http://schemas.microsoft.com/office/drawing/2014/main" id="{3741CD32-E12E-3131-4FBE-7941F0F4EB0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886200" y="2057400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9951" name="Line 15">
            <a:extLst>
              <a:ext uri="{FF2B5EF4-FFF2-40B4-BE49-F238E27FC236}">
                <a16:creationId xmlns:a16="http://schemas.microsoft.com/office/drawing/2014/main" id="{6C36A196-8699-2513-8E14-0953880BF54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886200" y="3200400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9952" name="Line 16">
            <a:extLst>
              <a:ext uri="{FF2B5EF4-FFF2-40B4-BE49-F238E27FC236}">
                <a16:creationId xmlns:a16="http://schemas.microsoft.com/office/drawing/2014/main" id="{F09E49F5-B615-BBE5-BAFE-B1F9F81E6346}"/>
              </a:ext>
            </a:extLst>
          </p:cNvPr>
          <p:cNvSpPr>
            <a:spLocks noChangeShapeType="1"/>
          </p:cNvSpPr>
          <p:nvPr/>
        </p:nvSpPr>
        <p:spPr bwMode="auto">
          <a:xfrm>
            <a:off x="3962400" y="3429000"/>
            <a:ext cx="0" cy="114300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9953" name="Line 17">
            <a:extLst>
              <a:ext uri="{FF2B5EF4-FFF2-40B4-BE49-F238E27FC236}">
                <a16:creationId xmlns:a16="http://schemas.microsoft.com/office/drawing/2014/main" id="{38BBBCE1-F74D-6810-44CD-5C6C1FF577D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886200" y="3429000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9954" name="Line 18">
            <a:extLst>
              <a:ext uri="{FF2B5EF4-FFF2-40B4-BE49-F238E27FC236}">
                <a16:creationId xmlns:a16="http://schemas.microsoft.com/office/drawing/2014/main" id="{3A413790-E9B2-8D5D-9E17-6B57F9855DB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886200" y="4572000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9955" name="Line 19">
            <a:extLst>
              <a:ext uri="{FF2B5EF4-FFF2-40B4-BE49-F238E27FC236}">
                <a16:creationId xmlns:a16="http://schemas.microsoft.com/office/drawing/2014/main" id="{D6EEFE03-D712-2D4C-A222-DF348C622E4C}"/>
              </a:ext>
            </a:extLst>
          </p:cNvPr>
          <p:cNvSpPr>
            <a:spLocks noChangeShapeType="1"/>
          </p:cNvSpPr>
          <p:nvPr/>
        </p:nvSpPr>
        <p:spPr bwMode="auto">
          <a:xfrm>
            <a:off x="5181600" y="5105400"/>
            <a:ext cx="0" cy="114300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9956" name="Line 20">
            <a:extLst>
              <a:ext uri="{FF2B5EF4-FFF2-40B4-BE49-F238E27FC236}">
                <a16:creationId xmlns:a16="http://schemas.microsoft.com/office/drawing/2014/main" id="{690FFB73-DA1B-3F01-7CCE-794826614B3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105400" y="5105400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9957" name="Line 21">
            <a:extLst>
              <a:ext uri="{FF2B5EF4-FFF2-40B4-BE49-F238E27FC236}">
                <a16:creationId xmlns:a16="http://schemas.microsoft.com/office/drawing/2014/main" id="{33828389-28F8-7C1C-5A70-D0A10D4AC47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105400" y="6248400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39958" name="Rectangle 22">
            <a:extLst>
              <a:ext uri="{FF2B5EF4-FFF2-40B4-BE49-F238E27FC236}">
                <a16:creationId xmlns:a16="http://schemas.microsoft.com/office/drawing/2014/main" id="{D7F3F3E3-02DF-62A1-8422-59935A5F1F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2038" y="3119438"/>
            <a:ext cx="3819525" cy="430212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 b="1">
                <a:latin typeface="Times New Roman" charset="0"/>
                <a:ea typeface="ＭＳ Ｐゴシック" charset="0"/>
              </a:rPr>
              <a:t>T   T  | F |  T   T |  F   F</a:t>
            </a:r>
          </a:p>
        </p:txBody>
      </p:sp>
    </p:spTree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>
            <a:extLst>
              <a:ext uri="{FF2B5EF4-FFF2-40B4-BE49-F238E27FC236}">
                <a16:creationId xmlns:a16="http://schemas.microsoft.com/office/drawing/2014/main" id="{9A7433F5-3ACF-FD33-F2D9-ABE4EB27F02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04800" y="1295400"/>
            <a:ext cx="8686800" cy="4267200"/>
          </a:xfrm>
          <a:extLs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90488" tIns="44450" rIns="90488" bIns="44450"/>
          <a:lstStyle/>
          <a:p>
            <a:pPr marL="285750" indent="-285750" eaLnBrk="1" hangingPunct="1">
              <a:lnSpc>
                <a:spcPct val="90000"/>
              </a:lnSpc>
              <a:buFontTx/>
              <a:buNone/>
              <a:defRPr/>
            </a:pPr>
            <a:endParaRPr lang="en-US" sz="2800"/>
          </a:p>
          <a:p>
            <a:pPr marL="285750" indent="-285750" eaLnBrk="1" hangingPunct="1">
              <a:lnSpc>
                <a:spcPct val="90000"/>
              </a:lnSpc>
              <a:buFontTx/>
              <a:buNone/>
              <a:defRPr/>
            </a:pPr>
            <a:r>
              <a:rPr lang="en-US" sz="3600"/>
              <a:t>A =	1	2	3	4	5</a:t>
            </a:r>
          </a:p>
          <a:p>
            <a:pPr marL="285750" indent="-285750" eaLnBrk="1" hangingPunct="1">
              <a:lnSpc>
                <a:spcPct val="90000"/>
              </a:lnSpc>
              <a:buFontTx/>
              <a:buNone/>
              <a:defRPr/>
            </a:pPr>
            <a:endParaRPr lang="en-US" sz="3600"/>
          </a:p>
          <a:p>
            <a:pPr marL="285750" indent="-285750" eaLnBrk="1" hangingPunct="1">
              <a:lnSpc>
                <a:spcPct val="90000"/>
              </a:lnSpc>
              <a:buFontTx/>
              <a:buNone/>
              <a:defRPr/>
            </a:pPr>
            <a:r>
              <a:rPr lang="en-US" sz="3600"/>
              <a:t>Sum_Prefix(A) 	1	3	6	10	15</a:t>
            </a:r>
          </a:p>
          <a:p>
            <a:pPr marL="285750" indent="-285750" eaLnBrk="1" hangingPunct="1">
              <a:lnSpc>
                <a:spcPct val="90000"/>
              </a:lnSpc>
              <a:buFontTx/>
              <a:buNone/>
              <a:defRPr/>
            </a:pPr>
            <a:endParaRPr lang="en-US" sz="3600"/>
          </a:p>
          <a:p>
            <a:pPr marL="285750" indent="-285750" eaLnBrk="1" hangingPunct="1">
              <a:lnSpc>
                <a:spcPct val="90000"/>
              </a:lnSpc>
              <a:buFontTx/>
              <a:buNone/>
              <a:defRPr/>
            </a:pPr>
            <a:r>
              <a:rPr lang="en-US" sz="3600"/>
              <a:t>Sum_Prefix(A, EXCLUSIVE = TRUE)	</a:t>
            </a:r>
          </a:p>
          <a:p>
            <a:pPr marL="285750" indent="-285750" eaLnBrk="1" hangingPunct="1">
              <a:lnSpc>
                <a:spcPct val="90000"/>
              </a:lnSpc>
              <a:buFontTx/>
              <a:buNone/>
              <a:defRPr/>
            </a:pPr>
            <a:r>
              <a:rPr lang="en-US" sz="3600"/>
              <a:t> 			0	1	3	6	10</a:t>
            </a:r>
          </a:p>
          <a:p>
            <a:pPr marL="285750" indent="-285750" eaLnBrk="1" hangingPunct="1">
              <a:lnSpc>
                <a:spcPct val="90000"/>
              </a:lnSpc>
              <a:buFontTx/>
              <a:buNone/>
              <a:defRPr/>
            </a:pPr>
            <a:endParaRPr lang="en-US" sz="3600"/>
          </a:p>
        </p:txBody>
      </p:sp>
      <p:sp>
        <p:nvSpPr>
          <p:cNvPr id="40963" name="Rectangle 3">
            <a:extLst>
              <a:ext uri="{FF2B5EF4-FFF2-40B4-BE49-F238E27FC236}">
                <a16:creationId xmlns:a16="http://schemas.microsoft.com/office/drawing/2014/main" id="{501BFFD2-BBB5-197E-8954-1C31FACD766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90600" y="304800"/>
            <a:ext cx="7162800" cy="1143000"/>
          </a:xfrm>
          <a:extLs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90488" tIns="44450" rIns="90488" bIns="44450"/>
          <a:lstStyle/>
          <a:p>
            <a:pPr eaLnBrk="1" hangingPunct="1">
              <a:defRPr/>
            </a:pPr>
            <a:r>
              <a:rPr lang="en-US" sz="5400">
                <a:solidFill>
                  <a:schemeClr val="accent2"/>
                </a:solidFill>
              </a:rPr>
              <a:t>Example of Exclusive</a:t>
            </a:r>
          </a:p>
        </p:txBody>
      </p:sp>
      <p:sp>
        <p:nvSpPr>
          <p:cNvPr id="40964" name="Line 4">
            <a:extLst>
              <a:ext uri="{FF2B5EF4-FFF2-40B4-BE49-F238E27FC236}">
                <a16:creationId xmlns:a16="http://schemas.microsoft.com/office/drawing/2014/main" id="{FFE7092C-4ED2-FBD4-390A-2995B2893ECC}"/>
              </a:ext>
            </a:extLst>
          </p:cNvPr>
          <p:cNvSpPr>
            <a:spLocks noChangeShapeType="1"/>
          </p:cNvSpPr>
          <p:nvPr/>
        </p:nvSpPr>
        <p:spPr bwMode="auto">
          <a:xfrm>
            <a:off x="1219200" y="1905000"/>
            <a:ext cx="0" cy="533400"/>
          </a:xfrm>
          <a:prstGeom prst="line">
            <a:avLst/>
          </a:prstGeom>
          <a:noFill/>
          <a:ln w="254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0965" name="Line 5">
            <a:extLst>
              <a:ext uri="{FF2B5EF4-FFF2-40B4-BE49-F238E27FC236}">
                <a16:creationId xmlns:a16="http://schemas.microsoft.com/office/drawing/2014/main" id="{6EF813F1-391A-64E5-D1DB-4BE48D590913}"/>
              </a:ext>
            </a:extLst>
          </p:cNvPr>
          <p:cNvSpPr>
            <a:spLocks noChangeShapeType="1"/>
          </p:cNvSpPr>
          <p:nvPr/>
        </p:nvSpPr>
        <p:spPr bwMode="auto">
          <a:xfrm>
            <a:off x="1219200" y="1905000"/>
            <a:ext cx="76200" cy="0"/>
          </a:xfrm>
          <a:prstGeom prst="line">
            <a:avLst/>
          </a:prstGeom>
          <a:noFill/>
          <a:ln w="254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0966" name="Line 6">
            <a:extLst>
              <a:ext uri="{FF2B5EF4-FFF2-40B4-BE49-F238E27FC236}">
                <a16:creationId xmlns:a16="http://schemas.microsoft.com/office/drawing/2014/main" id="{6AA49314-00E1-9FDE-B49D-FB1CDDAD51CC}"/>
              </a:ext>
            </a:extLst>
          </p:cNvPr>
          <p:cNvSpPr>
            <a:spLocks noChangeShapeType="1"/>
          </p:cNvSpPr>
          <p:nvPr/>
        </p:nvSpPr>
        <p:spPr bwMode="auto">
          <a:xfrm>
            <a:off x="1219200" y="2438400"/>
            <a:ext cx="76200" cy="0"/>
          </a:xfrm>
          <a:prstGeom prst="line">
            <a:avLst/>
          </a:prstGeom>
          <a:noFill/>
          <a:ln w="254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0967" name="Line 7">
            <a:extLst>
              <a:ext uri="{FF2B5EF4-FFF2-40B4-BE49-F238E27FC236}">
                <a16:creationId xmlns:a16="http://schemas.microsoft.com/office/drawing/2014/main" id="{BFC121E7-8E89-64A1-08EE-DAFE79E858B1}"/>
              </a:ext>
            </a:extLst>
          </p:cNvPr>
          <p:cNvSpPr>
            <a:spLocks noChangeShapeType="1"/>
          </p:cNvSpPr>
          <p:nvPr/>
        </p:nvSpPr>
        <p:spPr bwMode="auto">
          <a:xfrm>
            <a:off x="3962400" y="3048000"/>
            <a:ext cx="0" cy="533400"/>
          </a:xfrm>
          <a:prstGeom prst="line">
            <a:avLst/>
          </a:prstGeom>
          <a:noFill/>
          <a:ln w="254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0968" name="Line 8">
            <a:extLst>
              <a:ext uri="{FF2B5EF4-FFF2-40B4-BE49-F238E27FC236}">
                <a16:creationId xmlns:a16="http://schemas.microsoft.com/office/drawing/2014/main" id="{D7A0B73A-B84B-CE5B-2B91-383C48A895FB}"/>
              </a:ext>
            </a:extLst>
          </p:cNvPr>
          <p:cNvSpPr>
            <a:spLocks noChangeShapeType="1"/>
          </p:cNvSpPr>
          <p:nvPr/>
        </p:nvSpPr>
        <p:spPr bwMode="auto">
          <a:xfrm>
            <a:off x="3962400" y="3048000"/>
            <a:ext cx="76200" cy="0"/>
          </a:xfrm>
          <a:prstGeom prst="line">
            <a:avLst/>
          </a:prstGeom>
          <a:noFill/>
          <a:ln w="254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0969" name="Line 9">
            <a:extLst>
              <a:ext uri="{FF2B5EF4-FFF2-40B4-BE49-F238E27FC236}">
                <a16:creationId xmlns:a16="http://schemas.microsoft.com/office/drawing/2014/main" id="{DC5DA8E5-9AA9-3CBC-FCBD-07025EC35C8D}"/>
              </a:ext>
            </a:extLst>
          </p:cNvPr>
          <p:cNvSpPr>
            <a:spLocks noChangeShapeType="1"/>
          </p:cNvSpPr>
          <p:nvPr/>
        </p:nvSpPr>
        <p:spPr bwMode="auto">
          <a:xfrm>
            <a:off x="3962400" y="3581400"/>
            <a:ext cx="76200" cy="0"/>
          </a:xfrm>
          <a:prstGeom prst="line">
            <a:avLst/>
          </a:prstGeom>
          <a:noFill/>
          <a:ln w="254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0970" name="Line 10">
            <a:extLst>
              <a:ext uri="{FF2B5EF4-FFF2-40B4-BE49-F238E27FC236}">
                <a16:creationId xmlns:a16="http://schemas.microsoft.com/office/drawing/2014/main" id="{6768070F-47DB-DC1E-14C2-782E980E2219}"/>
              </a:ext>
            </a:extLst>
          </p:cNvPr>
          <p:cNvSpPr>
            <a:spLocks noChangeShapeType="1"/>
          </p:cNvSpPr>
          <p:nvPr/>
        </p:nvSpPr>
        <p:spPr bwMode="auto">
          <a:xfrm>
            <a:off x="2057400" y="4800600"/>
            <a:ext cx="0" cy="533400"/>
          </a:xfrm>
          <a:prstGeom prst="line">
            <a:avLst/>
          </a:prstGeom>
          <a:noFill/>
          <a:ln w="254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0971" name="Line 11">
            <a:extLst>
              <a:ext uri="{FF2B5EF4-FFF2-40B4-BE49-F238E27FC236}">
                <a16:creationId xmlns:a16="http://schemas.microsoft.com/office/drawing/2014/main" id="{0902480B-3489-E515-EF4D-44A256830204}"/>
              </a:ext>
            </a:extLst>
          </p:cNvPr>
          <p:cNvSpPr>
            <a:spLocks noChangeShapeType="1"/>
          </p:cNvSpPr>
          <p:nvPr/>
        </p:nvSpPr>
        <p:spPr bwMode="auto">
          <a:xfrm>
            <a:off x="2057400" y="4800600"/>
            <a:ext cx="76200" cy="0"/>
          </a:xfrm>
          <a:prstGeom prst="line">
            <a:avLst/>
          </a:prstGeom>
          <a:noFill/>
          <a:ln w="254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0972" name="Line 12">
            <a:extLst>
              <a:ext uri="{FF2B5EF4-FFF2-40B4-BE49-F238E27FC236}">
                <a16:creationId xmlns:a16="http://schemas.microsoft.com/office/drawing/2014/main" id="{A3FF4FE4-D837-EBD5-BC89-A2A01BF56EC8}"/>
              </a:ext>
            </a:extLst>
          </p:cNvPr>
          <p:cNvSpPr>
            <a:spLocks noChangeShapeType="1"/>
          </p:cNvSpPr>
          <p:nvPr/>
        </p:nvSpPr>
        <p:spPr bwMode="auto">
          <a:xfrm>
            <a:off x="2057400" y="5334000"/>
            <a:ext cx="76200" cy="0"/>
          </a:xfrm>
          <a:prstGeom prst="line">
            <a:avLst/>
          </a:prstGeom>
          <a:noFill/>
          <a:ln w="254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0973" name="Line 13">
            <a:extLst>
              <a:ext uri="{FF2B5EF4-FFF2-40B4-BE49-F238E27FC236}">
                <a16:creationId xmlns:a16="http://schemas.microsoft.com/office/drawing/2014/main" id="{EADB2048-71B3-6A0A-63C2-843C0F641A3C}"/>
              </a:ext>
            </a:extLst>
          </p:cNvPr>
          <p:cNvSpPr>
            <a:spLocks noChangeShapeType="1"/>
          </p:cNvSpPr>
          <p:nvPr/>
        </p:nvSpPr>
        <p:spPr bwMode="auto">
          <a:xfrm>
            <a:off x="6400800" y="4800600"/>
            <a:ext cx="0" cy="533400"/>
          </a:xfrm>
          <a:prstGeom prst="line">
            <a:avLst/>
          </a:prstGeom>
          <a:noFill/>
          <a:ln w="254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0974" name="Line 14">
            <a:extLst>
              <a:ext uri="{FF2B5EF4-FFF2-40B4-BE49-F238E27FC236}">
                <a16:creationId xmlns:a16="http://schemas.microsoft.com/office/drawing/2014/main" id="{CC0A5B3C-5F68-20FF-D85D-4445AC02ADE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324600" y="4800600"/>
            <a:ext cx="76200" cy="0"/>
          </a:xfrm>
          <a:prstGeom prst="line">
            <a:avLst/>
          </a:prstGeom>
          <a:noFill/>
          <a:ln w="254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0975" name="Line 15">
            <a:extLst>
              <a:ext uri="{FF2B5EF4-FFF2-40B4-BE49-F238E27FC236}">
                <a16:creationId xmlns:a16="http://schemas.microsoft.com/office/drawing/2014/main" id="{921DB2C8-F9D9-9D6F-A993-DC83D8FF5C3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324600" y="5334000"/>
            <a:ext cx="76200" cy="0"/>
          </a:xfrm>
          <a:prstGeom prst="line">
            <a:avLst/>
          </a:prstGeom>
          <a:noFill/>
          <a:ln w="254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0976" name="Line 16">
            <a:extLst>
              <a:ext uri="{FF2B5EF4-FFF2-40B4-BE49-F238E27FC236}">
                <a16:creationId xmlns:a16="http://schemas.microsoft.com/office/drawing/2014/main" id="{FAF07D09-588B-AF08-232C-3ECD2C73B346}"/>
              </a:ext>
            </a:extLst>
          </p:cNvPr>
          <p:cNvSpPr>
            <a:spLocks noChangeShapeType="1"/>
          </p:cNvSpPr>
          <p:nvPr/>
        </p:nvSpPr>
        <p:spPr bwMode="auto">
          <a:xfrm>
            <a:off x="8229600" y="3048000"/>
            <a:ext cx="0" cy="533400"/>
          </a:xfrm>
          <a:prstGeom prst="line">
            <a:avLst/>
          </a:prstGeom>
          <a:noFill/>
          <a:ln w="254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0977" name="Line 17">
            <a:extLst>
              <a:ext uri="{FF2B5EF4-FFF2-40B4-BE49-F238E27FC236}">
                <a16:creationId xmlns:a16="http://schemas.microsoft.com/office/drawing/2014/main" id="{2670D23A-6D9F-5FA8-C43C-540808C6EAF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153400" y="3048000"/>
            <a:ext cx="76200" cy="0"/>
          </a:xfrm>
          <a:prstGeom prst="line">
            <a:avLst/>
          </a:prstGeom>
          <a:noFill/>
          <a:ln w="254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0978" name="Line 18">
            <a:extLst>
              <a:ext uri="{FF2B5EF4-FFF2-40B4-BE49-F238E27FC236}">
                <a16:creationId xmlns:a16="http://schemas.microsoft.com/office/drawing/2014/main" id="{0592E790-5AEE-0D74-A768-B56587A13C0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153400" y="3581400"/>
            <a:ext cx="76200" cy="0"/>
          </a:xfrm>
          <a:prstGeom prst="line">
            <a:avLst/>
          </a:prstGeom>
          <a:noFill/>
          <a:ln w="254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0979" name="Line 19">
            <a:extLst>
              <a:ext uri="{FF2B5EF4-FFF2-40B4-BE49-F238E27FC236}">
                <a16:creationId xmlns:a16="http://schemas.microsoft.com/office/drawing/2014/main" id="{524E0C30-4794-A7CA-849B-D06BD50F6B41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1905000"/>
            <a:ext cx="0" cy="533400"/>
          </a:xfrm>
          <a:prstGeom prst="line">
            <a:avLst/>
          </a:prstGeom>
          <a:noFill/>
          <a:ln w="254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0980" name="Line 20">
            <a:extLst>
              <a:ext uri="{FF2B5EF4-FFF2-40B4-BE49-F238E27FC236}">
                <a16:creationId xmlns:a16="http://schemas.microsoft.com/office/drawing/2014/main" id="{5EBC8115-80CE-500C-0A64-8A8F1825DEE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181600" y="1905000"/>
            <a:ext cx="76200" cy="0"/>
          </a:xfrm>
          <a:prstGeom prst="line">
            <a:avLst/>
          </a:prstGeom>
          <a:noFill/>
          <a:ln w="254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0981" name="Line 21">
            <a:extLst>
              <a:ext uri="{FF2B5EF4-FFF2-40B4-BE49-F238E27FC236}">
                <a16:creationId xmlns:a16="http://schemas.microsoft.com/office/drawing/2014/main" id="{29769380-B6CA-B8D9-0E1D-CBCCFB62E9E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181600" y="2438400"/>
            <a:ext cx="76200" cy="0"/>
          </a:xfrm>
          <a:prstGeom prst="line">
            <a:avLst/>
          </a:prstGeom>
          <a:noFill/>
          <a:ln w="254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0982" name="Text Box 22">
            <a:extLst>
              <a:ext uri="{FF2B5EF4-FFF2-40B4-BE49-F238E27FC236}">
                <a16:creationId xmlns:a16="http://schemas.microsoft.com/office/drawing/2014/main" id="{5FBCCC9F-450A-9118-7EF6-6477F7DA5F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6125" y="5984875"/>
            <a:ext cx="4116388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>
                <a:latin typeface="Times New Roman" panose="02020603050405020304" pitchFamily="18" charset="0"/>
              </a:rPr>
              <a:t>(Exclusive: Don</a:t>
            </a:r>
            <a:r>
              <a:rPr lang="ja-JP" altLang="en-US"/>
              <a:t>’</a:t>
            </a:r>
            <a:r>
              <a:rPr lang="en-US" altLang="ja-JP">
                <a:latin typeface="Times New Roman" panose="02020603050405020304" pitchFamily="18" charset="0"/>
              </a:rPr>
              <a:t>t count myself)</a:t>
            </a:r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679516D6-1B6F-991A-C553-EDC508A9217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0"/>
            <a:ext cx="7772400" cy="1143000"/>
          </a:xfrm>
          <a:noFill/>
          <a:effectLst>
            <a:outerShdw blurRad="63500" dist="35921" dir="2700000" algn="ctr" rotWithShape="0">
              <a:srgbClr val="000000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90488" tIns="44450" rIns="90488" bIns="44450"/>
          <a:lstStyle/>
          <a:p>
            <a:pPr eaLnBrk="1" hangingPunct="1">
              <a:defRPr/>
            </a:pPr>
            <a:r>
              <a:rPr lang="en-US"/>
              <a:t>Parallel Prefix</a:t>
            </a:r>
          </a:p>
        </p:txBody>
      </p:sp>
      <p:sp>
        <p:nvSpPr>
          <p:cNvPr id="41987" name="Rectangle 3">
            <a:extLst>
              <a:ext uri="{FF2B5EF4-FFF2-40B4-BE49-F238E27FC236}">
                <a16:creationId xmlns:a16="http://schemas.microsoft.com/office/drawing/2014/main" id="{E5E82FBE-81CF-F34D-AF48-86E595ADA7B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5575" y="1619250"/>
            <a:ext cx="8858250" cy="5499100"/>
          </a:xfrm>
          <a:extLst>
            <a:ext uri="{91240B29-F687-4f45-9708-019B960494DF}">
              <a14:hiddenLine xmlns:a14="http://schemas.microsoft.com/office/drawing/2010/main" xmlns="" w="508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90488" tIns="44450" rIns="90488" bIns="44450">
            <a:spAutoFit/>
          </a:bodyPr>
          <a:lstStyle/>
          <a:p>
            <a:pPr eaLnBrk="1" hangingPunct="1">
              <a:lnSpc>
                <a:spcPct val="65000"/>
              </a:lnSpc>
              <a:buFontTx/>
              <a:buNone/>
            </a:pPr>
            <a:r>
              <a:rPr lang="en-US" altLang="en-US" sz="2800"/>
              <a:t>      1  2  3  4   5  6    7  8</a:t>
            </a:r>
          </a:p>
          <a:p>
            <a:pPr eaLnBrk="1" hangingPunct="1">
              <a:lnSpc>
                <a:spcPct val="65000"/>
              </a:lnSpc>
              <a:buFontTx/>
              <a:buNone/>
            </a:pPr>
            <a:r>
              <a:rPr lang="en-US" altLang="en-US" sz="2800"/>
              <a:t>                                             Pairwise sums</a:t>
            </a:r>
          </a:p>
          <a:p>
            <a:pPr eaLnBrk="1" hangingPunct="1">
              <a:lnSpc>
                <a:spcPct val="65000"/>
              </a:lnSpc>
              <a:buFontTx/>
              <a:buNone/>
            </a:pPr>
            <a:r>
              <a:rPr lang="en-US" altLang="en-US" sz="2800"/>
              <a:t>        3      7      11      15</a:t>
            </a:r>
          </a:p>
          <a:p>
            <a:pPr eaLnBrk="1" hangingPunct="1">
              <a:lnSpc>
                <a:spcPct val="65000"/>
              </a:lnSpc>
              <a:buFontTx/>
              <a:buNone/>
            </a:pPr>
            <a:r>
              <a:rPr lang="en-US" altLang="en-US" sz="2800"/>
              <a:t>                                             Recursive prefix</a:t>
            </a:r>
          </a:p>
          <a:p>
            <a:pPr eaLnBrk="1" hangingPunct="1">
              <a:lnSpc>
                <a:spcPct val="65000"/>
              </a:lnSpc>
              <a:buFontTx/>
              <a:buNone/>
            </a:pPr>
            <a:r>
              <a:rPr lang="en-US" altLang="en-US" sz="2800"/>
              <a:t>        3     10     21      36</a:t>
            </a:r>
          </a:p>
          <a:p>
            <a:pPr eaLnBrk="1" hangingPunct="1">
              <a:lnSpc>
                <a:spcPct val="65000"/>
              </a:lnSpc>
              <a:buFontTx/>
              <a:buNone/>
            </a:pPr>
            <a:r>
              <a:rPr lang="en-US" altLang="en-US" sz="2800"/>
              <a:t>                                             Update </a:t>
            </a:r>
            <a:r>
              <a:rPr lang="ja-JP" altLang="en-US" sz="2800"/>
              <a:t>“</a:t>
            </a:r>
            <a:r>
              <a:rPr lang="en-US" altLang="ja-JP" sz="2800"/>
              <a:t>evens</a:t>
            </a:r>
            <a:r>
              <a:rPr lang="ja-JP" altLang="en-US" sz="2800"/>
              <a:t>”</a:t>
            </a:r>
            <a:endParaRPr lang="en-US" altLang="ja-JP" sz="2800"/>
          </a:p>
          <a:p>
            <a:pPr eaLnBrk="1" hangingPunct="1">
              <a:lnSpc>
                <a:spcPct val="65000"/>
              </a:lnSpc>
              <a:buFontTx/>
              <a:buNone/>
            </a:pPr>
            <a:r>
              <a:rPr lang="en-US" altLang="en-US" sz="2800"/>
              <a:t>      1  3  6 10 15 21 28 36</a:t>
            </a:r>
          </a:p>
          <a:p>
            <a:pPr eaLnBrk="1" hangingPunct="1"/>
            <a:r>
              <a:rPr lang="en-US" altLang="en-US" sz="2800">
                <a:solidFill>
                  <a:srgbClr val="51DC00"/>
                </a:solidFill>
              </a:rPr>
              <a:t>Any </a:t>
            </a:r>
            <a:r>
              <a:rPr lang="en-US" altLang="en-US" sz="2800">
                <a:solidFill>
                  <a:srgbClr val="FFFFFF"/>
                </a:solidFill>
              </a:rPr>
              <a:t>associative</a:t>
            </a:r>
            <a:r>
              <a:rPr lang="en-US" altLang="en-US" sz="2800">
                <a:solidFill>
                  <a:srgbClr val="51DC00"/>
                </a:solidFill>
              </a:rPr>
              <a:t> operator</a:t>
            </a:r>
          </a:p>
          <a:p>
            <a:pPr eaLnBrk="1" hangingPunct="1"/>
            <a:r>
              <a:rPr lang="en-US" altLang="en-US" sz="2800"/>
              <a:t>AKA: +\ (APL), cumsum(Matlab), MPI_SCAN,</a:t>
            </a:r>
          </a:p>
          <a:p>
            <a:pPr eaLnBrk="1" hangingPunct="1">
              <a:lnSpc>
                <a:spcPct val="50000"/>
              </a:lnSpc>
              <a:buFontTx/>
              <a:buNone/>
            </a:pPr>
            <a:r>
              <a:rPr lang="en-US" altLang="en-US" sz="2800"/>
              <a:t>       1 0 0</a:t>
            </a:r>
          </a:p>
          <a:p>
            <a:pPr eaLnBrk="1" hangingPunct="1">
              <a:lnSpc>
                <a:spcPct val="50000"/>
              </a:lnSpc>
              <a:buFontTx/>
              <a:buNone/>
            </a:pPr>
            <a:r>
              <a:rPr lang="en-US" altLang="en-US" sz="2800"/>
              <a:t>       1 1 0</a:t>
            </a:r>
          </a:p>
          <a:p>
            <a:pPr eaLnBrk="1" hangingPunct="1">
              <a:lnSpc>
                <a:spcPct val="50000"/>
              </a:lnSpc>
              <a:buFontTx/>
              <a:buNone/>
            </a:pPr>
            <a:r>
              <a:rPr lang="en-US" altLang="en-US" sz="2800"/>
              <a:t>       1 1 1</a:t>
            </a:r>
          </a:p>
          <a:p>
            <a:pPr eaLnBrk="1" hangingPunct="1">
              <a:buFontTx/>
              <a:buNone/>
            </a:pPr>
            <a:r>
              <a:rPr lang="en-US" altLang="en-US" sz="2800"/>
              <a:t>	</a:t>
            </a:r>
          </a:p>
          <a:p>
            <a:pPr eaLnBrk="1" hangingPunct="1">
              <a:buFontTx/>
              <a:buNone/>
            </a:pPr>
            <a:endParaRPr lang="en-US" altLang="en-US" sz="2800"/>
          </a:p>
        </p:txBody>
      </p:sp>
      <p:sp>
        <p:nvSpPr>
          <p:cNvPr id="41988" name="Rectangle 4">
            <a:extLst>
              <a:ext uri="{FF2B5EF4-FFF2-40B4-BE49-F238E27FC236}">
                <a16:creationId xmlns:a16="http://schemas.microsoft.com/office/drawing/2014/main" id="{A25C58CF-6E51-64FA-D370-BA79EEF008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838200"/>
            <a:ext cx="7535863" cy="5159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marL="342900" indent="-3429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None/>
            </a:pPr>
            <a:r>
              <a:rPr lang="en-US" altLang="en-US" sz="2800"/>
              <a:t>prefix</a:t>
            </a:r>
            <a:r>
              <a:rPr lang="en-US" altLang="en-US" sz="2800">
                <a:effectLst>
                  <a:outerShdw blurRad="38100" dist="38100" dir="2700000" algn="tl">
                    <a:srgbClr val="C0C0C0"/>
                  </a:outerShdw>
                </a:effectLst>
              </a:rPr>
              <a:t>( [1 2 3 4 5 6 7 8])=[1 3 6 10 15 21 28 36]</a:t>
            </a:r>
          </a:p>
        </p:txBody>
      </p:sp>
      <p:grpSp>
        <p:nvGrpSpPr>
          <p:cNvPr id="30724" name="Group 5">
            <a:extLst>
              <a:ext uri="{FF2B5EF4-FFF2-40B4-BE49-F238E27FC236}">
                <a16:creationId xmlns:a16="http://schemas.microsoft.com/office/drawing/2014/main" id="{4C579F46-B8CA-3E90-1F40-693E8A8F3175}"/>
              </a:ext>
            </a:extLst>
          </p:cNvPr>
          <p:cNvGrpSpPr>
            <a:grpSpLocks/>
          </p:cNvGrpSpPr>
          <p:nvPr/>
        </p:nvGrpSpPr>
        <p:grpSpPr bwMode="auto">
          <a:xfrm>
            <a:off x="609600" y="5181600"/>
            <a:ext cx="1231900" cy="1041400"/>
            <a:chOff x="544" y="3512"/>
            <a:chExt cx="776" cy="656"/>
          </a:xfrm>
        </p:grpSpPr>
        <p:sp>
          <p:nvSpPr>
            <p:cNvPr id="41990" name="Line 6">
              <a:extLst>
                <a:ext uri="{FF2B5EF4-FFF2-40B4-BE49-F238E27FC236}">
                  <a16:creationId xmlns:a16="http://schemas.microsoft.com/office/drawing/2014/main" id="{388B8193-F750-E685-79DD-BCFA4A9BA05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0" y="3520"/>
              <a:ext cx="0" cy="648"/>
            </a:xfrm>
            <a:prstGeom prst="line">
              <a:avLst/>
            </a:prstGeom>
            <a:noFill/>
            <a:ln w="50800">
              <a:solidFill>
                <a:srgbClr val="FFFF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1991" name="Line 7">
              <a:extLst>
                <a:ext uri="{FF2B5EF4-FFF2-40B4-BE49-F238E27FC236}">
                  <a16:creationId xmlns:a16="http://schemas.microsoft.com/office/drawing/2014/main" id="{F5D3F004-C25D-127B-7C40-1952F7BD7EC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4" y="4160"/>
              <a:ext cx="128" cy="0"/>
            </a:xfrm>
            <a:prstGeom prst="line">
              <a:avLst/>
            </a:prstGeom>
            <a:noFill/>
            <a:ln w="50800">
              <a:solidFill>
                <a:srgbClr val="FFFF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1992" name="Line 8">
              <a:extLst>
                <a:ext uri="{FF2B5EF4-FFF2-40B4-BE49-F238E27FC236}">
                  <a16:creationId xmlns:a16="http://schemas.microsoft.com/office/drawing/2014/main" id="{D85C79A9-EBA9-E940-4DA8-2277853B348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2" y="3536"/>
              <a:ext cx="96" cy="0"/>
            </a:xfrm>
            <a:prstGeom prst="line">
              <a:avLst/>
            </a:prstGeom>
            <a:noFill/>
            <a:ln w="50800">
              <a:solidFill>
                <a:srgbClr val="FFFF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1993" name="Line 9">
              <a:extLst>
                <a:ext uri="{FF2B5EF4-FFF2-40B4-BE49-F238E27FC236}">
                  <a16:creationId xmlns:a16="http://schemas.microsoft.com/office/drawing/2014/main" id="{83932E77-F8DF-0E03-C229-72519E9D30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24" y="3528"/>
              <a:ext cx="96" cy="0"/>
            </a:xfrm>
            <a:prstGeom prst="line">
              <a:avLst/>
            </a:prstGeom>
            <a:noFill/>
            <a:ln w="50800">
              <a:solidFill>
                <a:srgbClr val="FFFF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1994" name="Line 10">
              <a:extLst>
                <a:ext uri="{FF2B5EF4-FFF2-40B4-BE49-F238E27FC236}">
                  <a16:creationId xmlns:a16="http://schemas.microsoft.com/office/drawing/2014/main" id="{225DED0D-2E80-3A6B-5CCB-9ED6916F13A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16" y="4144"/>
              <a:ext cx="96" cy="0"/>
            </a:xfrm>
            <a:prstGeom prst="line">
              <a:avLst/>
            </a:prstGeom>
            <a:noFill/>
            <a:ln w="50800">
              <a:solidFill>
                <a:srgbClr val="FFFF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1995" name="Line 11">
              <a:extLst>
                <a:ext uri="{FF2B5EF4-FFF2-40B4-BE49-F238E27FC236}">
                  <a16:creationId xmlns:a16="http://schemas.microsoft.com/office/drawing/2014/main" id="{82D3BF1F-9FA6-C71F-1F54-93EC5D7F095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12" y="3512"/>
              <a:ext cx="0" cy="648"/>
            </a:xfrm>
            <a:prstGeom prst="line">
              <a:avLst/>
            </a:prstGeom>
            <a:noFill/>
            <a:ln w="50800">
              <a:solidFill>
                <a:srgbClr val="FFFF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0725" name="Group 12">
            <a:extLst>
              <a:ext uri="{FF2B5EF4-FFF2-40B4-BE49-F238E27FC236}">
                <a16:creationId xmlns:a16="http://schemas.microsoft.com/office/drawing/2014/main" id="{9069E4BC-AEF3-A4BB-B7AC-FC02F3C0A91A}"/>
              </a:ext>
            </a:extLst>
          </p:cNvPr>
          <p:cNvGrpSpPr>
            <a:grpSpLocks/>
          </p:cNvGrpSpPr>
          <p:nvPr/>
        </p:nvGrpSpPr>
        <p:grpSpPr bwMode="auto">
          <a:xfrm>
            <a:off x="838200" y="1905000"/>
            <a:ext cx="381000" cy="368300"/>
            <a:chOff x="656" y="1272"/>
            <a:chExt cx="240" cy="232"/>
          </a:xfrm>
        </p:grpSpPr>
        <p:sp>
          <p:nvSpPr>
            <p:cNvPr id="41997" name="Line 13">
              <a:extLst>
                <a:ext uri="{FF2B5EF4-FFF2-40B4-BE49-F238E27FC236}">
                  <a16:creationId xmlns:a16="http://schemas.microsoft.com/office/drawing/2014/main" id="{37E14EA2-26B1-2416-075E-A88060EF15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" y="1272"/>
              <a:ext cx="96" cy="232"/>
            </a:xfrm>
            <a:prstGeom prst="line">
              <a:avLst/>
            </a:prstGeom>
            <a:noFill/>
            <a:ln w="50800">
              <a:solidFill>
                <a:srgbClr val="FFFF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1998" name="Line 14">
              <a:extLst>
                <a:ext uri="{FF2B5EF4-FFF2-40B4-BE49-F238E27FC236}">
                  <a16:creationId xmlns:a16="http://schemas.microsoft.com/office/drawing/2014/main" id="{73F76B54-0463-A2A6-7C2E-4C11051905E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00" y="1280"/>
              <a:ext cx="96" cy="216"/>
            </a:xfrm>
            <a:prstGeom prst="line">
              <a:avLst/>
            </a:prstGeom>
            <a:noFill/>
            <a:ln w="50800">
              <a:solidFill>
                <a:srgbClr val="FFFF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0726" name="Group 15">
            <a:extLst>
              <a:ext uri="{FF2B5EF4-FFF2-40B4-BE49-F238E27FC236}">
                <a16:creationId xmlns:a16="http://schemas.microsoft.com/office/drawing/2014/main" id="{5079BDDA-D766-DC46-5AAB-106F74E488A1}"/>
              </a:ext>
            </a:extLst>
          </p:cNvPr>
          <p:cNvGrpSpPr>
            <a:grpSpLocks/>
          </p:cNvGrpSpPr>
          <p:nvPr/>
        </p:nvGrpSpPr>
        <p:grpSpPr bwMode="auto">
          <a:xfrm>
            <a:off x="1524000" y="1905000"/>
            <a:ext cx="381000" cy="368300"/>
            <a:chOff x="1232" y="1248"/>
            <a:chExt cx="240" cy="232"/>
          </a:xfrm>
        </p:grpSpPr>
        <p:sp>
          <p:nvSpPr>
            <p:cNvPr id="42000" name="Line 16">
              <a:extLst>
                <a:ext uri="{FF2B5EF4-FFF2-40B4-BE49-F238E27FC236}">
                  <a16:creationId xmlns:a16="http://schemas.microsoft.com/office/drawing/2014/main" id="{E4C1E5F3-54C2-47E1-1C2A-780F64FCB0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32" y="1248"/>
              <a:ext cx="96" cy="232"/>
            </a:xfrm>
            <a:prstGeom prst="line">
              <a:avLst/>
            </a:prstGeom>
            <a:noFill/>
            <a:ln w="50800">
              <a:solidFill>
                <a:srgbClr val="FFFF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2001" name="Line 17">
              <a:extLst>
                <a:ext uri="{FF2B5EF4-FFF2-40B4-BE49-F238E27FC236}">
                  <a16:creationId xmlns:a16="http://schemas.microsoft.com/office/drawing/2014/main" id="{DF35FF24-2E09-3FBF-52C7-CD312305C4F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376" y="1256"/>
              <a:ext cx="96" cy="216"/>
            </a:xfrm>
            <a:prstGeom prst="line">
              <a:avLst/>
            </a:prstGeom>
            <a:noFill/>
            <a:ln w="50800">
              <a:solidFill>
                <a:srgbClr val="FFFF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0727" name="Group 18">
            <a:extLst>
              <a:ext uri="{FF2B5EF4-FFF2-40B4-BE49-F238E27FC236}">
                <a16:creationId xmlns:a16="http://schemas.microsoft.com/office/drawing/2014/main" id="{4534BE64-1C18-63D6-BA3F-F9B86980ED5F}"/>
              </a:ext>
            </a:extLst>
          </p:cNvPr>
          <p:cNvGrpSpPr>
            <a:grpSpLocks/>
          </p:cNvGrpSpPr>
          <p:nvPr/>
        </p:nvGrpSpPr>
        <p:grpSpPr bwMode="auto">
          <a:xfrm>
            <a:off x="2362200" y="1905000"/>
            <a:ext cx="381000" cy="368300"/>
            <a:chOff x="1872" y="1232"/>
            <a:chExt cx="240" cy="232"/>
          </a:xfrm>
        </p:grpSpPr>
        <p:sp>
          <p:nvSpPr>
            <p:cNvPr id="42003" name="Line 19">
              <a:extLst>
                <a:ext uri="{FF2B5EF4-FFF2-40B4-BE49-F238E27FC236}">
                  <a16:creationId xmlns:a16="http://schemas.microsoft.com/office/drawing/2014/main" id="{71A30C38-6D62-15F2-04C3-53DE4387C8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72" y="1232"/>
              <a:ext cx="96" cy="232"/>
            </a:xfrm>
            <a:prstGeom prst="line">
              <a:avLst/>
            </a:prstGeom>
            <a:noFill/>
            <a:ln w="50800">
              <a:solidFill>
                <a:srgbClr val="FFFF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2004" name="Line 20">
              <a:extLst>
                <a:ext uri="{FF2B5EF4-FFF2-40B4-BE49-F238E27FC236}">
                  <a16:creationId xmlns:a16="http://schemas.microsoft.com/office/drawing/2014/main" id="{E3CD1D77-E5F8-2535-C889-400CC34117F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016" y="1240"/>
              <a:ext cx="96" cy="216"/>
            </a:xfrm>
            <a:prstGeom prst="line">
              <a:avLst/>
            </a:prstGeom>
            <a:noFill/>
            <a:ln w="50800">
              <a:solidFill>
                <a:srgbClr val="FFFF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0728" name="Group 21">
            <a:extLst>
              <a:ext uri="{FF2B5EF4-FFF2-40B4-BE49-F238E27FC236}">
                <a16:creationId xmlns:a16="http://schemas.microsoft.com/office/drawing/2014/main" id="{B5FF1AD5-AF62-B749-DAC4-50243D4C99A0}"/>
              </a:ext>
            </a:extLst>
          </p:cNvPr>
          <p:cNvGrpSpPr>
            <a:grpSpLocks/>
          </p:cNvGrpSpPr>
          <p:nvPr/>
        </p:nvGrpSpPr>
        <p:grpSpPr bwMode="auto">
          <a:xfrm>
            <a:off x="3276600" y="1905000"/>
            <a:ext cx="381000" cy="368300"/>
            <a:chOff x="2568" y="1248"/>
            <a:chExt cx="240" cy="232"/>
          </a:xfrm>
        </p:grpSpPr>
        <p:sp>
          <p:nvSpPr>
            <p:cNvPr id="42006" name="Line 22">
              <a:extLst>
                <a:ext uri="{FF2B5EF4-FFF2-40B4-BE49-F238E27FC236}">
                  <a16:creationId xmlns:a16="http://schemas.microsoft.com/office/drawing/2014/main" id="{26791BEB-E0B1-18BC-0EE6-0AB6F8A80C0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68" y="1248"/>
              <a:ext cx="96" cy="232"/>
            </a:xfrm>
            <a:prstGeom prst="line">
              <a:avLst/>
            </a:prstGeom>
            <a:noFill/>
            <a:ln w="50800">
              <a:solidFill>
                <a:srgbClr val="FFFF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2007" name="Line 23">
              <a:extLst>
                <a:ext uri="{FF2B5EF4-FFF2-40B4-BE49-F238E27FC236}">
                  <a16:creationId xmlns:a16="http://schemas.microsoft.com/office/drawing/2014/main" id="{B4FD8AFF-0CB7-0DB9-89BA-DDFEFDE495A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12" y="1256"/>
              <a:ext cx="96" cy="216"/>
            </a:xfrm>
            <a:prstGeom prst="line">
              <a:avLst/>
            </a:prstGeom>
            <a:noFill/>
            <a:ln w="50800">
              <a:solidFill>
                <a:srgbClr val="FFFF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sp>
        <p:nvSpPr>
          <p:cNvPr id="42008" name="Line 24">
            <a:extLst>
              <a:ext uri="{FF2B5EF4-FFF2-40B4-BE49-F238E27FC236}">
                <a16:creationId xmlns:a16="http://schemas.microsoft.com/office/drawing/2014/main" id="{269A76A9-459E-2EC4-0A56-A4034A9324D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14400" y="3429000"/>
            <a:ext cx="152400" cy="368300"/>
          </a:xfrm>
          <a:prstGeom prst="line">
            <a:avLst/>
          </a:prstGeom>
          <a:noFill/>
          <a:ln w="508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2009" name="Line 25">
            <a:extLst>
              <a:ext uri="{FF2B5EF4-FFF2-40B4-BE49-F238E27FC236}">
                <a16:creationId xmlns:a16="http://schemas.microsoft.com/office/drawing/2014/main" id="{84B7E8C9-1157-A56F-55C8-EA7FBE56E414}"/>
              </a:ext>
            </a:extLst>
          </p:cNvPr>
          <p:cNvSpPr>
            <a:spLocks noChangeShapeType="1"/>
          </p:cNvSpPr>
          <p:nvPr/>
        </p:nvSpPr>
        <p:spPr bwMode="auto">
          <a:xfrm>
            <a:off x="1066800" y="3429000"/>
            <a:ext cx="152400" cy="342900"/>
          </a:xfrm>
          <a:prstGeom prst="line">
            <a:avLst/>
          </a:prstGeom>
          <a:noFill/>
          <a:ln w="508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2010" name="Line 26">
            <a:extLst>
              <a:ext uri="{FF2B5EF4-FFF2-40B4-BE49-F238E27FC236}">
                <a16:creationId xmlns:a16="http://schemas.microsoft.com/office/drawing/2014/main" id="{A6BBD948-DA4E-EE69-5277-C263B8524B8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600200" y="3352800"/>
            <a:ext cx="152400" cy="368300"/>
          </a:xfrm>
          <a:prstGeom prst="line">
            <a:avLst/>
          </a:prstGeom>
          <a:noFill/>
          <a:ln w="508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2011" name="Line 27">
            <a:extLst>
              <a:ext uri="{FF2B5EF4-FFF2-40B4-BE49-F238E27FC236}">
                <a16:creationId xmlns:a16="http://schemas.microsoft.com/office/drawing/2014/main" id="{CC92EA3A-9329-E00D-E0FB-ED84D8AEED6D}"/>
              </a:ext>
            </a:extLst>
          </p:cNvPr>
          <p:cNvSpPr>
            <a:spLocks noChangeShapeType="1"/>
          </p:cNvSpPr>
          <p:nvPr/>
        </p:nvSpPr>
        <p:spPr bwMode="auto">
          <a:xfrm>
            <a:off x="1828800" y="3429000"/>
            <a:ext cx="152400" cy="342900"/>
          </a:xfrm>
          <a:prstGeom prst="line">
            <a:avLst/>
          </a:prstGeom>
          <a:noFill/>
          <a:ln w="508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2012" name="Line 28">
            <a:extLst>
              <a:ext uri="{FF2B5EF4-FFF2-40B4-BE49-F238E27FC236}">
                <a16:creationId xmlns:a16="http://schemas.microsoft.com/office/drawing/2014/main" id="{EC32639F-1CB7-1EB5-5DC9-7BCFE24349A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362200" y="3352800"/>
            <a:ext cx="152400" cy="368300"/>
          </a:xfrm>
          <a:prstGeom prst="line">
            <a:avLst/>
          </a:prstGeom>
          <a:noFill/>
          <a:ln w="508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2013" name="Line 29">
            <a:extLst>
              <a:ext uri="{FF2B5EF4-FFF2-40B4-BE49-F238E27FC236}">
                <a16:creationId xmlns:a16="http://schemas.microsoft.com/office/drawing/2014/main" id="{D1208BCE-05F7-1353-C715-DB9DC3920336}"/>
              </a:ext>
            </a:extLst>
          </p:cNvPr>
          <p:cNvSpPr>
            <a:spLocks noChangeShapeType="1"/>
          </p:cNvSpPr>
          <p:nvPr/>
        </p:nvSpPr>
        <p:spPr bwMode="auto">
          <a:xfrm>
            <a:off x="2667000" y="3352800"/>
            <a:ext cx="152400" cy="342900"/>
          </a:xfrm>
          <a:prstGeom prst="line">
            <a:avLst/>
          </a:prstGeom>
          <a:noFill/>
          <a:ln w="508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2014" name="Line 30">
            <a:extLst>
              <a:ext uri="{FF2B5EF4-FFF2-40B4-BE49-F238E27FC236}">
                <a16:creationId xmlns:a16="http://schemas.microsoft.com/office/drawing/2014/main" id="{3660D3E4-C01E-C08F-C953-CCFCF666E17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76600" y="3352800"/>
            <a:ext cx="152400" cy="368300"/>
          </a:xfrm>
          <a:prstGeom prst="line">
            <a:avLst/>
          </a:prstGeom>
          <a:noFill/>
          <a:ln w="508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2015" name="Line 31">
            <a:extLst>
              <a:ext uri="{FF2B5EF4-FFF2-40B4-BE49-F238E27FC236}">
                <a16:creationId xmlns:a16="http://schemas.microsoft.com/office/drawing/2014/main" id="{7CB6FC10-2302-4153-41FD-201623CB7FAE}"/>
              </a:ext>
            </a:extLst>
          </p:cNvPr>
          <p:cNvSpPr>
            <a:spLocks noChangeShapeType="1"/>
          </p:cNvSpPr>
          <p:nvPr/>
        </p:nvSpPr>
        <p:spPr bwMode="auto">
          <a:xfrm>
            <a:off x="3505200" y="3429000"/>
            <a:ext cx="152400" cy="342900"/>
          </a:xfrm>
          <a:prstGeom prst="line">
            <a:avLst/>
          </a:prstGeom>
          <a:noFill/>
          <a:ln w="508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2016" name="Line 32">
            <a:extLst>
              <a:ext uri="{FF2B5EF4-FFF2-40B4-BE49-F238E27FC236}">
                <a16:creationId xmlns:a16="http://schemas.microsoft.com/office/drawing/2014/main" id="{6671E06D-D106-FD70-345F-957D2E00F63C}"/>
              </a:ext>
            </a:extLst>
          </p:cNvPr>
          <p:cNvSpPr>
            <a:spLocks noChangeShapeType="1"/>
          </p:cNvSpPr>
          <p:nvPr/>
        </p:nvSpPr>
        <p:spPr bwMode="auto">
          <a:xfrm>
            <a:off x="1066800" y="2667000"/>
            <a:ext cx="0" cy="342900"/>
          </a:xfrm>
          <a:prstGeom prst="line">
            <a:avLst/>
          </a:prstGeom>
          <a:noFill/>
          <a:ln w="508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2017" name="Line 33">
            <a:extLst>
              <a:ext uri="{FF2B5EF4-FFF2-40B4-BE49-F238E27FC236}">
                <a16:creationId xmlns:a16="http://schemas.microsoft.com/office/drawing/2014/main" id="{51A166D8-1531-9A27-5806-5AA822C434E4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2667000"/>
            <a:ext cx="0" cy="342900"/>
          </a:xfrm>
          <a:prstGeom prst="line">
            <a:avLst/>
          </a:prstGeom>
          <a:noFill/>
          <a:ln w="508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2018" name="Line 34">
            <a:extLst>
              <a:ext uri="{FF2B5EF4-FFF2-40B4-BE49-F238E27FC236}">
                <a16:creationId xmlns:a16="http://schemas.microsoft.com/office/drawing/2014/main" id="{9F8EA3AB-8B6B-AF02-28ED-E6A19A56FA29}"/>
              </a:ext>
            </a:extLst>
          </p:cNvPr>
          <p:cNvSpPr>
            <a:spLocks noChangeShapeType="1"/>
          </p:cNvSpPr>
          <p:nvPr/>
        </p:nvSpPr>
        <p:spPr bwMode="auto">
          <a:xfrm>
            <a:off x="2590800" y="2667000"/>
            <a:ext cx="0" cy="342900"/>
          </a:xfrm>
          <a:prstGeom prst="line">
            <a:avLst/>
          </a:prstGeom>
          <a:noFill/>
          <a:ln w="508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2019" name="Line 35">
            <a:extLst>
              <a:ext uri="{FF2B5EF4-FFF2-40B4-BE49-F238E27FC236}">
                <a16:creationId xmlns:a16="http://schemas.microsoft.com/office/drawing/2014/main" id="{CA0108B4-D964-AAC2-A98B-0D08857D44BC}"/>
              </a:ext>
            </a:extLst>
          </p:cNvPr>
          <p:cNvSpPr>
            <a:spLocks noChangeShapeType="1"/>
          </p:cNvSpPr>
          <p:nvPr/>
        </p:nvSpPr>
        <p:spPr bwMode="auto">
          <a:xfrm>
            <a:off x="3429000" y="2667000"/>
            <a:ext cx="0" cy="342900"/>
          </a:xfrm>
          <a:prstGeom prst="line">
            <a:avLst/>
          </a:prstGeom>
          <a:noFill/>
          <a:ln w="508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</p:spTree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>
            <a:extLst>
              <a:ext uri="{FF2B5EF4-FFF2-40B4-BE49-F238E27FC236}">
                <a16:creationId xmlns:a16="http://schemas.microsoft.com/office/drawing/2014/main" id="{65B1D44C-1675-2DE3-5F5E-DC85DEB5E21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09600" y="0"/>
            <a:ext cx="7772400" cy="1143000"/>
          </a:xfrm>
          <a:noFill/>
          <a:effectLst>
            <a:outerShdw blurRad="63500" dist="35921" dir="2700000" algn="ctr" rotWithShape="0">
              <a:srgbClr val="000000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90488" tIns="44450" rIns="90488" bIns="44450"/>
          <a:lstStyle/>
          <a:p>
            <a:pPr eaLnBrk="1" hangingPunct="1">
              <a:defRPr/>
            </a:pPr>
            <a:r>
              <a:rPr lang="en-US"/>
              <a:t>Variations on Prefix</a:t>
            </a:r>
          </a:p>
        </p:txBody>
      </p:sp>
      <p:sp>
        <p:nvSpPr>
          <p:cNvPr id="43011" name="Rectangle 3">
            <a:extLst>
              <a:ext uri="{FF2B5EF4-FFF2-40B4-BE49-F238E27FC236}">
                <a16:creationId xmlns:a16="http://schemas.microsoft.com/office/drawing/2014/main" id="{281E9A58-6364-584A-359B-3524519A3D7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5575" y="1619250"/>
            <a:ext cx="8858250" cy="2817813"/>
          </a:xfrm>
          <a:extLst>
            <a:ext uri="{91240B29-F687-4f45-9708-019B960494DF}">
              <a14:hiddenLine xmlns:a14="http://schemas.microsoft.com/office/drawing/2010/main" xmlns="" w="508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90488" tIns="44450" rIns="90488" bIns="44450">
            <a:spAutoFit/>
          </a:bodyPr>
          <a:lstStyle/>
          <a:p>
            <a:pPr eaLnBrk="1" hangingPunct="1">
              <a:lnSpc>
                <a:spcPct val="65000"/>
              </a:lnSpc>
              <a:buFontTx/>
              <a:buNone/>
              <a:defRPr/>
            </a:pPr>
            <a:r>
              <a:rPr lang="en-US"/>
              <a:t>      1  2  3  4   5  6    7  8</a:t>
            </a:r>
          </a:p>
          <a:p>
            <a:pPr eaLnBrk="1" hangingPunct="1">
              <a:lnSpc>
                <a:spcPct val="65000"/>
              </a:lnSpc>
              <a:buFontTx/>
              <a:buNone/>
              <a:defRPr/>
            </a:pPr>
            <a:r>
              <a:rPr lang="en-US"/>
              <a:t>        3      7      11      15</a:t>
            </a:r>
          </a:p>
          <a:p>
            <a:pPr eaLnBrk="1" hangingPunct="1">
              <a:lnSpc>
                <a:spcPct val="65000"/>
              </a:lnSpc>
              <a:buFontTx/>
              <a:buNone/>
              <a:defRPr/>
            </a:pPr>
            <a:r>
              <a:rPr lang="en-US"/>
              <a:t>        0      3      10      21</a:t>
            </a:r>
          </a:p>
          <a:p>
            <a:pPr eaLnBrk="1" hangingPunct="1">
              <a:lnSpc>
                <a:spcPct val="65000"/>
              </a:lnSpc>
              <a:buFontTx/>
              <a:buNone/>
              <a:defRPr/>
            </a:pPr>
            <a:r>
              <a:rPr lang="en-US"/>
              <a:t>      0  1  3  6 10 15 21 28 </a:t>
            </a:r>
          </a:p>
          <a:p>
            <a:pPr eaLnBrk="1" hangingPunct="1">
              <a:buFontTx/>
              <a:buNone/>
              <a:defRPr/>
            </a:pPr>
            <a:r>
              <a:rPr lang="en-US"/>
              <a:t>	</a:t>
            </a:r>
          </a:p>
          <a:p>
            <a:pPr eaLnBrk="1" hangingPunct="1">
              <a:buFontTx/>
              <a:buNone/>
              <a:defRPr/>
            </a:pPr>
            <a:endParaRPr lang="en-US"/>
          </a:p>
        </p:txBody>
      </p:sp>
      <p:sp>
        <p:nvSpPr>
          <p:cNvPr id="43012" name="Rectangle 4">
            <a:extLst>
              <a:ext uri="{FF2B5EF4-FFF2-40B4-BE49-F238E27FC236}">
                <a16:creationId xmlns:a16="http://schemas.microsoft.com/office/drawing/2014/main" id="{4BD36ADC-4A12-8A8B-76F2-A6BC0E6F7A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838200"/>
            <a:ext cx="7931150" cy="5159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marL="342900" indent="-342900" eaLnBrk="0" hangingPunct="0"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2800">
                <a:solidFill>
                  <a:srgbClr val="FFFFFF"/>
                </a:solidFill>
                <a:latin typeface="Arial" charset="0"/>
                <a:ea typeface="ＭＳ Ｐゴシック" charset="0"/>
              </a:rPr>
              <a:t>exclusive( [1 2 3 4 5 6 7 8])=[0 1 3 6 10 15 21 28]</a:t>
            </a:r>
          </a:p>
        </p:txBody>
      </p:sp>
      <p:sp>
        <p:nvSpPr>
          <p:cNvPr id="43013" name="Rectangle 5">
            <a:extLst>
              <a:ext uri="{FF2B5EF4-FFF2-40B4-BE49-F238E27FC236}">
                <a16:creationId xmlns:a16="http://schemas.microsoft.com/office/drawing/2014/main" id="{916503C1-306B-DC8D-2879-CA153AEAE6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0813" y="1782763"/>
            <a:ext cx="3090862" cy="1284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marL="342900" indent="-3429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None/>
            </a:pPr>
            <a:r>
              <a:rPr lang="en-US" altLang="en-US" sz="2800">
                <a:solidFill>
                  <a:srgbClr val="037C03"/>
                </a:solidFill>
              </a:rPr>
              <a:t>1)Pairwise Sums</a:t>
            </a:r>
          </a:p>
          <a:p>
            <a:pPr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None/>
            </a:pPr>
            <a:r>
              <a:rPr lang="en-US" altLang="en-US" sz="2800">
                <a:solidFill>
                  <a:srgbClr val="037C03"/>
                </a:solidFill>
              </a:rPr>
              <a:t>2)Recursive Prefix</a:t>
            </a:r>
          </a:p>
          <a:p>
            <a:pPr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None/>
            </a:pPr>
            <a:r>
              <a:rPr lang="en-US" altLang="en-US" sz="2800">
                <a:solidFill>
                  <a:srgbClr val="037C03"/>
                </a:solidFill>
              </a:rPr>
              <a:t>3)Update </a:t>
            </a:r>
            <a:r>
              <a:rPr lang="ja-JP" altLang="en-US" sz="2800">
                <a:solidFill>
                  <a:srgbClr val="037C03"/>
                </a:solidFill>
              </a:rPr>
              <a:t>“</a:t>
            </a:r>
            <a:r>
              <a:rPr lang="en-US" altLang="ja-JP" sz="2800">
                <a:solidFill>
                  <a:srgbClr val="037C03"/>
                </a:solidFill>
              </a:rPr>
              <a:t>odds</a:t>
            </a:r>
            <a:r>
              <a:rPr lang="ja-JP" altLang="en-US" sz="2800">
                <a:solidFill>
                  <a:srgbClr val="037C03"/>
                </a:solidFill>
              </a:rPr>
              <a:t>”</a:t>
            </a:r>
            <a:endParaRPr lang="en-US" altLang="en-US" sz="2800">
              <a:solidFill>
                <a:srgbClr val="037C03"/>
              </a:solidFill>
            </a:endParaRPr>
          </a:p>
        </p:txBody>
      </p:sp>
      <p:grpSp>
        <p:nvGrpSpPr>
          <p:cNvPr id="31749" name="Group 6">
            <a:extLst>
              <a:ext uri="{FF2B5EF4-FFF2-40B4-BE49-F238E27FC236}">
                <a16:creationId xmlns:a16="http://schemas.microsoft.com/office/drawing/2014/main" id="{0001A658-FD44-ECBF-682C-D9A38044E180}"/>
              </a:ext>
            </a:extLst>
          </p:cNvPr>
          <p:cNvGrpSpPr>
            <a:grpSpLocks/>
          </p:cNvGrpSpPr>
          <p:nvPr/>
        </p:nvGrpSpPr>
        <p:grpSpPr bwMode="auto">
          <a:xfrm>
            <a:off x="1028700" y="1943100"/>
            <a:ext cx="393700" cy="63500"/>
            <a:chOff x="648" y="1224"/>
            <a:chExt cx="248" cy="40"/>
          </a:xfrm>
        </p:grpSpPr>
        <p:sp>
          <p:nvSpPr>
            <p:cNvPr id="43015" name="Line 7">
              <a:extLst>
                <a:ext uri="{FF2B5EF4-FFF2-40B4-BE49-F238E27FC236}">
                  <a16:creationId xmlns:a16="http://schemas.microsoft.com/office/drawing/2014/main" id="{79121929-940F-24F5-628D-658243ADEA1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8" y="122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3016" name="Line 8">
              <a:extLst>
                <a:ext uri="{FF2B5EF4-FFF2-40B4-BE49-F238E27FC236}">
                  <a16:creationId xmlns:a16="http://schemas.microsoft.com/office/drawing/2014/main" id="{6CC72608-B3E8-A190-0B3E-E73471EF1A5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816" y="122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1750" name="Group 9">
            <a:extLst>
              <a:ext uri="{FF2B5EF4-FFF2-40B4-BE49-F238E27FC236}">
                <a16:creationId xmlns:a16="http://schemas.microsoft.com/office/drawing/2014/main" id="{6BA901F8-F5E1-AC2B-892E-4119181C3614}"/>
              </a:ext>
            </a:extLst>
          </p:cNvPr>
          <p:cNvGrpSpPr>
            <a:grpSpLocks/>
          </p:cNvGrpSpPr>
          <p:nvPr/>
        </p:nvGrpSpPr>
        <p:grpSpPr bwMode="auto">
          <a:xfrm>
            <a:off x="1955800" y="1930400"/>
            <a:ext cx="393700" cy="63500"/>
            <a:chOff x="1232" y="1216"/>
            <a:chExt cx="248" cy="40"/>
          </a:xfrm>
        </p:grpSpPr>
        <p:sp>
          <p:nvSpPr>
            <p:cNvPr id="43018" name="Line 10">
              <a:extLst>
                <a:ext uri="{FF2B5EF4-FFF2-40B4-BE49-F238E27FC236}">
                  <a16:creationId xmlns:a16="http://schemas.microsoft.com/office/drawing/2014/main" id="{1A93E8B1-127F-5960-EEE7-89452C9774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32" y="1216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3019" name="Line 11">
              <a:extLst>
                <a:ext uri="{FF2B5EF4-FFF2-40B4-BE49-F238E27FC236}">
                  <a16:creationId xmlns:a16="http://schemas.microsoft.com/office/drawing/2014/main" id="{C542E54A-1D43-41FC-E1A9-0167BF452E7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400" y="1216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1751" name="Group 12">
            <a:extLst>
              <a:ext uri="{FF2B5EF4-FFF2-40B4-BE49-F238E27FC236}">
                <a16:creationId xmlns:a16="http://schemas.microsoft.com/office/drawing/2014/main" id="{14AC6A28-5807-B6B1-8EB8-4FA1EA6CDC37}"/>
              </a:ext>
            </a:extLst>
          </p:cNvPr>
          <p:cNvGrpSpPr>
            <a:grpSpLocks/>
          </p:cNvGrpSpPr>
          <p:nvPr/>
        </p:nvGrpSpPr>
        <p:grpSpPr bwMode="auto">
          <a:xfrm>
            <a:off x="2984500" y="1930400"/>
            <a:ext cx="393700" cy="63500"/>
            <a:chOff x="1880" y="1216"/>
            <a:chExt cx="248" cy="40"/>
          </a:xfrm>
        </p:grpSpPr>
        <p:sp>
          <p:nvSpPr>
            <p:cNvPr id="43021" name="Line 13">
              <a:extLst>
                <a:ext uri="{FF2B5EF4-FFF2-40B4-BE49-F238E27FC236}">
                  <a16:creationId xmlns:a16="http://schemas.microsoft.com/office/drawing/2014/main" id="{400B8165-55B2-1C8E-E0DC-8C421F8B01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80" y="1216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3022" name="Line 14">
              <a:extLst>
                <a:ext uri="{FF2B5EF4-FFF2-40B4-BE49-F238E27FC236}">
                  <a16:creationId xmlns:a16="http://schemas.microsoft.com/office/drawing/2014/main" id="{6FA8E8A5-EF3E-CD80-7A17-B9A9C79C131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048" y="1216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1752" name="Group 15">
            <a:extLst>
              <a:ext uri="{FF2B5EF4-FFF2-40B4-BE49-F238E27FC236}">
                <a16:creationId xmlns:a16="http://schemas.microsoft.com/office/drawing/2014/main" id="{F0058A3D-8258-617B-14AE-9AF0F2AD092B}"/>
              </a:ext>
            </a:extLst>
          </p:cNvPr>
          <p:cNvGrpSpPr>
            <a:grpSpLocks/>
          </p:cNvGrpSpPr>
          <p:nvPr/>
        </p:nvGrpSpPr>
        <p:grpSpPr bwMode="auto">
          <a:xfrm>
            <a:off x="4102100" y="1930400"/>
            <a:ext cx="393700" cy="63500"/>
            <a:chOff x="2584" y="1216"/>
            <a:chExt cx="248" cy="40"/>
          </a:xfrm>
        </p:grpSpPr>
        <p:sp>
          <p:nvSpPr>
            <p:cNvPr id="43024" name="Line 16">
              <a:extLst>
                <a:ext uri="{FF2B5EF4-FFF2-40B4-BE49-F238E27FC236}">
                  <a16:creationId xmlns:a16="http://schemas.microsoft.com/office/drawing/2014/main" id="{17BA9997-38D0-B67D-3B86-55EAF6FA016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84" y="1216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3025" name="Line 17">
              <a:extLst>
                <a:ext uri="{FF2B5EF4-FFF2-40B4-BE49-F238E27FC236}">
                  <a16:creationId xmlns:a16="http://schemas.microsoft.com/office/drawing/2014/main" id="{F72B1C07-5B9C-A0DE-C676-BBDD6B04055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52" y="1216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1753" name="Group 18">
            <a:extLst>
              <a:ext uri="{FF2B5EF4-FFF2-40B4-BE49-F238E27FC236}">
                <a16:creationId xmlns:a16="http://schemas.microsoft.com/office/drawing/2014/main" id="{0674A956-435C-34AA-FC28-A56ACD2190D2}"/>
              </a:ext>
            </a:extLst>
          </p:cNvPr>
          <p:cNvGrpSpPr>
            <a:grpSpLocks/>
          </p:cNvGrpSpPr>
          <p:nvPr/>
        </p:nvGrpSpPr>
        <p:grpSpPr bwMode="auto">
          <a:xfrm>
            <a:off x="1066800" y="2768600"/>
            <a:ext cx="393700" cy="63500"/>
            <a:chOff x="672" y="1744"/>
            <a:chExt cx="248" cy="40"/>
          </a:xfrm>
        </p:grpSpPr>
        <p:sp>
          <p:nvSpPr>
            <p:cNvPr id="43027" name="Line 19">
              <a:extLst>
                <a:ext uri="{FF2B5EF4-FFF2-40B4-BE49-F238E27FC236}">
                  <a16:creationId xmlns:a16="http://schemas.microsoft.com/office/drawing/2014/main" id="{875750E5-6F75-BE9B-8BC4-40FE308E297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840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3028" name="Line 20">
              <a:extLst>
                <a:ext uri="{FF2B5EF4-FFF2-40B4-BE49-F238E27FC236}">
                  <a16:creationId xmlns:a16="http://schemas.microsoft.com/office/drawing/2014/main" id="{641D0F7E-3A79-6037-4B3D-1FC2405FB14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72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1754" name="Group 21">
            <a:extLst>
              <a:ext uri="{FF2B5EF4-FFF2-40B4-BE49-F238E27FC236}">
                <a16:creationId xmlns:a16="http://schemas.microsoft.com/office/drawing/2014/main" id="{DA7C8D66-8928-3FDF-0C5D-2113BF6B4411}"/>
              </a:ext>
            </a:extLst>
          </p:cNvPr>
          <p:cNvGrpSpPr>
            <a:grpSpLocks/>
          </p:cNvGrpSpPr>
          <p:nvPr/>
        </p:nvGrpSpPr>
        <p:grpSpPr bwMode="auto">
          <a:xfrm>
            <a:off x="1943100" y="2768600"/>
            <a:ext cx="393700" cy="63500"/>
            <a:chOff x="1224" y="1744"/>
            <a:chExt cx="248" cy="40"/>
          </a:xfrm>
        </p:grpSpPr>
        <p:sp>
          <p:nvSpPr>
            <p:cNvPr id="43030" name="Line 22">
              <a:extLst>
                <a:ext uri="{FF2B5EF4-FFF2-40B4-BE49-F238E27FC236}">
                  <a16:creationId xmlns:a16="http://schemas.microsoft.com/office/drawing/2014/main" id="{01D66150-F00A-A323-4090-9F931FDC4B0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1392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3031" name="Line 23">
              <a:extLst>
                <a:ext uri="{FF2B5EF4-FFF2-40B4-BE49-F238E27FC236}">
                  <a16:creationId xmlns:a16="http://schemas.microsoft.com/office/drawing/2014/main" id="{3647D960-A255-A522-17B0-2156E1594EC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224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1755" name="Group 24">
            <a:extLst>
              <a:ext uri="{FF2B5EF4-FFF2-40B4-BE49-F238E27FC236}">
                <a16:creationId xmlns:a16="http://schemas.microsoft.com/office/drawing/2014/main" id="{87952D15-82A0-2911-C7FF-8BCAF18502AF}"/>
              </a:ext>
            </a:extLst>
          </p:cNvPr>
          <p:cNvGrpSpPr>
            <a:grpSpLocks/>
          </p:cNvGrpSpPr>
          <p:nvPr/>
        </p:nvGrpSpPr>
        <p:grpSpPr bwMode="auto">
          <a:xfrm>
            <a:off x="2971800" y="2768600"/>
            <a:ext cx="393700" cy="63500"/>
            <a:chOff x="1872" y="1744"/>
            <a:chExt cx="248" cy="40"/>
          </a:xfrm>
        </p:grpSpPr>
        <p:sp>
          <p:nvSpPr>
            <p:cNvPr id="43033" name="Line 25">
              <a:extLst>
                <a:ext uri="{FF2B5EF4-FFF2-40B4-BE49-F238E27FC236}">
                  <a16:creationId xmlns:a16="http://schemas.microsoft.com/office/drawing/2014/main" id="{818F2B6E-BD77-9960-EA7E-96F56226412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040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3034" name="Line 26">
              <a:extLst>
                <a:ext uri="{FF2B5EF4-FFF2-40B4-BE49-F238E27FC236}">
                  <a16:creationId xmlns:a16="http://schemas.microsoft.com/office/drawing/2014/main" id="{F4316A04-769D-31C4-29AD-9D949778293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872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1756" name="Group 27">
            <a:extLst>
              <a:ext uri="{FF2B5EF4-FFF2-40B4-BE49-F238E27FC236}">
                <a16:creationId xmlns:a16="http://schemas.microsoft.com/office/drawing/2014/main" id="{AC3640C4-18AF-49FD-C3D3-B16EB055E53B}"/>
              </a:ext>
            </a:extLst>
          </p:cNvPr>
          <p:cNvGrpSpPr>
            <a:grpSpLocks/>
          </p:cNvGrpSpPr>
          <p:nvPr/>
        </p:nvGrpSpPr>
        <p:grpSpPr bwMode="auto">
          <a:xfrm>
            <a:off x="4000500" y="2768600"/>
            <a:ext cx="393700" cy="63500"/>
            <a:chOff x="2520" y="1744"/>
            <a:chExt cx="248" cy="40"/>
          </a:xfrm>
        </p:grpSpPr>
        <p:sp>
          <p:nvSpPr>
            <p:cNvPr id="43036" name="Line 28">
              <a:extLst>
                <a:ext uri="{FF2B5EF4-FFF2-40B4-BE49-F238E27FC236}">
                  <a16:creationId xmlns:a16="http://schemas.microsoft.com/office/drawing/2014/main" id="{6364387C-6897-33B0-3C20-6625DE306B0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688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3037" name="Line 29">
              <a:extLst>
                <a:ext uri="{FF2B5EF4-FFF2-40B4-BE49-F238E27FC236}">
                  <a16:creationId xmlns:a16="http://schemas.microsoft.com/office/drawing/2014/main" id="{06CEC346-869A-2763-3740-D4C1335FD78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520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sp>
        <p:nvSpPr>
          <p:cNvPr id="43038" name="Line 30">
            <a:extLst>
              <a:ext uri="{FF2B5EF4-FFF2-40B4-BE49-F238E27FC236}">
                <a16:creationId xmlns:a16="http://schemas.microsoft.com/office/drawing/2014/main" id="{1C01F8FE-D161-0B5D-8274-66D2427521EC}"/>
              </a:ext>
            </a:extLst>
          </p:cNvPr>
          <p:cNvSpPr>
            <a:spLocks noChangeShapeType="1"/>
          </p:cNvSpPr>
          <p:nvPr/>
        </p:nvSpPr>
        <p:spPr bwMode="auto">
          <a:xfrm>
            <a:off x="4686300" y="1981200"/>
            <a:ext cx="368300" cy="0"/>
          </a:xfrm>
          <a:prstGeom prst="line">
            <a:avLst/>
          </a:prstGeom>
          <a:noFill/>
          <a:ln w="25400">
            <a:solidFill>
              <a:srgbClr val="037C03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3039" name="Line 31">
            <a:extLst>
              <a:ext uri="{FF2B5EF4-FFF2-40B4-BE49-F238E27FC236}">
                <a16:creationId xmlns:a16="http://schemas.microsoft.com/office/drawing/2014/main" id="{4AC52B74-00CA-6DD5-0DCD-3A9601BCA803}"/>
              </a:ext>
            </a:extLst>
          </p:cNvPr>
          <p:cNvSpPr>
            <a:spLocks noChangeShapeType="1"/>
          </p:cNvSpPr>
          <p:nvPr/>
        </p:nvSpPr>
        <p:spPr bwMode="auto">
          <a:xfrm>
            <a:off x="4711700" y="2374900"/>
            <a:ext cx="368300" cy="0"/>
          </a:xfrm>
          <a:prstGeom prst="line">
            <a:avLst/>
          </a:prstGeom>
          <a:noFill/>
          <a:ln w="25400">
            <a:solidFill>
              <a:srgbClr val="037C03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3040" name="Line 32">
            <a:extLst>
              <a:ext uri="{FF2B5EF4-FFF2-40B4-BE49-F238E27FC236}">
                <a16:creationId xmlns:a16="http://schemas.microsoft.com/office/drawing/2014/main" id="{4B531AD1-CDA6-E01D-2133-78397ADAB121}"/>
              </a:ext>
            </a:extLst>
          </p:cNvPr>
          <p:cNvSpPr>
            <a:spLocks noChangeShapeType="1"/>
          </p:cNvSpPr>
          <p:nvPr/>
        </p:nvSpPr>
        <p:spPr bwMode="auto">
          <a:xfrm>
            <a:off x="4724400" y="2794000"/>
            <a:ext cx="368300" cy="0"/>
          </a:xfrm>
          <a:prstGeom prst="line">
            <a:avLst/>
          </a:prstGeom>
          <a:noFill/>
          <a:ln w="25400">
            <a:solidFill>
              <a:srgbClr val="037C03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</p:spTree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>
            <a:extLst>
              <a:ext uri="{FF2B5EF4-FFF2-40B4-BE49-F238E27FC236}">
                <a16:creationId xmlns:a16="http://schemas.microsoft.com/office/drawing/2014/main" id="{2DF985B5-DF75-BFB5-7D98-3D1B4E30FCD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09600" y="0"/>
            <a:ext cx="7772400" cy="1143000"/>
          </a:xfrm>
          <a:noFill/>
          <a:effectLst>
            <a:outerShdw blurRad="63500" dist="35921" dir="2700000" algn="ctr" rotWithShape="0">
              <a:srgbClr val="000000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90488" tIns="44450" rIns="90488" bIns="44450"/>
          <a:lstStyle/>
          <a:p>
            <a:pPr eaLnBrk="1" hangingPunct="1">
              <a:defRPr/>
            </a:pPr>
            <a:r>
              <a:rPr lang="en-US">
                <a:solidFill>
                  <a:schemeClr val="tx1"/>
                </a:solidFill>
              </a:rPr>
              <a:t>Variations on Prefix</a:t>
            </a:r>
          </a:p>
        </p:txBody>
      </p:sp>
      <p:sp>
        <p:nvSpPr>
          <p:cNvPr id="44035" name="Rectangle 3">
            <a:extLst>
              <a:ext uri="{FF2B5EF4-FFF2-40B4-BE49-F238E27FC236}">
                <a16:creationId xmlns:a16="http://schemas.microsoft.com/office/drawing/2014/main" id="{C3DC9B6F-58A4-0FC8-683F-CC073046AAD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5575" y="1619250"/>
            <a:ext cx="8858250" cy="2817813"/>
          </a:xfrm>
          <a:extLst>
            <a:ext uri="{91240B29-F687-4f45-9708-019B960494DF}">
              <a14:hiddenLine xmlns:a14="http://schemas.microsoft.com/office/drawing/2010/main" xmlns="" w="508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90488" tIns="44450" rIns="90488" bIns="44450">
            <a:spAutoFit/>
          </a:bodyPr>
          <a:lstStyle/>
          <a:p>
            <a:pPr eaLnBrk="1" hangingPunct="1">
              <a:lnSpc>
                <a:spcPct val="65000"/>
              </a:lnSpc>
              <a:buFontTx/>
              <a:buNone/>
              <a:defRPr/>
            </a:pPr>
            <a:r>
              <a:rPr lang="en-US"/>
              <a:t>      1  2  3  4   5  6    7  8</a:t>
            </a:r>
          </a:p>
          <a:p>
            <a:pPr eaLnBrk="1" hangingPunct="1">
              <a:lnSpc>
                <a:spcPct val="65000"/>
              </a:lnSpc>
              <a:buFontTx/>
              <a:buNone/>
              <a:defRPr/>
            </a:pPr>
            <a:r>
              <a:rPr lang="en-US"/>
              <a:t>        3      7      11      15</a:t>
            </a:r>
          </a:p>
          <a:p>
            <a:pPr eaLnBrk="1" hangingPunct="1">
              <a:lnSpc>
                <a:spcPct val="65000"/>
              </a:lnSpc>
              <a:buFontTx/>
              <a:buNone/>
              <a:defRPr/>
            </a:pPr>
            <a:r>
              <a:rPr lang="en-US"/>
              <a:t>        0      3      10      21</a:t>
            </a:r>
          </a:p>
          <a:p>
            <a:pPr eaLnBrk="1" hangingPunct="1">
              <a:lnSpc>
                <a:spcPct val="65000"/>
              </a:lnSpc>
              <a:buFontTx/>
              <a:buNone/>
              <a:defRPr/>
            </a:pPr>
            <a:r>
              <a:rPr lang="en-US"/>
              <a:t>      0  1  3  6 10 15 21 28 </a:t>
            </a:r>
          </a:p>
          <a:p>
            <a:pPr eaLnBrk="1" hangingPunct="1">
              <a:buFontTx/>
              <a:buNone/>
              <a:defRPr/>
            </a:pPr>
            <a:r>
              <a:rPr lang="en-US"/>
              <a:t>	</a:t>
            </a:r>
          </a:p>
          <a:p>
            <a:pPr eaLnBrk="1" hangingPunct="1">
              <a:buFontTx/>
              <a:buNone/>
              <a:defRPr/>
            </a:pPr>
            <a:endParaRPr lang="en-US"/>
          </a:p>
        </p:txBody>
      </p:sp>
      <p:sp>
        <p:nvSpPr>
          <p:cNvPr id="44036" name="Rectangle 4">
            <a:extLst>
              <a:ext uri="{FF2B5EF4-FFF2-40B4-BE49-F238E27FC236}">
                <a16:creationId xmlns:a16="http://schemas.microsoft.com/office/drawing/2014/main" id="{77F08E32-398B-5A37-9C29-AD630F5307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838200"/>
            <a:ext cx="7931150" cy="5159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marL="342900" indent="-342900" eaLnBrk="0" hangingPunct="0"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2800">
                <a:latin typeface="Arial" charset="0"/>
                <a:ea typeface="ＭＳ Ｐゴシック" charset="0"/>
              </a:rPr>
              <a:t>exclusive( [1 2 3 4 5 6 7 8])=[0 1 3 6 10 15 21 28]</a:t>
            </a:r>
          </a:p>
        </p:txBody>
      </p:sp>
      <p:sp>
        <p:nvSpPr>
          <p:cNvPr id="44037" name="Rectangle 5">
            <a:extLst>
              <a:ext uri="{FF2B5EF4-FFF2-40B4-BE49-F238E27FC236}">
                <a16:creationId xmlns:a16="http://schemas.microsoft.com/office/drawing/2014/main" id="{26C3F243-DB60-AA88-D01D-0F1CC2EF68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0813" y="1782763"/>
            <a:ext cx="3090862" cy="1284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marL="342900" indent="-3429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None/>
            </a:pPr>
            <a:r>
              <a:rPr lang="en-US" altLang="en-US" sz="2800"/>
              <a:t>1)Pairwise Sums</a:t>
            </a:r>
          </a:p>
          <a:p>
            <a:pPr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None/>
            </a:pPr>
            <a:r>
              <a:rPr lang="en-US" altLang="en-US" sz="2800"/>
              <a:t>2)Recursive Prefix</a:t>
            </a:r>
          </a:p>
          <a:p>
            <a:pPr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None/>
            </a:pPr>
            <a:r>
              <a:rPr lang="en-US" altLang="en-US" sz="2800"/>
              <a:t>3)Update </a:t>
            </a:r>
            <a:r>
              <a:rPr lang="ja-JP" altLang="en-US" sz="2800"/>
              <a:t>“</a:t>
            </a:r>
            <a:r>
              <a:rPr lang="en-US" altLang="ja-JP" sz="2800"/>
              <a:t>odds</a:t>
            </a:r>
            <a:r>
              <a:rPr lang="ja-JP" altLang="en-US" sz="2800"/>
              <a:t>”</a:t>
            </a:r>
            <a:endParaRPr lang="en-US" altLang="en-US" sz="2800"/>
          </a:p>
        </p:txBody>
      </p:sp>
      <p:grpSp>
        <p:nvGrpSpPr>
          <p:cNvPr id="32773" name="Group 6">
            <a:extLst>
              <a:ext uri="{FF2B5EF4-FFF2-40B4-BE49-F238E27FC236}">
                <a16:creationId xmlns:a16="http://schemas.microsoft.com/office/drawing/2014/main" id="{36F81677-872F-CB0B-8D14-61DA8C866F7D}"/>
              </a:ext>
            </a:extLst>
          </p:cNvPr>
          <p:cNvGrpSpPr>
            <a:grpSpLocks/>
          </p:cNvGrpSpPr>
          <p:nvPr/>
        </p:nvGrpSpPr>
        <p:grpSpPr bwMode="auto">
          <a:xfrm>
            <a:off x="1028700" y="1943100"/>
            <a:ext cx="393700" cy="63500"/>
            <a:chOff x="648" y="1224"/>
            <a:chExt cx="248" cy="40"/>
          </a:xfrm>
        </p:grpSpPr>
        <p:sp>
          <p:nvSpPr>
            <p:cNvPr id="44039" name="Line 7">
              <a:extLst>
                <a:ext uri="{FF2B5EF4-FFF2-40B4-BE49-F238E27FC236}">
                  <a16:creationId xmlns:a16="http://schemas.microsoft.com/office/drawing/2014/main" id="{FE8B7491-71F3-3943-77DA-6A7F11F7A9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8" y="122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4040" name="Line 8">
              <a:extLst>
                <a:ext uri="{FF2B5EF4-FFF2-40B4-BE49-F238E27FC236}">
                  <a16:creationId xmlns:a16="http://schemas.microsoft.com/office/drawing/2014/main" id="{788D7E58-E6BA-D68C-BF70-3446B34B5BB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816" y="122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2774" name="Group 9">
            <a:extLst>
              <a:ext uri="{FF2B5EF4-FFF2-40B4-BE49-F238E27FC236}">
                <a16:creationId xmlns:a16="http://schemas.microsoft.com/office/drawing/2014/main" id="{EED691E4-DABC-3E86-3D24-ED3E0FC441C3}"/>
              </a:ext>
            </a:extLst>
          </p:cNvPr>
          <p:cNvGrpSpPr>
            <a:grpSpLocks/>
          </p:cNvGrpSpPr>
          <p:nvPr/>
        </p:nvGrpSpPr>
        <p:grpSpPr bwMode="auto">
          <a:xfrm>
            <a:off x="1955800" y="1930400"/>
            <a:ext cx="393700" cy="63500"/>
            <a:chOff x="1232" y="1216"/>
            <a:chExt cx="248" cy="40"/>
          </a:xfrm>
        </p:grpSpPr>
        <p:sp>
          <p:nvSpPr>
            <p:cNvPr id="44042" name="Line 10">
              <a:extLst>
                <a:ext uri="{FF2B5EF4-FFF2-40B4-BE49-F238E27FC236}">
                  <a16:creationId xmlns:a16="http://schemas.microsoft.com/office/drawing/2014/main" id="{87A91661-8C5F-3E43-2BA2-85B528B960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32" y="1216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4043" name="Line 11">
              <a:extLst>
                <a:ext uri="{FF2B5EF4-FFF2-40B4-BE49-F238E27FC236}">
                  <a16:creationId xmlns:a16="http://schemas.microsoft.com/office/drawing/2014/main" id="{E503D556-5114-E855-001C-88EB4D511D6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400" y="1216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2775" name="Group 12">
            <a:extLst>
              <a:ext uri="{FF2B5EF4-FFF2-40B4-BE49-F238E27FC236}">
                <a16:creationId xmlns:a16="http://schemas.microsoft.com/office/drawing/2014/main" id="{8C1E49AC-4C97-4B0F-BEB5-681E835DA872}"/>
              </a:ext>
            </a:extLst>
          </p:cNvPr>
          <p:cNvGrpSpPr>
            <a:grpSpLocks/>
          </p:cNvGrpSpPr>
          <p:nvPr/>
        </p:nvGrpSpPr>
        <p:grpSpPr bwMode="auto">
          <a:xfrm>
            <a:off x="2984500" y="1930400"/>
            <a:ext cx="393700" cy="63500"/>
            <a:chOff x="1880" y="1216"/>
            <a:chExt cx="248" cy="40"/>
          </a:xfrm>
        </p:grpSpPr>
        <p:sp>
          <p:nvSpPr>
            <p:cNvPr id="44045" name="Line 13">
              <a:extLst>
                <a:ext uri="{FF2B5EF4-FFF2-40B4-BE49-F238E27FC236}">
                  <a16:creationId xmlns:a16="http://schemas.microsoft.com/office/drawing/2014/main" id="{7AC12D47-486C-3A08-6DF0-0966A4B135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80" y="1216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4046" name="Line 14">
              <a:extLst>
                <a:ext uri="{FF2B5EF4-FFF2-40B4-BE49-F238E27FC236}">
                  <a16:creationId xmlns:a16="http://schemas.microsoft.com/office/drawing/2014/main" id="{356B2737-67B8-11EB-D898-524D87379E7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048" y="1216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2776" name="Group 15">
            <a:extLst>
              <a:ext uri="{FF2B5EF4-FFF2-40B4-BE49-F238E27FC236}">
                <a16:creationId xmlns:a16="http://schemas.microsoft.com/office/drawing/2014/main" id="{DFBDE460-4135-CC8A-9D05-2DD87C91A1CC}"/>
              </a:ext>
            </a:extLst>
          </p:cNvPr>
          <p:cNvGrpSpPr>
            <a:grpSpLocks/>
          </p:cNvGrpSpPr>
          <p:nvPr/>
        </p:nvGrpSpPr>
        <p:grpSpPr bwMode="auto">
          <a:xfrm>
            <a:off x="4102100" y="1930400"/>
            <a:ext cx="393700" cy="63500"/>
            <a:chOff x="2584" y="1216"/>
            <a:chExt cx="248" cy="40"/>
          </a:xfrm>
        </p:grpSpPr>
        <p:sp>
          <p:nvSpPr>
            <p:cNvPr id="44048" name="Line 16">
              <a:extLst>
                <a:ext uri="{FF2B5EF4-FFF2-40B4-BE49-F238E27FC236}">
                  <a16:creationId xmlns:a16="http://schemas.microsoft.com/office/drawing/2014/main" id="{6B446E26-CFBA-1A48-083F-53FF7CA23BD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84" y="1216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4049" name="Line 17">
              <a:extLst>
                <a:ext uri="{FF2B5EF4-FFF2-40B4-BE49-F238E27FC236}">
                  <a16:creationId xmlns:a16="http://schemas.microsoft.com/office/drawing/2014/main" id="{61607B75-1B55-1AFC-9856-8C43A5F7E40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52" y="1216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2777" name="Group 18">
            <a:extLst>
              <a:ext uri="{FF2B5EF4-FFF2-40B4-BE49-F238E27FC236}">
                <a16:creationId xmlns:a16="http://schemas.microsoft.com/office/drawing/2014/main" id="{8290DFF2-FE74-6765-E0F6-DC03D4073483}"/>
              </a:ext>
            </a:extLst>
          </p:cNvPr>
          <p:cNvGrpSpPr>
            <a:grpSpLocks/>
          </p:cNvGrpSpPr>
          <p:nvPr/>
        </p:nvGrpSpPr>
        <p:grpSpPr bwMode="auto">
          <a:xfrm>
            <a:off x="1066800" y="2768600"/>
            <a:ext cx="393700" cy="63500"/>
            <a:chOff x="672" y="1744"/>
            <a:chExt cx="248" cy="40"/>
          </a:xfrm>
        </p:grpSpPr>
        <p:sp>
          <p:nvSpPr>
            <p:cNvPr id="44051" name="Line 19">
              <a:extLst>
                <a:ext uri="{FF2B5EF4-FFF2-40B4-BE49-F238E27FC236}">
                  <a16:creationId xmlns:a16="http://schemas.microsoft.com/office/drawing/2014/main" id="{2A542A79-7C32-E930-BDB3-DA2F8EE06A5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840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4052" name="Line 20">
              <a:extLst>
                <a:ext uri="{FF2B5EF4-FFF2-40B4-BE49-F238E27FC236}">
                  <a16:creationId xmlns:a16="http://schemas.microsoft.com/office/drawing/2014/main" id="{334F8528-53A9-A951-6437-C806C70D732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72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2778" name="Group 21">
            <a:extLst>
              <a:ext uri="{FF2B5EF4-FFF2-40B4-BE49-F238E27FC236}">
                <a16:creationId xmlns:a16="http://schemas.microsoft.com/office/drawing/2014/main" id="{A6BD883F-A8B8-CE5D-55E6-004158D0DEA4}"/>
              </a:ext>
            </a:extLst>
          </p:cNvPr>
          <p:cNvGrpSpPr>
            <a:grpSpLocks/>
          </p:cNvGrpSpPr>
          <p:nvPr/>
        </p:nvGrpSpPr>
        <p:grpSpPr bwMode="auto">
          <a:xfrm>
            <a:off x="1943100" y="2768600"/>
            <a:ext cx="393700" cy="63500"/>
            <a:chOff x="1224" y="1744"/>
            <a:chExt cx="248" cy="40"/>
          </a:xfrm>
        </p:grpSpPr>
        <p:sp>
          <p:nvSpPr>
            <p:cNvPr id="44054" name="Line 22">
              <a:extLst>
                <a:ext uri="{FF2B5EF4-FFF2-40B4-BE49-F238E27FC236}">
                  <a16:creationId xmlns:a16="http://schemas.microsoft.com/office/drawing/2014/main" id="{A4718F1D-6281-EF37-0215-5A9191EBAE0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1392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4055" name="Line 23">
              <a:extLst>
                <a:ext uri="{FF2B5EF4-FFF2-40B4-BE49-F238E27FC236}">
                  <a16:creationId xmlns:a16="http://schemas.microsoft.com/office/drawing/2014/main" id="{C1F5DFAD-C85A-54B9-51ED-E1345AE28F0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224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2779" name="Group 24">
            <a:extLst>
              <a:ext uri="{FF2B5EF4-FFF2-40B4-BE49-F238E27FC236}">
                <a16:creationId xmlns:a16="http://schemas.microsoft.com/office/drawing/2014/main" id="{5C457798-F6A9-0A4A-9206-16E692E5601A}"/>
              </a:ext>
            </a:extLst>
          </p:cNvPr>
          <p:cNvGrpSpPr>
            <a:grpSpLocks/>
          </p:cNvGrpSpPr>
          <p:nvPr/>
        </p:nvGrpSpPr>
        <p:grpSpPr bwMode="auto">
          <a:xfrm>
            <a:off x="2971800" y="2768600"/>
            <a:ext cx="393700" cy="63500"/>
            <a:chOff x="1872" y="1744"/>
            <a:chExt cx="248" cy="40"/>
          </a:xfrm>
        </p:grpSpPr>
        <p:sp>
          <p:nvSpPr>
            <p:cNvPr id="44057" name="Line 25">
              <a:extLst>
                <a:ext uri="{FF2B5EF4-FFF2-40B4-BE49-F238E27FC236}">
                  <a16:creationId xmlns:a16="http://schemas.microsoft.com/office/drawing/2014/main" id="{1097D743-ED6B-1CC7-0DDE-A0F294C4F5F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040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4058" name="Line 26">
              <a:extLst>
                <a:ext uri="{FF2B5EF4-FFF2-40B4-BE49-F238E27FC236}">
                  <a16:creationId xmlns:a16="http://schemas.microsoft.com/office/drawing/2014/main" id="{B42E38AD-0DB9-0CB9-B636-6147548EB7B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872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2780" name="Group 27">
            <a:extLst>
              <a:ext uri="{FF2B5EF4-FFF2-40B4-BE49-F238E27FC236}">
                <a16:creationId xmlns:a16="http://schemas.microsoft.com/office/drawing/2014/main" id="{87CFCD28-7CF6-A2B4-6A7C-EE0FE8FB7BAC}"/>
              </a:ext>
            </a:extLst>
          </p:cNvPr>
          <p:cNvGrpSpPr>
            <a:grpSpLocks/>
          </p:cNvGrpSpPr>
          <p:nvPr/>
        </p:nvGrpSpPr>
        <p:grpSpPr bwMode="auto">
          <a:xfrm>
            <a:off x="4000500" y="2768600"/>
            <a:ext cx="393700" cy="63500"/>
            <a:chOff x="2520" y="1744"/>
            <a:chExt cx="248" cy="40"/>
          </a:xfrm>
        </p:grpSpPr>
        <p:sp>
          <p:nvSpPr>
            <p:cNvPr id="44060" name="Line 28">
              <a:extLst>
                <a:ext uri="{FF2B5EF4-FFF2-40B4-BE49-F238E27FC236}">
                  <a16:creationId xmlns:a16="http://schemas.microsoft.com/office/drawing/2014/main" id="{B23D00D3-F361-9F97-FD59-C895A0EFB58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688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4061" name="Line 29">
              <a:extLst>
                <a:ext uri="{FF2B5EF4-FFF2-40B4-BE49-F238E27FC236}">
                  <a16:creationId xmlns:a16="http://schemas.microsoft.com/office/drawing/2014/main" id="{D104AE85-2A81-B312-4293-3ECEBF9CF0F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520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sp>
        <p:nvSpPr>
          <p:cNvPr id="44062" name="Line 30">
            <a:extLst>
              <a:ext uri="{FF2B5EF4-FFF2-40B4-BE49-F238E27FC236}">
                <a16:creationId xmlns:a16="http://schemas.microsoft.com/office/drawing/2014/main" id="{ED04CB38-C561-6465-BB54-385EDE4E5A32}"/>
              </a:ext>
            </a:extLst>
          </p:cNvPr>
          <p:cNvSpPr>
            <a:spLocks noChangeShapeType="1"/>
          </p:cNvSpPr>
          <p:nvPr/>
        </p:nvSpPr>
        <p:spPr bwMode="auto">
          <a:xfrm>
            <a:off x="4686300" y="1981200"/>
            <a:ext cx="368300" cy="0"/>
          </a:xfrm>
          <a:prstGeom prst="line">
            <a:avLst/>
          </a:prstGeom>
          <a:noFill/>
          <a:ln w="25400">
            <a:solidFill>
              <a:srgbClr val="037C03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4063" name="Line 31">
            <a:extLst>
              <a:ext uri="{FF2B5EF4-FFF2-40B4-BE49-F238E27FC236}">
                <a16:creationId xmlns:a16="http://schemas.microsoft.com/office/drawing/2014/main" id="{9B46BF45-D870-6A47-FF61-A2F8089D4183}"/>
              </a:ext>
            </a:extLst>
          </p:cNvPr>
          <p:cNvSpPr>
            <a:spLocks noChangeShapeType="1"/>
          </p:cNvSpPr>
          <p:nvPr/>
        </p:nvSpPr>
        <p:spPr bwMode="auto">
          <a:xfrm>
            <a:off x="4711700" y="2374900"/>
            <a:ext cx="368300" cy="0"/>
          </a:xfrm>
          <a:prstGeom prst="line">
            <a:avLst/>
          </a:prstGeom>
          <a:noFill/>
          <a:ln w="25400">
            <a:solidFill>
              <a:srgbClr val="037C03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4064" name="Line 32">
            <a:extLst>
              <a:ext uri="{FF2B5EF4-FFF2-40B4-BE49-F238E27FC236}">
                <a16:creationId xmlns:a16="http://schemas.microsoft.com/office/drawing/2014/main" id="{6055819A-D861-9AD0-0CDB-62D63CC2A160}"/>
              </a:ext>
            </a:extLst>
          </p:cNvPr>
          <p:cNvSpPr>
            <a:spLocks noChangeShapeType="1"/>
          </p:cNvSpPr>
          <p:nvPr/>
        </p:nvSpPr>
        <p:spPr bwMode="auto">
          <a:xfrm>
            <a:off x="4724400" y="2794000"/>
            <a:ext cx="368300" cy="0"/>
          </a:xfrm>
          <a:prstGeom prst="line">
            <a:avLst/>
          </a:prstGeom>
          <a:noFill/>
          <a:ln w="25400">
            <a:solidFill>
              <a:srgbClr val="037C03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4065" name="Rectangle 33">
            <a:extLst>
              <a:ext uri="{FF2B5EF4-FFF2-40B4-BE49-F238E27FC236}">
                <a16:creationId xmlns:a16="http://schemas.microsoft.com/office/drawing/2014/main" id="{67A6C9D2-2D26-5800-6041-71C0E64797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6963" y="3073400"/>
            <a:ext cx="7989887" cy="1143000"/>
          </a:xfrm>
          <a:prstGeom prst="rect">
            <a:avLst/>
          </a:prstGeom>
          <a:noFill/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</a:extLst>
        </p:spPr>
        <p:txBody>
          <a:bodyPr lIns="90488" tIns="44450" rIns="90488" bIns="44450" anchor="ctr"/>
          <a:lstStyle/>
          <a:p>
            <a:pPr algn="ctr" eaLnBrk="0" hangingPunct="0"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600">
                <a:latin typeface="Book Antiqua" charset="0"/>
                <a:ea typeface="ＭＳ Ｐゴシック" charset="0"/>
              </a:rPr>
              <a:t>The Family...</a:t>
            </a:r>
          </a:p>
        </p:txBody>
      </p:sp>
      <p:sp>
        <p:nvSpPr>
          <p:cNvPr id="44066" name="Rectangle 34">
            <a:extLst>
              <a:ext uri="{FF2B5EF4-FFF2-40B4-BE49-F238E27FC236}">
                <a16:creationId xmlns:a16="http://schemas.microsoft.com/office/drawing/2014/main" id="{4D9DE40F-4100-1DD7-C555-A0F1FDBD0B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25" y="4605338"/>
            <a:ext cx="3216275" cy="174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4067" name="Rectangle 35">
            <a:extLst>
              <a:ext uri="{FF2B5EF4-FFF2-40B4-BE49-F238E27FC236}">
                <a16:creationId xmlns:a16="http://schemas.microsoft.com/office/drawing/2014/main" id="{774075C2-7003-C7AA-DA3B-B7C5D4063F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013" y="4073525"/>
            <a:ext cx="2165350" cy="2038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marL="342900" indent="-342900" eaLnBrk="0" hangingPunct="0"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latin typeface="Arial" charset="0"/>
                <a:ea typeface="ＭＳ Ｐゴシック" charset="0"/>
              </a:rPr>
              <a:t>Directions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endParaRPr lang="en-US" sz="3200">
              <a:latin typeface="Arial" charset="0"/>
              <a:ea typeface="ＭＳ Ｐゴシック" charset="0"/>
            </a:endParaRP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>
                <a:latin typeface="Arial" charset="0"/>
                <a:ea typeface="ＭＳ Ｐゴシック" charset="0"/>
              </a:rPr>
              <a:t>Left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endParaRPr lang="en-US" sz="3200">
              <a:latin typeface="Arial" charset="0"/>
              <a:ea typeface="ＭＳ Ｐゴシック" charset="0"/>
            </a:endParaRPr>
          </a:p>
        </p:txBody>
      </p:sp>
      <p:sp>
        <p:nvSpPr>
          <p:cNvPr id="44068" name="Rectangle 36">
            <a:extLst>
              <a:ext uri="{FF2B5EF4-FFF2-40B4-BE49-F238E27FC236}">
                <a16:creationId xmlns:a16="http://schemas.microsoft.com/office/drawing/2014/main" id="{08F9D7F2-E2D1-994E-7BE3-9AA8968D60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4413" y="4144963"/>
            <a:ext cx="1916112" cy="2428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latin typeface="Arial" charset="0"/>
                <a:ea typeface="ＭＳ Ｐゴシック" charset="0"/>
              </a:rPr>
              <a:t>Inclusive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latin typeface="Arial" charset="0"/>
                <a:ea typeface="ＭＳ Ｐゴシック" charset="0"/>
              </a:rPr>
              <a:t>Exc=0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>
                <a:latin typeface="Arial" charset="0"/>
                <a:ea typeface="ＭＳ Ｐゴシック" charset="0"/>
              </a:rPr>
              <a:t>Prefix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endParaRPr lang="en-US" sz="3200">
              <a:latin typeface="Arial" charset="0"/>
              <a:ea typeface="ＭＳ Ｐゴシック" charset="0"/>
            </a:endParaRP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endParaRPr lang="en-US" sz="3200" b="1">
              <a:latin typeface="Arial" charset="0"/>
              <a:ea typeface="ＭＳ Ｐゴシック" charset="0"/>
            </a:endParaRPr>
          </a:p>
        </p:txBody>
      </p:sp>
      <p:sp>
        <p:nvSpPr>
          <p:cNvPr id="44069" name="Rectangle 37">
            <a:extLst>
              <a:ext uri="{FF2B5EF4-FFF2-40B4-BE49-F238E27FC236}">
                <a16:creationId xmlns:a16="http://schemas.microsoft.com/office/drawing/2014/main" id="{F6A67340-A2D0-5B8B-EC5F-BFF77A8C8C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89413" y="4144963"/>
            <a:ext cx="2144712" cy="2428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latin typeface="Arial" charset="0"/>
                <a:ea typeface="ＭＳ Ｐゴシック" charset="0"/>
              </a:rPr>
              <a:t>Exclusive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latin typeface="Arial" charset="0"/>
                <a:ea typeface="ＭＳ Ｐゴシック" charset="0"/>
              </a:rPr>
              <a:t>Exc=1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latin typeface="Arial" charset="0"/>
                <a:ea typeface="ＭＳ Ｐゴシック" charset="0"/>
              </a:rPr>
              <a:t>Exc Prefix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endParaRPr lang="en-US" sz="3200">
              <a:latin typeface="Arial" charset="0"/>
              <a:ea typeface="ＭＳ Ｐゴシック" charset="0"/>
            </a:endParaRP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endParaRPr lang="en-US" sz="3200">
              <a:latin typeface="Arial" charset="0"/>
              <a:ea typeface="ＭＳ Ｐゴシック" charset="0"/>
            </a:endParaRPr>
          </a:p>
        </p:txBody>
      </p:sp>
      <p:sp>
        <p:nvSpPr>
          <p:cNvPr id="44070" name="Rectangle 38">
            <a:extLst>
              <a:ext uri="{FF2B5EF4-FFF2-40B4-BE49-F238E27FC236}">
                <a16:creationId xmlns:a16="http://schemas.microsoft.com/office/drawing/2014/main" id="{0A8E437F-92C7-0762-9DC5-A04A9ED92B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50" y="5111750"/>
            <a:ext cx="8877300" cy="1422400"/>
          </a:xfrm>
          <a:prstGeom prst="rect">
            <a:avLst/>
          </a:prstGeom>
          <a:noFill/>
          <a:ln w="12700">
            <a:solidFill>
              <a:schemeClr val="bg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4071" name="Line 39">
            <a:extLst>
              <a:ext uri="{FF2B5EF4-FFF2-40B4-BE49-F238E27FC236}">
                <a16:creationId xmlns:a16="http://schemas.microsoft.com/office/drawing/2014/main" id="{4333DDE8-4BE4-6370-2CCB-74AF4DF90D19}"/>
              </a:ext>
            </a:extLst>
          </p:cNvPr>
          <p:cNvSpPr>
            <a:spLocks noChangeShapeType="1"/>
          </p:cNvSpPr>
          <p:nvPr/>
        </p:nvSpPr>
        <p:spPr bwMode="auto">
          <a:xfrm>
            <a:off x="2273300" y="4203700"/>
            <a:ext cx="0" cy="233680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4072" name="Line 40">
            <a:extLst>
              <a:ext uri="{FF2B5EF4-FFF2-40B4-BE49-F238E27FC236}">
                <a16:creationId xmlns:a16="http://schemas.microsoft.com/office/drawing/2014/main" id="{05AB883B-C0AA-EE7D-0925-CA6FC8D84D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178300" y="4216400"/>
            <a:ext cx="0" cy="233680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4073" name="Line 41">
            <a:extLst>
              <a:ext uri="{FF2B5EF4-FFF2-40B4-BE49-F238E27FC236}">
                <a16:creationId xmlns:a16="http://schemas.microsoft.com/office/drawing/2014/main" id="{19411B91-7A49-88A5-87EB-01D259AD79A2}"/>
              </a:ext>
            </a:extLst>
          </p:cNvPr>
          <p:cNvSpPr>
            <a:spLocks noChangeShapeType="1"/>
          </p:cNvSpPr>
          <p:nvPr/>
        </p:nvSpPr>
        <p:spPr bwMode="auto">
          <a:xfrm>
            <a:off x="6451600" y="4216400"/>
            <a:ext cx="0" cy="233680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</p:spTree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>
            <a:extLst>
              <a:ext uri="{FF2B5EF4-FFF2-40B4-BE49-F238E27FC236}">
                <a16:creationId xmlns:a16="http://schemas.microsoft.com/office/drawing/2014/main" id="{0795B7AB-2AA6-05C5-7504-6991D6CCBE6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09600" y="0"/>
            <a:ext cx="7772400" cy="1143000"/>
          </a:xfrm>
          <a:noFill/>
          <a:effectLst>
            <a:outerShdw blurRad="63500" dist="35921" dir="2700000" algn="ctr" rotWithShape="0">
              <a:srgbClr val="000000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90488" tIns="44450" rIns="90488" bIns="44450"/>
          <a:lstStyle/>
          <a:p>
            <a:pPr eaLnBrk="1" hangingPunct="1">
              <a:defRPr/>
            </a:pPr>
            <a:r>
              <a:rPr lang="en-US">
                <a:solidFill>
                  <a:schemeClr val="tx1"/>
                </a:solidFill>
              </a:rPr>
              <a:t>Variations on Prefix</a:t>
            </a:r>
          </a:p>
        </p:txBody>
      </p:sp>
      <p:sp>
        <p:nvSpPr>
          <p:cNvPr id="45059" name="Rectangle 3">
            <a:extLst>
              <a:ext uri="{FF2B5EF4-FFF2-40B4-BE49-F238E27FC236}">
                <a16:creationId xmlns:a16="http://schemas.microsoft.com/office/drawing/2014/main" id="{7E50C817-2D7C-F2E5-E042-FAB9F0C69E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5575" y="1619250"/>
            <a:ext cx="8858250" cy="2817813"/>
          </a:xfrm>
          <a:extLst>
            <a:ext uri="{91240B29-F687-4f45-9708-019B960494DF}">
              <a14:hiddenLine xmlns:a14="http://schemas.microsoft.com/office/drawing/2010/main" xmlns="" w="508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90488" tIns="44450" rIns="90488" bIns="44450">
            <a:spAutoFit/>
          </a:bodyPr>
          <a:lstStyle/>
          <a:p>
            <a:pPr eaLnBrk="1" hangingPunct="1">
              <a:lnSpc>
                <a:spcPct val="65000"/>
              </a:lnSpc>
              <a:buFontTx/>
              <a:buNone/>
              <a:defRPr/>
            </a:pPr>
            <a:r>
              <a:rPr lang="en-US"/>
              <a:t>      1  2  3  4   5  6    7  8</a:t>
            </a:r>
          </a:p>
          <a:p>
            <a:pPr eaLnBrk="1" hangingPunct="1">
              <a:lnSpc>
                <a:spcPct val="65000"/>
              </a:lnSpc>
              <a:buFontTx/>
              <a:buNone/>
              <a:defRPr/>
            </a:pPr>
            <a:r>
              <a:rPr lang="en-US"/>
              <a:t>        3      7      11      15</a:t>
            </a:r>
          </a:p>
          <a:p>
            <a:pPr eaLnBrk="1" hangingPunct="1">
              <a:lnSpc>
                <a:spcPct val="65000"/>
              </a:lnSpc>
              <a:buFontTx/>
              <a:buNone/>
              <a:defRPr/>
            </a:pPr>
            <a:r>
              <a:rPr lang="en-US"/>
              <a:t>        0      3      10      21</a:t>
            </a:r>
          </a:p>
          <a:p>
            <a:pPr eaLnBrk="1" hangingPunct="1">
              <a:lnSpc>
                <a:spcPct val="65000"/>
              </a:lnSpc>
              <a:buFontTx/>
              <a:buNone/>
              <a:defRPr/>
            </a:pPr>
            <a:r>
              <a:rPr lang="en-US"/>
              <a:t>      0  1  3  6 10 15 21 28 </a:t>
            </a:r>
          </a:p>
          <a:p>
            <a:pPr eaLnBrk="1" hangingPunct="1">
              <a:buFontTx/>
              <a:buNone/>
              <a:defRPr/>
            </a:pPr>
            <a:r>
              <a:rPr lang="en-US"/>
              <a:t>	</a:t>
            </a:r>
          </a:p>
          <a:p>
            <a:pPr eaLnBrk="1" hangingPunct="1">
              <a:buFontTx/>
              <a:buNone/>
              <a:defRPr/>
            </a:pPr>
            <a:endParaRPr lang="en-US"/>
          </a:p>
        </p:txBody>
      </p:sp>
      <p:sp>
        <p:nvSpPr>
          <p:cNvPr id="45060" name="Rectangle 4">
            <a:extLst>
              <a:ext uri="{FF2B5EF4-FFF2-40B4-BE49-F238E27FC236}">
                <a16:creationId xmlns:a16="http://schemas.microsoft.com/office/drawing/2014/main" id="{074A5B86-6B56-3E2F-6C25-2917F52072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838200"/>
            <a:ext cx="7931150" cy="5159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marL="342900" indent="-342900" eaLnBrk="0" hangingPunct="0"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2800">
                <a:latin typeface="Arial" charset="0"/>
                <a:ea typeface="ＭＳ Ｐゴシック" charset="0"/>
              </a:rPr>
              <a:t>exclusive( [1 2 3 4 5 6 7 8])=[0 1 3 6 10 15 21 28]</a:t>
            </a:r>
          </a:p>
        </p:txBody>
      </p:sp>
      <p:sp>
        <p:nvSpPr>
          <p:cNvPr id="45061" name="Rectangle 5">
            <a:extLst>
              <a:ext uri="{FF2B5EF4-FFF2-40B4-BE49-F238E27FC236}">
                <a16:creationId xmlns:a16="http://schemas.microsoft.com/office/drawing/2014/main" id="{8BB6E1E3-D677-DDE7-C1D9-B388F47C18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0813" y="1782763"/>
            <a:ext cx="3090862" cy="1284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marL="342900" indent="-3429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None/>
            </a:pPr>
            <a:r>
              <a:rPr lang="en-US" altLang="en-US" sz="2800"/>
              <a:t>1)Pairwise Sums</a:t>
            </a:r>
          </a:p>
          <a:p>
            <a:pPr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None/>
            </a:pPr>
            <a:r>
              <a:rPr lang="en-US" altLang="en-US" sz="2800"/>
              <a:t>2)Recursive Prefix</a:t>
            </a:r>
          </a:p>
          <a:p>
            <a:pPr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None/>
            </a:pPr>
            <a:r>
              <a:rPr lang="en-US" altLang="en-US" sz="2800"/>
              <a:t>3)Update </a:t>
            </a:r>
            <a:r>
              <a:rPr lang="ja-JP" altLang="en-US" sz="2800"/>
              <a:t>“</a:t>
            </a:r>
            <a:r>
              <a:rPr lang="en-US" altLang="ja-JP" sz="2800"/>
              <a:t>evens</a:t>
            </a:r>
            <a:r>
              <a:rPr lang="ja-JP" altLang="en-US" sz="2800"/>
              <a:t>”</a:t>
            </a:r>
            <a:endParaRPr lang="en-US" altLang="en-US" sz="2800"/>
          </a:p>
        </p:txBody>
      </p:sp>
      <p:grpSp>
        <p:nvGrpSpPr>
          <p:cNvPr id="33797" name="Group 6">
            <a:extLst>
              <a:ext uri="{FF2B5EF4-FFF2-40B4-BE49-F238E27FC236}">
                <a16:creationId xmlns:a16="http://schemas.microsoft.com/office/drawing/2014/main" id="{49D3B5F9-4DEE-3F0F-2E32-F1E4C659A877}"/>
              </a:ext>
            </a:extLst>
          </p:cNvPr>
          <p:cNvGrpSpPr>
            <a:grpSpLocks/>
          </p:cNvGrpSpPr>
          <p:nvPr/>
        </p:nvGrpSpPr>
        <p:grpSpPr bwMode="auto">
          <a:xfrm>
            <a:off x="1028700" y="1943100"/>
            <a:ext cx="393700" cy="63500"/>
            <a:chOff x="648" y="1224"/>
            <a:chExt cx="248" cy="40"/>
          </a:xfrm>
        </p:grpSpPr>
        <p:sp>
          <p:nvSpPr>
            <p:cNvPr id="45063" name="Line 7">
              <a:extLst>
                <a:ext uri="{FF2B5EF4-FFF2-40B4-BE49-F238E27FC236}">
                  <a16:creationId xmlns:a16="http://schemas.microsoft.com/office/drawing/2014/main" id="{8DBCE72E-D635-A65C-FDD0-62F6FED988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8" y="122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5064" name="Line 8">
              <a:extLst>
                <a:ext uri="{FF2B5EF4-FFF2-40B4-BE49-F238E27FC236}">
                  <a16:creationId xmlns:a16="http://schemas.microsoft.com/office/drawing/2014/main" id="{F685A200-C2FA-8AA5-17AA-A6EB1A55E95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816" y="122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3798" name="Group 9">
            <a:extLst>
              <a:ext uri="{FF2B5EF4-FFF2-40B4-BE49-F238E27FC236}">
                <a16:creationId xmlns:a16="http://schemas.microsoft.com/office/drawing/2014/main" id="{096A05F7-D35B-97C6-EFAE-2FB28AAE5032}"/>
              </a:ext>
            </a:extLst>
          </p:cNvPr>
          <p:cNvGrpSpPr>
            <a:grpSpLocks/>
          </p:cNvGrpSpPr>
          <p:nvPr/>
        </p:nvGrpSpPr>
        <p:grpSpPr bwMode="auto">
          <a:xfrm>
            <a:off x="1955800" y="1930400"/>
            <a:ext cx="393700" cy="63500"/>
            <a:chOff x="1232" y="1216"/>
            <a:chExt cx="248" cy="40"/>
          </a:xfrm>
        </p:grpSpPr>
        <p:sp>
          <p:nvSpPr>
            <p:cNvPr id="45066" name="Line 10">
              <a:extLst>
                <a:ext uri="{FF2B5EF4-FFF2-40B4-BE49-F238E27FC236}">
                  <a16:creationId xmlns:a16="http://schemas.microsoft.com/office/drawing/2014/main" id="{05088DED-D06C-7786-216B-979930EAEA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32" y="1216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5067" name="Line 11">
              <a:extLst>
                <a:ext uri="{FF2B5EF4-FFF2-40B4-BE49-F238E27FC236}">
                  <a16:creationId xmlns:a16="http://schemas.microsoft.com/office/drawing/2014/main" id="{14DCA729-9F32-E5B6-1888-012837E8290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400" y="1216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3799" name="Group 12">
            <a:extLst>
              <a:ext uri="{FF2B5EF4-FFF2-40B4-BE49-F238E27FC236}">
                <a16:creationId xmlns:a16="http://schemas.microsoft.com/office/drawing/2014/main" id="{3653F236-796C-7B41-5EB8-8221D874669A}"/>
              </a:ext>
            </a:extLst>
          </p:cNvPr>
          <p:cNvGrpSpPr>
            <a:grpSpLocks/>
          </p:cNvGrpSpPr>
          <p:nvPr/>
        </p:nvGrpSpPr>
        <p:grpSpPr bwMode="auto">
          <a:xfrm>
            <a:off x="2984500" y="1930400"/>
            <a:ext cx="393700" cy="63500"/>
            <a:chOff x="1880" y="1216"/>
            <a:chExt cx="248" cy="40"/>
          </a:xfrm>
        </p:grpSpPr>
        <p:sp>
          <p:nvSpPr>
            <p:cNvPr id="45069" name="Line 13">
              <a:extLst>
                <a:ext uri="{FF2B5EF4-FFF2-40B4-BE49-F238E27FC236}">
                  <a16:creationId xmlns:a16="http://schemas.microsoft.com/office/drawing/2014/main" id="{FF428ADA-278A-EB4E-F9DF-35C81B616D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80" y="1216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5070" name="Line 14">
              <a:extLst>
                <a:ext uri="{FF2B5EF4-FFF2-40B4-BE49-F238E27FC236}">
                  <a16:creationId xmlns:a16="http://schemas.microsoft.com/office/drawing/2014/main" id="{503C0B7C-ECBF-1353-5B5B-27177C25906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048" y="1216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3800" name="Group 15">
            <a:extLst>
              <a:ext uri="{FF2B5EF4-FFF2-40B4-BE49-F238E27FC236}">
                <a16:creationId xmlns:a16="http://schemas.microsoft.com/office/drawing/2014/main" id="{06E0B6BA-896A-5E11-9C7D-3AA9B1212D5C}"/>
              </a:ext>
            </a:extLst>
          </p:cNvPr>
          <p:cNvGrpSpPr>
            <a:grpSpLocks/>
          </p:cNvGrpSpPr>
          <p:nvPr/>
        </p:nvGrpSpPr>
        <p:grpSpPr bwMode="auto">
          <a:xfrm>
            <a:off x="4102100" y="1930400"/>
            <a:ext cx="393700" cy="63500"/>
            <a:chOff x="2584" y="1216"/>
            <a:chExt cx="248" cy="40"/>
          </a:xfrm>
        </p:grpSpPr>
        <p:sp>
          <p:nvSpPr>
            <p:cNvPr id="45072" name="Line 16">
              <a:extLst>
                <a:ext uri="{FF2B5EF4-FFF2-40B4-BE49-F238E27FC236}">
                  <a16:creationId xmlns:a16="http://schemas.microsoft.com/office/drawing/2014/main" id="{8868D0F6-1616-F637-138A-9395F1F2E0B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84" y="1216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5073" name="Line 17">
              <a:extLst>
                <a:ext uri="{FF2B5EF4-FFF2-40B4-BE49-F238E27FC236}">
                  <a16:creationId xmlns:a16="http://schemas.microsoft.com/office/drawing/2014/main" id="{2A0638E7-482E-B452-E9EA-74F841D88AF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52" y="1216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3801" name="Group 18">
            <a:extLst>
              <a:ext uri="{FF2B5EF4-FFF2-40B4-BE49-F238E27FC236}">
                <a16:creationId xmlns:a16="http://schemas.microsoft.com/office/drawing/2014/main" id="{9F59AE1E-28D8-3F01-6154-D327215E6B86}"/>
              </a:ext>
            </a:extLst>
          </p:cNvPr>
          <p:cNvGrpSpPr>
            <a:grpSpLocks/>
          </p:cNvGrpSpPr>
          <p:nvPr/>
        </p:nvGrpSpPr>
        <p:grpSpPr bwMode="auto">
          <a:xfrm>
            <a:off x="1066800" y="2768600"/>
            <a:ext cx="393700" cy="63500"/>
            <a:chOff x="672" y="1744"/>
            <a:chExt cx="248" cy="40"/>
          </a:xfrm>
        </p:grpSpPr>
        <p:sp>
          <p:nvSpPr>
            <p:cNvPr id="45075" name="Line 19">
              <a:extLst>
                <a:ext uri="{FF2B5EF4-FFF2-40B4-BE49-F238E27FC236}">
                  <a16:creationId xmlns:a16="http://schemas.microsoft.com/office/drawing/2014/main" id="{DAF67F03-1D7D-B9C5-639E-B7266D93F03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840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5076" name="Line 20">
              <a:extLst>
                <a:ext uri="{FF2B5EF4-FFF2-40B4-BE49-F238E27FC236}">
                  <a16:creationId xmlns:a16="http://schemas.microsoft.com/office/drawing/2014/main" id="{630D6BB1-5AC2-F1A3-6A06-6229006BF92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72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3802" name="Group 21">
            <a:extLst>
              <a:ext uri="{FF2B5EF4-FFF2-40B4-BE49-F238E27FC236}">
                <a16:creationId xmlns:a16="http://schemas.microsoft.com/office/drawing/2014/main" id="{9B934015-7105-6788-23C5-E3DE2A55872F}"/>
              </a:ext>
            </a:extLst>
          </p:cNvPr>
          <p:cNvGrpSpPr>
            <a:grpSpLocks/>
          </p:cNvGrpSpPr>
          <p:nvPr/>
        </p:nvGrpSpPr>
        <p:grpSpPr bwMode="auto">
          <a:xfrm>
            <a:off x="1943100" y="2768600"/>
            <a:ext cx="393700" cy="63500"/>
            <a:chOff x="1224" y="1744"/>
            <a:chExt cx="248" cy="40"/>
          </a:xfrm>
        </p:grpSpPr>
        <p:sp>
          <p:nvSpPr>
            <p:cNvPr id="45078" name="Line 22">
              <a:extLst>
                <a:ext uri="{FF2B5EF4-FFF2-40B4-BE49-F238E27FC236}">
                  <a16:creationId xmlns:a16="http://schemas.microsoft.com/office/drawing/2014/main" id="{5A37B986-A807-BBC5-1423-A0685DCCE22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1392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5079" name="Line 23">
              <a:extLst>
                <a:ext uri="{FF2B5EF4-FFF2-40B4-BE49-F238E27FC236}">
                  <a16:creationId xmlns:a16="http://schemas.microsoft.com/office/drawing/2014/main" id="{231F0AE2-6B82-1D92-6C34-E25EAC84C3F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224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3803" name="Group 24">
            <a:extLst>
              <a:ext uri="{FF2B5EF4-FFF2-40B4-BE49-F238E27FC236}">
                <a16:creationId xmlns:a16="http://schemas.microsoft.com/office/drawing/2014/main" id="{7BF19467-6025-226E-71DE-6EC37EAA8AD9}"/>
              </a:ext>
            </a:extLst>
          </p:cNvPr>
          <p:cNvGrpSpPr>
            <a:grpSpLocks/>
          </p:cNvGrpSpPr>
          <p:nvPr/>
        </p:nvGrpSpPr>
        <p:grpSpPr bwMode="auto">
          <a:xfrm>
            <a:off x="2971800" y="2768600"/>
            <a:ext cx="393700" cy="63500"/>
            <a:chOff x="1872" y="1744"/>
            <a:chExt cx="248" cy="40"/>
          </a:xfrm>
        </p:grpSpPr>
        <p:sp>
          <p:nvSpPr>
            <p:cNvPr id="45081" name="Line 25">
              <a:extLst>
                <a:ext uri="{FF2B5EF4-FFF2-40B4-BE49-F238E27FC236}">
                  <a16:creationId xmlns:a16="http://schemas.microsoft.com/office/drawing/2014/main" id="{DA70FF76-30D5-E443-5B31-9A08BD2CBB4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040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5082" name="Line 26">
              <a:extLst>
                <a:ext uri="{FF2B5EF4-FFF2-40B4-BE49-F238E27FC236}">
                  <a16:creationId xmlns:a16="http://schemas.microsoft.com/office/drawing/2014/main" id="{B095BC18-69B4-64A4-044F-545A6DEBDE9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872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3804" name="Group 27">
            <a:extLst>
              <a:ext uri="{FF2B5EF4-FFF2-40B4-BE49-F238E27FC236}">
                <a16:creationId xmlns:a16="http://schemas.microsoft.com/office/drawing/2014/main" id="{084BC6DC-F6DE-AE8B-9B03-952380568A4A}"/>
              </a:ext>
            </a:extLst>
          </p:cNvPr>
          <p:cNvGrpSpPr>
            <a:grpSpLocks/>
          </p:cNvGrpSpPr>
          <p:nvPr/>
        </p:nvGrpSpPr>
        <p:grpSpPr bwMode="auto">
          <a:xfrm>
            <a:off x="4000500" y="2768600"/>
            <a:ext cx="393700" cy="63500"/>
            <a:chOff x="2520" y="1744"/>
            <a:chExt cx="248" cy="40"/>
          </a:xfrm>
        </p:grpSpPr>
        <p:sp>
          <p:nvSpPr>
            <p:cNvPr id="45084" name="Line 28">
              <a:extLst>
                <a:ext uri="{FF2B5EF4-FFF2-40B4-BE49-F238E27FC236}">
                  <a16:creationId xmlns:a16="http://schemas.microsoft.com/office/drawing/2014/main" id="{6FB475FC-9111-ECDA-1959-D92B2750872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688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5085" name="Line 29">
              <a:extLst>
                <a:ext uri="{FF2B5EF4-FFF2-40B4-BE49-F238E27FC236}">
                  <a16:creationId xmlns:a16="http://schemas.microsoft.com/office/drawing/2014/main" id="{9D81201D-C4F8-1ABB-FA1D-45EDB5D2A73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520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sp>
        <p:nvSpPr>
          <p:cNvPr id="45086" name="Line 30">
            <a:extLst>
              <a:ext uri="{FF2B5EF4-FFF2-40B4-BE49-F238E27FC236}">
                <a16:creationId xmlns:a16="http://schemas.microsoft.com/office/drawing/2014/main" id="{889D2B59-FCB9-78B2-9902-4C5B36C8F450}"/>
              </a:ext>
            </a:extLst>
          </p:cNvPr>
          <p:cNvSpPr>
            <a:spLocks noChangeShapeType="1"/>
          </p:cNvSpPr>
          <p:nvPr/>
        </p:nvSpPr>
        <p:spPr bwMode="auto">
          <a:xfrm>
            <a:off x="4686300" y="1981200"/>
            <a:ext cx="368300" cy="0"/>
          </a:xfrm>
          <a:prstGeom prst="line">
            <a:avLst/>
          </a:prstGeom>
          <a:noFill/>
          <a:ln w="25400">
            <a:solidFill>
              <a:srgbClr val="037C03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5087" name="Line 31">
            <a:extLst>
              <a:ext uri="{FF2B5EF4-FFF2-40B4-BE49-F238E27FC236}">
                <a16:creationId xmlns:a16="http://schemas.microsoft.com/office/drawing/2014/main" id="{723613D7-E3D0-24B2-4D66-D3A52B13F09D}"/>
              </a:ext>
            </a:extLst>
          </p:cNvPr>
          <p:cNvSpPr>
            <a:spLocks noChangeShapeType="1"/>
          </p:cNvSpPr>
          <p:nvPr/>
        </p:nvSpPr>
        <p:spPr bwMode="auto">
          <a:xfrm>
            <a:off x="4711700" y="2374900"/>
            <a:ext cx="368300" cy="0"/>
          </a:xfrm>
          <a:prstGeom prst="line">
            <a:avLst/>
          </a:prstGeom>
          <a:noFill/>
          <a:ln w="25400">
            <a:solidFill>
              <a:srgbClr val="037C03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5088" name="Line 32">
            <a:extLst>
              <a:ext uri="{FF2B5EF4-FFF2-40B4-BE49-F238E27FC236}">
                <a16:creationId xmlns:a16="http://schemas.microsoft.com/office/drawing/2014/main" id="{A9843F6E-B9CB-31EA-B040-C05FBCF1052C}"/>
              </a:ext>
            </a:extLst>
          </p:cNvPr>
          <p:cNvSpPr>
            <a:spLocks noChangeShapeType="1"/>
          </p:cNvSpPr>
          <p:nvPr/>
        </p:nvSpPr>
        <p:spPr bwMode="auto">
          <a:xfrm>
            <a:off x="4724400" y="2794000"/>
            <a:ext cx="368300" cy="0"/>
          </a:xfrm>
          <a:prstGeom prst="line">
            <a:avLst/>
          </a:prstGeom>
          <a:noFill/>
          <a:ln w="25400">
            <a:solidFill>
              <a:srgbClr val="037C03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5089" name="Rectangle 33">
            <a:extLst>
              <a:ext uri="{FF2B5EF4-FFF2-40B4-BE49-F238E27FC236}">
                <a16:creationId xmlns:a16="http://schemas.microsoft.com/office/drawing/2014/main" id="{34B17010-9D25-BE3E-8DF2-5CA2BF5B36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6963" y="3073400"/>
            <a:ext cx="7989887" cy="1143000"/>
          </a:xfrm>
          <a:prstGeom prst="rect">
            <a:avLst/>
          </a:prstGeom>
          <a:noFill/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</a:extLst>
        </p:spPr>
        <p:txBody>
          <a:bodyPr lIns="90488" tIns="44450" rIns="90488" bIns="44450" anchor="ctr"/>
          <a:lstStyle/>
          <a:p>
            <a:pPr algn="ctr" eaLnBrk="0" hangingPunct="0"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600">
                <a:latin typeface="Book Antiqua" charset="0"/>
                <a:ea typeface="ＭＳ Ｐゴシック" charset="0"/>
              </a:rPr>
              <a:t>The Family...</a:t>
            </a:r>
          </a:p>
        </p:txBody>
      </p:sp>
      <p:sp>
        <p:nvSpPr>
          <p:cNvPr id="45090" name="Rectangle 34">
            <a:extLst>
              <a:ext uri="{FF2B5EF4-FFF2-40B4-BE49-F238E27FC236}">
                <a16:creationId xmlns:a16="http://schemas.microsoft.com/office/drawing/2014/main" id="{25DF01F6-806F-BF1A-AB77-3F0E7B5A56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25" y="4605338"/>
            <a:ext cx="3216275" cy="174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5091" name="Rectangle 35">
            <a:extLst>
              <a:ext uri="{FF2B5EF4-FFF2-40B4-BE49-F238E27FC236}">
                <a16:creationId xmlns:a16="http://schemas.microsoft.com/office/drawing/2014/main" id="{E2AEA3A7-F190-6C83-24E1-F443544E29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013" y="4073525"/>
            <a:ext cx="2165350" cy="2525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marL="342900" indent="-342900" eaLnBrk="0" hangingPunct="0"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latin typeface="Arial" charset="0"/>
                <a:ea typeface="ＭＳ Ｐゴシック" charset="0"/>
              </a:rPr>
              <a:t>Directions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endParaRPr lang="en-US" sz="3200">
              <a:latin typeface="Arial" charset="0"/>
              <a:ea typeface="ＭＳ Ｐゴシック" charset="0"/>
            </a:endParaRP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>
                <a:latin typeface="Arial" charset="0"/>
                <a:ea typeface="ＭＳ Ｐゴシック" charset="0"/>
              </a:rPr>
              <a:t>Left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>
                <a:latin typeface="Arial" charset="0"/>
                <a:ea typeface="ＭＳ Ｐゴシック" charset="0"/>
              </a:rPr>
              <a:t>Right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endParaRPr lang="en-US" sz="3200">
              <a:latin typeface="Arial" charset="0"/>
              <a:ea typeface="ＭＳ Ｐゴシック" charset="0"/>
            </a:endParaRPr>
          </a:p>
        </p:txBody>
      </p:sp>
      <p:sp>
        <p:nvSpPr>
          <p:cNvPr id="45092" name="Rectangle 36">
            <a:extLst>
              <a:ext uri="{FF2B5EF4-FFF2-40B4-BE49-F238E27FC236}">
                <a16:creationId xmlns:a16="http://schemas.microsoft.com/office/drawing/2014/main" id="{9687D148-08AA-D610-5090-9A87E12E4C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4413" y="4144963"/>
            <a:ext cx="1916112" cy="2428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latin typeface="Arial" charset="0"/>
                <a:ea typeface="ＭＳ Ｐゴシック" charset="0"/>
              </a:rPr>
              <a:t>Inclusive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latin typeface="Arial" charset="0"/>
                <a:ea typeface="ＭＳ Ｐゴシック" charset="0"/>
              </a:rPr>
              <a:t>Exc=0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>
                <a:latin typeface="Arial" charset="0"/>
                <a:ea typeface="ＭＳ Ｐゴシック" charset="0"/>
              </a:rPr>
              <a:t>Prefix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>
                <a:latin typeface="Arial" charset="0"/>
                <a:ea typeface="ＭＳ Ｐゴシック" charset="0"/>
              </a:rPr>
              <a:t>Suffix 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endParaRPr lang="en-US" sz="3200" b="1">
              <a:latin typeface="Arial" charset="0"/>
              <a:ea typeface="ＭＳ Ｐゴシック" charset="0"/>
            </a:endParaRPr>
          </a:p>
        </p:txBody>
      </p:sp>
      <p:sp>
        <p:nvSpPr>
          <p:cNvPr id="45093" name="Rectangle 37">
            <a:extLst>
              <a:ext uri="{FF2B5EF4-FFF2-40B4-BE49-F238E27FC236}">
                <a16:creationId xmlns:a16="http://schemas.microsoft.com/office/drawing/2014/main" id="{559D4CC3-C357-A4E6-188D-AB72507BFD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89413" y="4144963"/>
            <a:ext cx="2144712" cy="2428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latin typeface="Arial" charset="0"/>
                <a:ea typeface="ＭＳ Ｐゴシック" charset="0"/>
              </a:rPr>
              <a:t>Exclusive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latin typeface="Arial" charset="0"/>
                <a:ea typeface="ＭＳ Ｐゴシック" charset="0"/>
              </a:rPr>
              <a:t>Exc=1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latin typeface="Arial" charset="0"/>
                <a:ea typeface="ＭＳ Ｐゴシック" charset="0"/>
              </a:rPr>
              <a:t>Exc Prefix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>
                <a:latin typeface="Arial" charset="0"/>
                <a:ea typeface="ＭＳ Ｐゴシック" charset="0"/>
              </a:rPr>
              <a:t>Exc Suffix 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endParaRPr lang="en-US" sz="3200">
              <a:latin typeface="Arial" charset="0"/>
              <a:ea typeface="ＭＳ Ｐゴシック" charset="0"/>
            </a:endParaRPr>
          </a:p>
        </p:txBody>
      </p:sp>
      <p:sp>
        <p:nvSpPr>
          <p:cNvPr id="45094" name="Rectangle 38">
            <a:extLst>
              <a:ext uri="{FF2B5EF4-FFF2-40B4-BE49-F238E27FC236}">
                <a16:creationId xmlns:a16="http://schemas.microsoft.com/office/drawing/2014/main" id="{A1E2E29B-F9FD-1A46-EBEB-A287B21305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50" y="5111750"/>
            <a:ext cx="8877300" cy="1422400"/>
          </a:xfrm>
          <a:prstGeom prst="rect">
            <a:avLst/>
          </a:prstGeom>
          <a:noFill/>
          <a:ln w="12700">
            <a:solidFill>
              <a:schemeClr val="bg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5095" name="Line 39">
            <a:extLst>
              <a:ext uri="{FF2B5EF4-FFF2-40B4-BE49-F238E27FC236}">
                <a16:creationId xmlns:a16="http://schemas.microsoft.com/office/drawing/2014/main" id="{E9D6B655-BA96-7A89-0C33-0892EC72DE02}"/>
              </a:ext>
            </a:extLst>
          </p:cNvPr>
          <p:cNvSpPr>
            <a:spLocks noChangeShapeType="1"/>
          </p:cNvSpPr>
          <p:nvPr/>
        </p:nvSpPr>
        <p:spPr bwMode="auto">
          <a:xfrm>
            <a:off x="2273300" y="4203700"/>
            <a:ext cx="0" cy="233680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5096" name="Line 40">
            <a:extLst>
              <a:ext uri="{FF2B5EF4-FFF2-40B4-BE49-F238E27FC236}">
                <a16:creationId xmlns:a16="http://schemas.microsoft.com/office/drawing/2014/main" id="{58FA4B04-47C5-EE04-02E3-CED8BE742842}"/>
              </a:ext>
            </a:extLst>
          </p:cNvPr>
          <p:cNvSpPr>
            <a:spLocks noChangeShapeType="1"/>
          </p:cNvSpPr>
          <p:nvPr/>
        </p:nvSpPr>
        <p:spPr bwMode="auto">
          <a:xfrm>
            <a:off x="4178300" y="4216400"/>
            <a:ext cx="0" cy="233680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5097" name="Line 41">
            <a:extLst>
              <a:ext uri="{FF2B5EF4-FFF2-40B4-BE49-F238E27FC236}">
                <a16:creationId xmlns:a16="http://schemas.microsoft.com/office/drawing/2014/main" id="{3B7265EC-2113-A2CC-E17A-1CF1AADFD42D}"/>
              </a:ext>
            </a:extLst>
          </p:cNvPr>
          <p:cNvSpPr>
            <a:spLocks noChangeShapeType="1"/>
          </p:cNvSpPr>
          <p:nvPr/>
        </p:nvSpPr>
        <p:spPr bwMode="auto">
          <a:xfrm>
            <a:off x="6451600" y="4216400"/>
            <a:ext cx="0" cy="233680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</p:spTree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2">
            <a:extLst>
              <a:ext uri="{FF2B5EF4-FFF2-40B4-BE49-F238E27FC236}">
                <a16:creationId xmlns:a16="http://schemas.microsoft.com/office/drawing/2014/main" id="{81829EC6-960A-B8F9-D0B4-CFFFDEF4966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09600" y="0"/>
            <a:ext cx="7772400" cy="1143000"/>
          </a:xfrm>
          <a:noFill/>
          <a:effectLst>
            <a:outerShdw blurRad="63500" dist="35921" dir="2700000" algn="ctr" rotWithShape="0">
              <a:srgbClr val="000000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90488" tIns="44450" rIns="90488" bIns="44450"/>
          <a:lstStyle/>
          <a:p>
            <a:pPr eaLnBrk="1" hangingPunct="1">
              <a:defRPr/>
            </a:pPr>
            <a:r>
              <a:rPr lang="en-US">
                <a:solidFill>
                  <a:schemeClr val="tx1"/>
                </a:solidFill>
              </a:rPr>
              <a:t>Variations on Prefix</a:t>
            </a:r>
          </a:p>
        </p:txBody>
      </p:sp>
      <p:sp>
        <p:nvSpPr>
          <p:cNvPr id="46083" name="Rectangle 3">
            <a:extLst>
              <a:ext uri="{FF2B5EF4-FFF2-40B4-BE49-F238E27FC236}">
                <a16:creationId xmlns:a16="http://schemas.microsoft.com/office/drawing/2014/main" id="{5F31CFED-3BF6-A610-DFBF-6F68D46AA36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5575" y="1619250"/>
            <a:ext cx="8858250" cy="2233613"/>
          </a:xfrm>
          <a:extLst>
            <a:ext uri="{91240B29-F687-4f45-9708-019B960494DF}">
              <a14:hiddenLine xmlns:a14="http://schemas.microsoft.com/office/drawing/2010/main" xmlns="" w="508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90488" tIns="44450" rIns="90488" bIns="44450">
            <a:spAutoFit/>
          </a:bodyPr>
          <a:lstStyle/>
          <a:p>
            <a:pPr eaLnBrk="1" hangingPunct="1">
              <a:lnSpc>
                <a:spcPct val="65000"/>
              </a:lnSpc>
              <a:buFontTx/>
              <a:buNone/>
              <a:defRPr/>
            </a:pPr>
            <a:r>
              <a:rPr lang="en-US"/>
              <a:t>      1  2  3  4   5  6    7  8</a:t>
            </a:r>
          </a:p>
          <a:p>
            <a:pPr eaLnBrk="1" hangingPunct="1">
              <a:lnSpc>
                <a:spcPct val="65000"/>
              </a:lnSpc>
              <a:buFontTx/>
              <a:buNone/>
              <a:defRPr/>
            </a:pPr>
            <a:r>
              <a:rPr lang="en-US"/>
              <a:t>        3      7      11      15</a:t>
            </a:r>
          </a:p>
          <a:p>
            <a:pPr eaLnBrk="1" hangingPunct="1">
              <a:lnSpc>
                <a:spcPct val="65000"/>
              </a:lnSpc>
              <a:buFontTx/>
              <a:buNone/>
              <a:defRPr/>
            </a:pPr>
            <a:r>
              <a:rPr lang="en-US"/>
              <a:t>      36     36      36      36 </a:t>
            </a:r>
          </a:p>
          <a:p>
            <a:pPr eaLnBrk="1" hangingPunct="1">
              <a:lnSpc>
                <a:spcPct val="65000"/>
              </a:lnSpc>
              <a:buFontTx/>
              <a:buNone/>
              <a:defRPr/>
            </a:pPr>
            <a:r>
              <a:rPr lang="en-US"/>
              <a:t>    </a:t>
            </a:r>
            <a:r>
              <a:rPr lang="en-US" sz="2800"/>
              <a:t>36 36 36 36  36 36    36 36	</a:t>
            </a:r>
          </a:p>
          <a:p>
            <a:pPr eaLnBrk="1" hangingPunct="1">
              <a:buFontTx/>
              <a:buNone/>
              <a:defRPr/>
            </a:pPr>
            <a:endParaRPr lang="en-US"/>
          </a:p>
        </p:txBody>
      </p:sp>
      <p:sp>
        <p:nvSpPr>
          <p:cNvPr id="46084" name="Rectangle 4">
            <a:extLst>
              <a:ext uri="{FF2B5EF4-FFF2-40B4-BE49-F238E27FC236}">
                <a16:creationId xmlns:a16="http://schemas.microsoft.com/office/drawing/2014/main" id="{388F467B-3385-6AFB-C078-6BCD61FFB8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838200"/>
            <a:ext cx="8350250" cy="5159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marL="342900" indent="-342900" eaLnBrk="0" hangingPunct="0"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2800">
                <a:latin typeface="Arial" charset="0"/>
                <a:ea typeface="ＭＳ Ｐゴシック" charset="0"/>
              </a:rPr>
              <a:t>reduce( [1 2 3 4 5 6 7 8])=[36 36 36 36 36 36 36 36]</a:t>
            </a:r>
          </a:p>
        </p:txBody>
      </p:sp>
      <p:sp>
        <p:nvSpPr>
          <p:cNvPr id="46085" name="Rectangle 5">
            <a:extLst>
              <a:ext uri="{FF2B5EF4-FFF2-40B4-BE49-F238E27FC236}">
                <a16:creationId xmlns:a16="http://schemas.microsoft.com/office/drawing/2014/main" id="{C5F4A329-B8ED-EC4F-D6B6-BCA23E925E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0813" y="1782763"/>
            <a:ext cx="3409950" cy="1284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marL="342900" indent="-3429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None/>
            </a:pPr>
            <a:r>
              <a:rPr lang="en-US" altLang="en-US" sz="2800"/>
              <a:t>1)Pairwise Sums</a:t>
            </a:r>
          </a:p>
          <a:p>
            <a:pPr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None/>
            </a:pPr>
            <a:r>
              <a:rPr lang="en-US" altLang="en-US" sz="2800"/>
              <a:t>2)Recursive Reduce</a:t>
            </a:r>
          </a:p>
          <a:p>
            <a:pPr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None/>
            </a:pPr>
            <a:r>
              <a:rPr lang="en-US" altLang="en-US" sz="2800"/>
              <a:t>3)Update </a:t>
            </a:r>
            <a:r>
              <a:rPr lang="ja-JP" altLang="en-US" sz="2800"/>
              <a:t>“</a:t>
            </a:r>
            <a:r>
              <a:rPr lang="en-US" altLang="ja-JP" sz="2800"/>
              <a:t>odds</a:t>
            </a:r>
            <a:r>
              <a:rPr lang="ja-JP" altLang="en-US" sz="2800"/>
              <a:t>”</a:t>
            </a:r>
            <a:endParaRPr lang="en-US" altLang="en-US" sz="2800"/>
          </a:p>
        </p:txBody>
      </p:sp>
      <p:grpSp>
        <p:nvGrpSpPr>
          <p:cNvPr id="34821" name="Group 6">
            <a:extLst>
              <a:ext uri="{FF2B5EF4-FFF2-40B4-BE49-F238E27FC236}">
                <a16:creationId xmlns:a16="http://schemas.microsoft.com/office/drawing/2014/main" id="{87601AE9-4E0F-0E29-B888-F15AD0D3CE1B}"/>
              </a:ext>
            </a:extLst>
          </p:cNvPr>
          <p:cNvGrpSpPr>
            <a:grpSpLocks/>
          </p:cNvGrpSpPr>
          <p:nvPr/>
        </p:nvGrpSpPr>
        <p:grpSpPr bwMode="auto">
          <a:xfrm>
            <a:off x="1028700" y="1943100"/>
            <a:ext cx="393700" cy="63500"/>
            <a:chOff x="648" y="1224"/>
            <a:chExt cx="248" cy="40"/>
          </a:xfrm>
        </p:grpSpPr>
        <p:sp>
          <p:nvSpPr>
            <p:cNvPr id="46087" name="Line 7">
              <a:extLst>
                <a:ext uri="{FF2B5EF4-FFF2-40B4-BE49-F238E27FC236}">
                  <a16:creationId xmlns:a16="http://schemas.microsoft.com/office/drawing/2014/main" id="{5CFD773D-BAD2-72D1-6790-5328236C0D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8" y="122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6088" name="Line 8">
              <a:extLst>
                <a:ext uri="{FF2B5EF4-FFF2-40B4-BE49-F238E27FC236}">
                  <a16:creationId xmlns:a16="http://schemas.microsoft.com/office/drawing/2014/main" id="{1AD383ED-6850-E8C7-98FA-AB2C092C07A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816" y="122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4822" name="Group 9">
            <a:extLst>
              <a:ext uri="{FF2B5EF4-FFF2-40B4-BE49-F238E27FC236}">
                <a16:creationId xmlns:a16="http://schemas.microsoft.com/office/drawing/2014/main" id="{60CFC386-A9E4-F627-4678-8B19EE6F5563}"/>
              </a:ext>
            </a:extLst>
          </p:cNvPr>
          <p:cNvGrpSpPr>
            <a:grpSpLocks/>
          </p:cNvGrpSpPr>
          <p:nvPr/>
        </p:nvGrpSpPr>
        <p:grpSpPr bwMode="auto">
          <a:xfrm>
            <a:off x="1955800" y="1930400"/>
            <a:ext cx="393700" cy="63500"/>
            <a:chOff x="1232" y="1216"/>
            <a:chExt cx="248" cy="40"/>
          </a:xfrm>
        </p:grpSpPr>
        <p:sp>
          <p:nvSpPr>
            <p:cNvPr id="46090" name="Line 10">
              <a:extLst>
                <a:ext uri="{FF2B5EF4-FFF2-40B4-BE49-F238E27FC236}">
                  <a16:creationId xmlns:a16="http://schemas.microsoft.com/office/drawing/2014/main" id="{A9B8121A-6745-DEA6-2459-671F2DCA35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32" y="1216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6091" name="Line 11">
              <a:extLst>
                <a:ext uri="{FF2B5EF4-FFF2-40B4-BE49-F238E27FC236}">
                  <a16:creationId xmlns:a16="http://schemas.microsoft.com/office/drawing/2014/main" id="{17049FC5-BD76-54C9-80EF-D7A487FE008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400" y="1216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4823" name="Group 12">
            <a:extLst>
              <a:ext uri="{FF2B5EF4-FFF2-40B4-BE49-F238E27FC236}">
                <a16:creationId xmlns:a16="http://schemas.microsoft.com/office/drawing/2014/main" id="{D823E24E-21EF-0BB5-0A96-CEFFF125CF37}"/>
              </a:ext>
            </a:extLst>
          </p:cNvPr>
          <p:cNvGrpSpPr>
            <a:grpSpLocks/>
          </p:cNvGrpSpPr>
          <p:nvPr/>
        </p:nvGrpSpPr>
        <p:grpSpPr bwMode="auto">
          <a:xfrm>
            <a:off x="2984500" y="1930400"/>
            <a:ext cx="393700" cy="63500"/>
            <a:chOff x="1880" y="1216"/>
            <a:chExt cx="248" cy="40"/>
          </a:xfrm>
        </p:grpSpPr>
        <p:sp>
          <p:nvSpPr>
            <p:cNvPr id="46093" name="Line 13">
              <a:extLst>
                <a:ext uri="{FF2B5EF4-FFF2-40B4-BE49-F238E27FC236}">
                  <a16:creationId xmlns:a16="http://schemas.microsoft.com/office/drawing/2014/main" id="{3F595F3E-9932-611D-46F6-248C9852EE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80" y="1216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6094" name="Line 14">
              <a:extLst>
                <a:ext uri="{FF2B5EF4-FFF2-40B4-BE49-F238E27FC236}">
                  <a16:creationId xmlns:a16="http://schemas.microsoft.com/office/drawing/2014/main" id="{12E01698-4FE7-EF98-076C-83D51BEDBDC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048" y="1216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4824" name="Group 15">
            <a:extLst>
              <a:ext uri="{FF2B5EF4-FFF2-40B4-BE49-F238E27FC236}">
                <a16:creationId xmlns:a16="http://schemas.microsoft.com/office/drawing/2014/main" id="{722C8674-06D9-D7C8-0162-91757917F7DF}"/>
              </a:ext>
            </a:extLst>
          </p:cNvPr>
          <p:cNvGrpSpPr>
            <a:grpSpLocks/>
          </p:cNvGrpSpPr>
          <p:nvPr/>
        </p:nvGrpSpPr>
        <p:grpSpPr bwMode="auto">
          <a:xfrm>
            <a:off x="4102100" y="1930400"/>
            <a:ext cx="393700" cy="63500"/>
            <a:chOff x="2584" y="1216"/>
            <a:chExt cx="248" cy="40"/>
          </a:xfrm>
        </p:grpSpPr>
        <p:sp>
          <p:nvSpPr>
            <p:cNvPr id="46096" name="Line 16">
              <a:extLst>
                <a:ext uri="{FF2B5EF4-FFF2-40B4-BE49-F238E27FC236}">
                  <a16:creationId xmlns:a16="http://schemas.microsoft.com/office/drawing/2014/main" id="{F354D02B-5251-B505-6A26-76992BC4684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84" y="1216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6097" name="Line 17">
              <a:extLst>
                <a:ext uri="{FF2B5EF4-FFF2-40B4-BE49-F238E27FC236}">
                  <a16:creationId xmlns:a16="http://schemas.microsoft.com/office/drawing/2014/main" id="{B2817555-FDD5-512C-9810-A325F42BF58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52" y="1216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4825" name="Group 18">
            <a:extLst>
              <a:ext uri="{FF2B5EF4-FFF2-40B4-BE49-F238E27FC236}">
                <a16:creationId xmlns:a16="http://schemas.microsoft.com/office/drawing/2014/main" id="{8C5ECCB2-124D-C942-CA35-A62910EF1692}"/>
              </a:ext>
            </a:extLst>
          </p:cNvPr>
          <p:cNvGrpSpPr>
            <a:grpSpLocks/>
          </p:cNvGrpSpPr>
          <p:nvPr/>
        </p:nvGrpSpPr>
        <p:grpSpPr bwMode="auto">
          <a:xfrm>
            <a:off x="1066800" y="2768600"/>
            <a:ext cx="393700" cy="63500"/>
            <a:chOff x="672" y="1744"/>
            <a:chExt cx="248" cy="40"/>
          </a:xfrm>
        </p:grpSpPr>
        <p:sp>
          <p:nvSpPr>
            <p:cNvPr id="46099" name="Line 19">
              <a:extLst>
                <a:ext uri="{FF2B5EF4-FFF2-40B4-BE49-F238E27FC236}">
                  <a16:creationId xmlns:a16="http://schemas.microsoft.com/office/drawing/2014/main" id="{841C2599-A08E-BC66-4FDE-05D760DD01C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840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6100" name="Line 20">
              <a:extLst>
                <a:ext uri="{FF2B5EF4-FFF2-40B4-BE49-F238E27FC236}">
                  <a16:creationId xmlns:a16="http://schemas.microsoft.com/office/drawing/2014/main" id="{7F0F0DD2-2291-47CB-0B01-C8F06711DFB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72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4826" name="Group 21">
            <a:extLst>
              <a:ext uri="{FF2B5EF4-FFF2-40B4-BE49-F238E27FC236}">
                <a16:creationId xmlns:a16="http://schemas.microsoft.com/office/drawing/2014/main" id="{D9CD7A7D-119A-C6DB-1153-568CA34D21EE}"/>
              </a:ext>
            </a:extLst>
          </p:cNvPr>
          <p:cNvGrpSpPr>
            <a:grpSpLocks/>
          </p:cNvGrpSpPr>
          <p:nvPr/>
        </p:nvGrpSpPr>
        <p:grpSpPr bwMode="auto">
          <a:xfrm>
            <a:off x="1828800" y="2743200"/>
            <a:ext cx="393700" cy="63500"/>
            <a:chOff x="1224" y="1744"/>
            <a:chExt cx="248" cy="40"/>
          </a:xfrm>
        </p:grpSpPr>
        <p:sp>
          <p:nvSpPr>
            <p:cNvPr id="46102" name="Line 22">
              <a:extLst>
                <a:ext uri="{FF2B5EF4-FFF2-40B4-BE49-F238E27FC236}">
                  <a16:creationId xmlns:a16="http://schemas.microsoft.com/office/drawing/2014/main" id="{1D8C7270-8F3E-3169-F296-A21CA3001F2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1392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6103" name="Line 23">
              <a:extLst>
                <a:ext uri="{FF2B5EF4-FFF2-40B4-BE49-F238E27FC236}">
                  <a16:creationId xmlns:a16="http://schemas.microsoft.com/office/drawing/2014/main" id="{F6D457F5-95A1-B9E9-3881-DA215F10F7F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224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4827" name="Group 24">
            <a:extLst>
              <a:ext uri="{FF2B5EF4-FFF2-40B4-BE49-F238E27FC236}">
                <a16:creationId xmlns:a16="http://schemas.microsoft.com/office/drawing/2014/main" id="{31C7C925-D52C-E287-15CE-15531D0E2061}"/>
              </a:ext>
            </a:extLst>
          </p:cNvPr>
          <p:cNvGrpSpPr>
            <a:grpSpLocks/>
          </p:cNvGrpSpPr>
          <p:nvPr/>
        </p:nvGrpSpPr>
        <p:grpSpPr bwMode="auto">
          <a:xfrm>
            <a:off x="2743200" y="2819400"/>
            <a:ext cx="393700" cy="63500"/>
            <a:chOff x="1872" y="1744"/>
            <a:chExt cx="248" cy="40"/>
          </a:xfrm>
        </p:grpSpPr>
        <p:sp>
          <p:nvSpPr>
            <p:cNvPr id="46105" name="Line 25">
              <a:extLst>
                <a:ext uri="{FF2B5EF4-FFF2-40B4-BE49-F238E27FC236}">
                  <a16:creationId xmlns:a16="http://schemas.microsoft.com/office/drawing/2014/main" id="{1A7B095E-3B7E-FA45-7A5D-AB9E1EF8B48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040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6106" name="Line 26">
              <a:extLst>
                <a:ext uri="{FF2B5EF4-FFF2-40B4-BE49-F238E27FC236}">
                  <a16:creationId xmlns:a16="http://schemas.microsoft.com/office/drawing/2014/main" id="{FA14EDCA-1C70-F3D0-8B82-3585BB57E5D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872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4828" name="Group 27">
            <a:extLst>
              <a:ext uri="{FF2B5EF4-FFF2-40B4-BE49-F238E27FC236}">
                <a16:creationId xmlns:a16="http://schemas.microsoft.com/office/drawing/2014/main" id="{8CE07C01-22F4-5EFF-D3DE-607623FFAEF8}"/>
              </a:ext>
            </a:extLst>
          </p:cNvPr>
          <p:cNvGrpSpPr>
            <a:grpSpLocks/>
          </p:cNvGrpSpPr>
          <p:nvPr/>
        </p:nvGrpSpPr>
        <p:grpSpPr bwMode="auto">
          <a:xfrm>
            <a:off x="3810000" y="2819400"/>
            <a:ext cx="393700" cy="63500"/>
            <a:chOff x="2520" y="1744"/>
            <a:chExt cx="248" cy="40"/>
          </a:xfrm>
        </p:grpSpPr>
        <p:sp>
          <p:nvSpPr>
            <p:cNvPr id="46108" name="Line 28">
              <a:extLst>
                <a:ext uri="{FF2B5EF4-FFF2-40B4-BE49-F238E27FC236}">
                  <a16:creationId xmlns:a16="http://schemas.microsoft.com/office/drawing/2014/main" id="{5911E33C-7E58-7407-3855-D5CC4EF3487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688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6109" name="Line 29">
              <a:extLst>
                <a:ext uri="{FF2B5EF4-FFF2-40B4-BE49-F238E27FC236}">
                  <a16:creationId xmlns:a16="http://schemas.microsoft.com/office/drawing/2014/main" id="{A0D89839-0199-45AD-3116-2041B35F604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520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sp>
        <p:nvSpPr>
          <p:cNvPr id="46110" name="Line 30">
            <a:extLst>
              <a:ext uri="{FF2B5EF4-FFF2-40B4-BE49-F238E27FC236}">
                <a16:creationId xmlns:a16="http://schemas.microsoft.com/office/drawing/2014/main" id="{0A8AFFAC-E054-FC4D-E17C-ED1E0F3D6877}"/>
              </a:ext>
            </a:extLst>
          </p:cNvPr>
          <p:cNvSpPr>
            <a:spLocks noChangeShapeType="1"/>
          </p:cNvSpPr>
          <p:nvPr/>
        </p:nvSpPr>
        <p:spPr bwMode="auto">
          <a:xfrm>
            <a:off x="4686300" y="1981200"/>
            <a:ext cx="368300" cy="0"/>
          </a:xfrm>
          <a:prstGeom prst="line">
            <a:avLst/>
          </a:prstGeom>
          <a:noFill/>
          <a:ln w="25400">
            <a:solidFill>
              <a:srgbClr val="037C03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6111" name="Line 31">
            <a:extLst>
              <a:ext uri="{FF2B5EF4-FFF2-40B4-BE49-F238E27FC236}">
                <a16:creationId xmlns:a16="http://schemas.microsoft.com/office/drawing/2014/main" id="{33DE370B-D5FD-BE43-E5B0-76AC75DE2E3A}"/>
              </a:ext>
            </a:extLst>
          </p:cNvPr>
          <p:cNvSpPr>
            <a:spLocks noChangeShapeType="1"/>
          </p:cNvSpPr>
          <p:nvPr/>
        </p:nvSpPr>
        <p:spPr bwMode="auto">
          <a:xfrm>
            <a:off x="4711700" y="2374900"/>
            <a:ext cx="368300" cy="0"/>
          </a:xfrm>
          <a:prstGeom prst="line">
            <a:avLst/>
          </a:prstGeom>
          <a:noFill/>
          <a:ln w="25400">
            <a:solidFill>
              <a:srgbClr val="037C03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6112" name="Line 32">
            <a:extLst>
              <a:ext uri="{FF2B5EF4-FFF2-40B4-BE49-F238E27FC236}">
                <a16:creationId xmlns:a16="http://schemas.microsoft.com/office/drawing/2014/main" id="{59D87EE4-B7B7-7DFF-38DB-8790CD844FE8}"/>
              </a:ext>
            </a:extLst>
          </p:cNvPr>
          <p:cNvSpPr>
            <a:spLocks noChangeShapeType="1"/>
          </p:cNvSpPr>
          <p:nvPr/>
        </p:nvSpPr>
        <p:spPr bwMode="auto">
          <a:xfrm>
            <a:off x="4724400" y="2794000"/>
            <a:ext cx="368300" cy="0"/>
          </a:xfrm>
          <a:prstGeom prst="line">
            <a:avLst/>
          </a:prstGeom>
          <a:noFill/>
          <a:ln w="25400">
            <a:solidFill>
              <a:srgbClr val="037C03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6113" name="Rectangle 33">
            <a:extLst>
              <a:ext uri="{FF2B5EF4-FFF2-40B4-BE49-F238E27FC236}">
                <a16:creationId xmlns:a16="http://schemas.microsoft.com/office/drawing/2014/main" id="{1C998AB1-0CF0-2A92-362E-6058BB5FBA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6963" y="3073400"/>
            <a:ext cx="7989887" cy="1143000"/>
          </a:xfrm>
          <a:prstGeom prst="rect">
            <a:avLst/>
          </a:prstGeom>
          <a:noFill/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</a:extLst>
        </p:spPr>
        <p:txBody>
          <a:bodyPr lIns="90488" tIns="44450" rIns="90488" bIns="44450" anchor="ctr"/>
          <a:lstStyle/>
          <a:p>
            <a:pPr algn="ctr" eaLnBrk="0" hangingPunct="0"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600">
                <a:latin typeface="Book Antiqua" charset="0"/>
                <a:ea typeface="ＭＳ Ｐゴシック" charset="0"/>
              </a:rPr>
              <a:t>The Family...</a:t>
            </a:r>
          </a:p>
        </p:txBody>
      </p:sp>
      <p:sp>
        <p:nvSpPr>
          <p:cNvPr id="46114" name="Rectangle 34">
            <a:extLst>
              <a:ext uri="{FF2B5EF4-FFF2-40B4-BE49-F238E27FC236}">
                <a16:creationId xmlns:a16="http://schemas.microsoft.com/office/drawing/2014/main" id="{86F010A2-FDF0-00D5-5D2F-5D876EC147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25" y="4605338"/>
            <a:ext cx="3216275" cy="174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6115" name="Rectangle 35">
            <a:extLst>
              <a:ext uri="{FF2B5EF4-FFF2-40B4-BE49-F238E27FC236}">
                <a16:creationId xmlns:a16="http://schemas.microsoft.com/office/drawing/2014/main" id="{EC5DE5E0-5AF1-C477-B235-9EC09F43CE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013" y="4073525"/>
            <a:ext cx="2165350" cy="2525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marL="342900" indent="-342900" eaLnBrk="0" hangingPunct="0"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latin typeface="Arial" charset="0"/>
                <a:ea typeface="ＭＳ Ｐゴシック" charset="0"/>
              </a:rPr>
              <a:t>Directions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endParaRPr lang="en-US" sz="3200">
              <a:latin typeface="Arial" charset="0"/>
              <a:ea typeface="ＭＳ Ｐゴシック" charset="0"/>
            </a:endParaRP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>
                <a:latin typeface="Arial" charset="0"/>
                <a:ea typeface="ＭＳ Ｐゴシック" charset="0"/>
              </a:rPr>
              <a:t>Left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>
                <a:latin typeface="Arial" charset="0"/>
                <a:ea typeface="ＭＳ Ｐゴシック" charset="0"/>
              </a:rPr>
              <a:t>Right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>
                <a:latin typeface="Arial" charset="0"/>
                <a:ea typeface="ＭＳ Ｐゴシック" charset="0"/>
              </a:rPr>
              <a:t>Left/Right</a:t>
            </a:r>
          </a:p>
        </p:txBody>
      </p:sp>
      <p:sp>
        <p:nvSpPr>
          <p:cNvPr id="46116" name="Rectangle 36">
            <a:extLst>
              <a:ext uri="{FF2B5EF4-FFF2-40B4-BE49-F238E27FC236}">
                <a16:creationId xmlns:a16="http://schemas.microsoft.com/office/drawing/2014/main" id="{B95668E5-C91C-3F94-1CE6-9406864D70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4413" y="4144963"/>
            <a:ext cx="1916112" cy="2428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latin typeface="Arial" charset="0"/>
                <a:ea typeface="ＭＳ Ｐゴシック" charset="0"/>
              </a:rPr>
              <a:t>Inclusive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latin typeface="Arial" charset="0"/>
                <a:ea typeface="ＭＳ Ｐゴシック" charset="0"/>
              </a:rPr>
              <a:t>Exc=0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>
                <a:latin typeface="Arial" charset="0"/>
                <a:ea typeface="ＭＳ Ｐゴシック" charset="0"/>
              </a:rPr>
              <a:t>Prefix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>
                <a:latin typeface="Arial" charset="0"/>
                <a:ea typeface="ＭＳ Ｐゴシック" charset="0"/>
              </a:rPr>
              <a:t>Suffix 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latin typeface="Arial" charset="0"/>
                <a:ea typeface="ＭＳ Ｐゴシック" charset="0"/>
              </a:rPr>
              <a:t>Reduce</a:t>
            </a:r>
          </a:p>
        </p:txBody>
      </p:sp>
      <p:sp>
        <p:nvSpPr>
          <p:cNvPr id="46117" name="Rectangle 37">
            <a:extLst>
              <a:ext uri="{FF2B5EF4-FFF2-40B4-BE49-F238E27FC236}">
                <a16:creationId xmlns:a16="http://schemas.microsoft.com/office/drawing/2014/main" id="{9DDA53F1-3779-E284-2C19-3CCAA630E2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89413" y="4144963"/>
            <a:ext cx="2370137" cy="2428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latin typeface="Arial" charset="0"/>
                <a:ea typeface="ＭＳ Ｐゴシック" charset="0"/>
              </a:rPr>
              <a:t>Exclusive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latin typeface="Arial" charset="0"/>
                <a:ea typeface="ＭＳ Ｐゴシック" charset="0"/>
              </a:rPr>
              <a:t>Exc=1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latin typeface="Arial" charset="0"/>
                <a:ea typeface="ＭＳ Ｐゴシック" charset="0"/>
              </a:rPr>
              <a:t>Exc Prefix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>
                <a:latin typeface="Arial" charset="0"/>
                <a:ea typeface="ＭＳ Ｐゴシック" charset="0"/>
              </a:rPr>
              <a:t>Exc Suffix 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>
                <a:latin typeface="Arial" charset="0"/>
                <a:ea typeface="ＭＳ Ｐゴシック" charset="0"/>
              </a:rPr>
              <a:t>Exc Reduce</a:t>
            </a:r>
          </a:p>
        </p:txBody>
      </p:sp>
      <p:sp>
        <p:nvSpPr>
          <p:cNvPr id="46118" name="Rectangle 38">
            <a:extLst>
              <a:ext uri="{FF2B5EF4-FFF2-40B4-BE49-F238E27FC236}">
                <a16:creationId xmlns:a16="http://schemas.microsoft.com/office/drawing/2014/main" id="{2A6A64E2-D2A4-08DC-BFDC-82F7B546FC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50" y="5111750"/>
            <a:ext cx="8877300" cy="1422400"/>
          </a:xfrm>
          <a:prstGeom prst="rect">
            <a:avLst/>
          </a:prstGeom>
          <a:noFill/>
          <a:ln w="12700">
            <a:solidFill>
              <a:schemeClr val="bg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6119" name="Line 39">
            <a:extLst>
              <a:ext uri="{FF2B5EF4-FFF2-40B4-BE49-F238E27FC236}">
                <a16:creationId xmlns:a16="http://schemas.microsoft.com/office/drawing/2014/main" id="{76464845-78CE-ED12-7007-9E696EAEADA1}"/>
              </a:ext>
            </a:extLst>
          </p:cNvPr>
          <p:cNvSpPr>
            <a:spLocks noChangeShapeType="1"/>
          </p:cNvSpPr>
          <p:nvPr/>
        </p:nvSpPr>
        <p:spPr bwMode="auto">
          <a:xfrm>
            <a:off x="2273300" y="4203700"/>
            <a:ext cx="0" cy="233680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6120" name="Line 40">
            <a:extLst>
              <a:ext uri="{FF2B5EF4-FFF2-40B4-BE49-F238E27FC236}">
                <a16:creationId xmlns:a16="http://schemas.microsoft.com/office/drawing/2014/main" id="{A7EE1995-C0EC-9EC3-7295-1359942EDDA1}"/>
              </a:ext>
            </a:extLst>
          </p:cNvPr>
          <p:cNvSpPr>
            <a:spLocks noChangeShapeType="1"/>
          </p:cNvSpPr>
          <p:nvPr/>
        </p:nvSpPr>
        <p:spPr bwMode="auto">
          <a:xfrm>
            <a:off x="4178300" y="4216400"/>
            <a:ext cx="0" cy="233680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6121" name="Line 41">
            <a:extLst>
              <a:ext uri="{FF2B5EF4-FFF2-40B4-BE49-F238E27FC236}">
                <a16:creationId xmlns:a16="http://schemas.microsoft.com/office/drawing/2014/main" id="{923CCFE7-7B06-C1BA-1EE6-8BFC113BE385}"/>
              </a:ext>
            </a:extLst>
          </p:cNvPr>
          <p:cNvSpPr>
            <a:spLocks noChangeShapeType="1"/>
          </p:cNvSpPr>
          <p:nvPr/>
        </p:nvSpPr>
        <p:spPr bwMode="auto">
          <a:xfrm>
            <a:off x="6451600" y="4216400"/>
            <a:ext cx="0" cy="233680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</p:spTree>
  </p:cSld>
  <p:clrMapOvr>
    <a:masterClrMapping/>
  </p:clrMapOvr>
  <p:transition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>
            <a:extLst>
              <a:ext uri="{FF2B5EF4-FFF2-40B4-BE49-F238E27FC236}">
                <a16:creationId xmlns:a16="http://schemas.microsoft.com/office/drawing/2014/main" id="{C124159B-EF27-2104-0C15-10C9221D915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09600" y="0"/>
            <a:ext cx="7772400" cy="1143000"/>
          </a:xfrm>
          <a:noFill/>
          <a:effectLst>
            <a:outerShdw blurRad="63500" dist="35921" dir="2700000" algn="ctr" rotWithShape="0">
              <a:srgbClr val="000000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90488" tIns="44450" rIns="90488" bIns="44450"/>
          <a:lstStyle/>
          <a:p>
            <a:pPr eaLnBrk="1" hangingPunct="1">
              <a:defRPr/>
            </a:pPr>
            <a:r>
              <a:rPr lang="en-US">
                <a:solidFill>
                  <a:schemeClr val="tx1"/>
                </a:solidFill>
              </a:rPr>
              <a:t>Variations on Prefix</a:t>
            </a:r>
          </a:p>
        </p:txBody>
      </p:sp>
      <p:sp>
        <p:nvSpPr>
          <p:cNvPr id="47107" name="Rectangle 3">
            <a:extLst>
              <a:ext uri="{FF2B5EF4-FFF2-40B4-BE49-F238E27FC236}">
                <a16:creationId xmlns:a16="http://schemas.microsoft.com/office/drawing/2014/main" id="{ECC1F324-FDAC-D8A9-DB1E-D33AB63DE1E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5575" y="1619250"/>
            <a:ext cx="8858250" cy="2817813"/>
          </a:xfrm>
          <a:extLst>
            <a:ext uri="{91240B29-F687-4f45-9708-019B960494DF}">
              <a14:hiddenLine xmlns:a14="http://schemas.microsoft.com/office/drawing/2010/main" xmlns="" w="508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90488" tIns="44450" rIns="90488" bIns="44450">
            <a:spAutoFit/>
          </a:bodyPr>
          <a:lstStyle/>
          <a:p>
            <a:pPr eaLnBrk="1" hangingPunct="1">
              <a:lnSpc>
                <a:spcPct val="65000"/>
              </a:lnSpc>
              <a:buFontTx/>
              <a:buNone/>
              <a:defRPr/>
            </a:pPr>
            <a:r>
              <a:rPr lang="en-US"/>
              <a:t>      1  2  3  4   5  6    7  8</a:t>
            </a:r>
          </a:p>
          <a:p>
            <a:pPr eaLnBrk="1" hangingPunct="1">
              <a:lnSpc>
                <a:spcPct val="65000"/>
              </a:lnSpc>
              <a:buFontTx/>
              <a:buNone/>
              <a:defRPr/>
            </a:pPr>
            <a:r>
              <a:rPr lang="en-US"/>
              <a:t>        3      7      11      15</a:t>
            </a:r>
          </a:p>
          <a:p>
            <a:pPr eaLnBrk="1" hangingPunct="1">
              <a:lnSpc>
                <a:spcPct val="65000"/>
              </a:lnSpc>
              <a:buFontTx/>
              <a:buNone/>
              <a:defRPr/>
            </a:pPr>
            <a:r>
              <a:rPr lang="en-US"/>
              <a:t>        0      3      10      21</a:t>
            </a:r>
          </a:p>
          <a:p>
            <a:pPr eaLnBrk="1" hangingPunct="1">
              <a:lnSpc>
                <a:spcPct val="65000"/>
              </a:lnSpc>
              <a:buFontTx/>
              <a:buNone/>
              <a:defRPr/>
            </a:pPr>
            <a:r>
              <a:rPr lang="en-US"/>
              <a:t>      0  1  3  6 10 15 21 28 </a:t>
            </a:r>
          </a:p>
          <a:p>
            <a:pPr eaLnBrk="1" hangingPunct="1">
              <a:buFontTx/>
              <a:buNone/>
              <a:defRPr/>
            </a:pPr>
            <a:r>
              <a:rPr lang="en-US"/>
              <a:t>	</a:t>
            </a:r>
          </a:p>
          <a:p>
            <a:pPr eaLnBrk="1" hangingPunct="1">
              <a:buFontTx/>
              <a:buNone/>
              <a:defRPr/>
            </a:pPr>
            <a:endParaRPr lang="en-US"/>
          </a:p>
        </p:txBody>
      </p:sp>
      <p:sp>
        <p:nvSpPr>
          <p:cNvPr id="47108" name="Rectangle 4">
            <a:extLst>
              <a:ext uri="{FF2B5EF4-FFF2-40B4-BE49-F238E27FC236}">
                <a16:creationId xmlns:a16="http://schemas.microsoft.com/office/drawing/2014/main" id="{8D29D31B-5EF6-DE76-42D3-7F5FFA261C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838200"/>
            <a:ext cx="7931150" cy="5159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marL="342900" indent="-342900" eaLnBrk="0" hangingPunct="0"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2800">
                <a:latin typeface="Arial" charset="0"/>
                <a:ea typeface="ＭＳ Ｐゴシック" charset="0"/>
              </a:rPr>
              <a:t>exclusive( [1 2 3 4 5 6 7 8])=[0 1 3 6 10 15 21 28]</a:t>
            </a:r>
          </a:p>
        </p:txBody>
      </p:sp>
      <p:sp>
        <p:nvSpPr>
          <p:cNvPr id="47109" name="Rectangle 5">
            <a:extLst>
              <a:ext uri="{FF2B5EF4-FFF2-40B4-BE49-F238E27FC236}">
                <a16:creationId xmlns:a16="http://schemas.microsoft.com/office/drawing/2014/main" id="{B20CEADB-AB7C-F4EC-BC2C-CE8189C21F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0813" y="1782763"/>
            <a:ext cx="3090862" cy="1284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marL="342900" indent="-3429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None/>
            </a:pPr>
            <a:r>
              <a:rPr lang="en-US" altLang="en-US" sz="2800"/>
              <a:t>1)Pairwise Sums</a:t>
            </a:r>
          </a:p>
          <a:p>
            <a:pPr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None/>
            </a:pPr>
            <a:r>
              <a:rPr lang="en-US" altLang="en-US" sz="2800"/>
              <a:t>2)Recursive Prefix</a:t>
            </a:r>
          </a:p>
          <a:p>
            <a:pPr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None/>
            </a:pPr>
            <a:r>
              <a:rPr lang="en-US" altLang="en-US" sz="2800"/>
              <a:t>3)Update </a:t>
            </a:r>
            <a:r>
              <a:rPr lang="ja-JP" altLang="en-US" sz="2800"/>
              <a:t>“</a:t>
            </a:r>
            <a:r>
              <a:rPr lang="en-US" altLang="ja-JP" sz="2800"/>
              <a:t>evens</a:t>
            </a:r>
            <a:r>
              <a:rPr lang="ja-JP" altLang="en-US" sz="2800"/>
              <a:t>”</a:t>
            </a:r>
            <a:endParaRPr lang="en-US" altLang="en-US" sz="2800"/>
          </a:p>
        </p:txBody>
      </p:sp>
      <p:grpSp>
        <p:nvGrpSpPr>
          <p:cNvPr id="35845" name="Group 6">
            <a:extLst>
              <a:ext uri="{FF2B5EF4-FFF2-40B4-BE49-F238E27FC236}">
                <a16:creationId xmlns:a16="http://schemas.microsoft.com/office/drawing/2014/main" id="{76299128-1C53-1C9C-8A50-773DBAC6DF3F}"/>
              </a:ext>
            </a:extLst>
          </p:cNvPr>
          <p:cNvGrpSpPr>
            <a:grpSpLocks/>
          </p:cNvGrpSpPr>
          <p:nvPr/>
        </p:nvGrpSpPr>
        <p:grpSpPr bwMode="auto">
          <a:xfrm>
            <a:off x="1028700" y="1943100"/>
            <a:ext cx="393700" cy="63500"/>
            <a:chOff x="648" y="1224"/>
            <a:chExt cx="248" cy="40"/>
          </a:xfrm>
        </p:grpSpPr>
        <p:sp>
          <p:nvSpPr>
            <p:cNvPr id="47111" name="Line 7">
              <a:extLst>
                <a:ext uri="{FF2B5EF4-FFF2-40B4-BE49-F238E27FC236}">
                  <a16:creationId xmlns:a16="http://schemas.microsoft.com/office/drawing/2014/main" id="{465825C3-D143-2D1D-AB18-88CF3E1FAC8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8" y="122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7112" name="Line 8">
              <a:extLst>
                <a:ext uri="{FF2B5EF4-FFF2-40B4-BE49-F238E27FC236}">
                  <a16:creationId xmlns:a16="http://schemas.microsoft.com/office/drawing/2014/main" id="{07EA94A2-25C7-5178-6C90-D53A66F8354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816" y="122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5846" name="Group 9">
            <a:extLst>
              <a:ext uri="{FF2B5EF4-FFF2-40B4-BE49-F238E27FC236}">
                <a16:creationId xmlns:a16="http://schemas.microsoft.com/office/drawing/2014/main" id="{F85BE8DA-8D5D-F4C9-B771-8633D9BC8C3E}"/>
              </a:ext>
            </a:extLst>
          </p:cNvPr>
          <p:cNvGrpSpPr>
            <a:grpSpLocks/>
          </p:cNvGrpSpPr>
          <p:nvPr/>
        </p:nvGrpSpPr>
        <p:grpSpPr bwMode="auto">
          <a:xfrm>
            <a:off x="1955800" y="1930400"/>
            <a:ext cx="393700" cy="63500"/>
            <a:chOff x="1232" y="1216"/>
            <a:chExt cx="248" cy="40"/>
          </a:xfrm>
        </p:grpSpPr>
        <p:sp>
          <p:nvSpPr>
            <p:cNvPr id="47114" name="Line 10">
              <a:extLst>
                <a:ext uri="{FF2B5EF4-FFF2-40B4-BE49-F238E27FC236}">
                  <a16:creationId xmlns:a16="http://schemas.microsoft.com/office/drawing/2014/main" id="{B3A9AF95-B7BB-5E8E-2865-08532D49C7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32" y="1216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7115" name="Line 11">
              <a:extLst>
                <a:ext uri="{FF2B5EF4-FFF2-40B4-BE49-F238E27FC236}">
                  <a16:creationId xmlns:a16="http://schemas.microsoft.com/office/drawing/2014/main" id="{451ACF60-A37F-40DE-703C-AF8B8326C69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400" y="1216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5847" name="Group 12">
            <a:extLst>
              <a:ext uri="{FF2B5EF4-FFF2-40B4-BE49-F238E27FC236}">
                <a16:creationId xmlns:a16="http://schemas.microsoft.com/office/drawing/2014/main" id="{9CD2604A-5292-520F-926E-11E73F7FEF87}"/>
              </a:ext>
            </a:extLst>
          </p:cNvPr>
          <p:cNvGrpSpPr>
            <a:grpSpLocks/>
          </p:cNvGrpSpPr>
          <p:nvPr/>
        </p:nvGrpSpPr>
        <p:grpSpPr bwMode="auto">
          <a:xfrm>
            <a:off x="2984500" y="1930400"/>
            <a:ext cx="393700" cy="63500"/>
            <a:chOff x="1880" y="1216"/>
            <a:chExt cx="248" cy="40"/>
          </a:xfrm>
        </p:grpSpPr>
        <p:sp>
          <p:nvSpPr>
            <p:cNvPr id="47117" name="Line 13">
              <a:extLst>
                <a:ext uri="{FF2B5EF4-FFF2-40B4-BE49-F238E27FC236}">
                  <a16:creationId xmlns:a16="http://schemas.microsoft.com/office/drawing/2014/main" id="{FBCFEC77-7C58-9FB3-95B8-950FDBEFCD9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80" y="1216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7118" name="Line 14">
              <a:extLst>
                <a:ext uri="{FF2B5EF4-FFF2-40B4-BE49-F238E27FC236}">
                  <a16:creationId xmlns:a16="http://schemas.microsoft.com/office/drawing/2014/main" id="{3281A513-6F10-89FD-2C56-876E68257CF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048" y="1216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5848" name="Group 15">
            <a:extLst>
              <a:ext uri="{FF2B5EF4-FFF2-40B4-BE49-F238E27FC236}">
                <a16:creationId xmlns:a16="http://schemas.microsoft.com/office/drawing/2014/main" id="{9AEAD53B-AD7C-5BBF-DAD9-D161E93B0DB5}"/>
              </a:ext>
            </a:extLst>
          </p:cNvPr>
          <p:cNvGrpSpPr>
            <a:grpSpLocks/>
          </p:cNvGrpSpPr>
          <p:nvPr/>
        </p:nvGrpSpPr>
        <p:grpSpPr bwMode="auto">
          <a:xfrm>
            <a:off x="4102100" y="1930400"/>
            <a:ext cx="393700" cy="63500"/>
            <a:chOff x="2584" y="1216"/>
            <a:chExt cx="248" cy="40"/>
          </a:xfrm>
        </p:grpSpPr>
        <p:sp>
          <p:nvSpPr>
            <p:cNvPr id="47120" name="Line 16">
              <a:extLst>
                <a:ext uri="{FF2B5EF4-FFF2-40B4-BE49-F238E27FC236}">
                  <a16:creationId xmlns:a16="http://schemas.microsoft.com/office/drawing/2014/main" id="{79FF8927-DE2A-87EB-1B95-12A1CA5F213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84" y="1216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7121" name="Line 17">
              <a:extLst>
                <a:ext uri="{FF2B5EF4-FFF2-40B4-BE49-F238E27FC236}">
                  <a16:creationId xmlns:a16="http://schemas.microsoft.com/office/drawing/2014/main" id="{883FAB8B-19AE-6E40-268B-952EBF96109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52" y="1216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5849" name="Group 18">
            <a:extLst>
              <a:ext uri="{FF2B5EF4-FFF2-40B4-BE49-F238E27FC236}">
                <a16:creationId xmlns:a16="http://schemas.microsoft.com/office/drawing/2014/main" id="{F81B7810-09C8-ED89-752E-0675D7F2FA69}"/>
              </a:ext>
            </a:extLst>
          </p:cNvPr>
          <p:cNvGrpSpPr>
            <a:grpSpLocks/>
          </p:cNvGrpSpPr>
          <p:nvPr/>
        </p:nvGrpSpPr>
        <p:grpSpPr bwMode="auto">
          <a:xfrm>
            <a:off x="1066800" y="2768600"/>
            <a:ext cx="393700" cy="63500"/>
            <a:chOff x="672" y="1744"/>
            <a:chExt cx="248" cy="40"/>
          </a:xfrm>
        </p:grpSpPr>
        <p:sp>
          <p:nvSpPr>
            <p:cNvPr id="47123" name="Line 19">
              <a:extLst>
                <a:ext uri="{FF2B5EF4-FFF2-40B4-BE49-F238E27FC236}">
                  <a16:creationId xmlns:a16="http://schemas.microsoft.com/office/drawing/2014/main" id="{441E0F54-0CED-1111-2CD0-D6D967112E1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840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7124" name="Line 20">
              <a:extLst>
                <a:ext uri="{FF2B5EF4-FFF2-40B4-BE49-F238E27FC236}">
                  <a16:creationId xmlns:a16="http://schemas.microsoft.com/office/drawing/2014/main" id="{796773AA-24A3-769F-B773-CADCE28776D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72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5850" name="Group 21">
            <a:extLst>
              <a:ext uri="{FF2B5EF4-FFF2-40B4-BE49-F238E27FC236}">
                <a16:creationId xmlns:a16="http://schemas.microsoft.com/office/drawing/2014/main" id="{EAAC357A-5ED1-5D81-E1F8-036F94983973}"/>
              </a:ext>
            </a:extLst>
          </p:cNvPr>
          <p:cNvGrpSpPr>
            <a:grpSpLocks/>
          </p:cNvGrpSpPr>
          <p:nvPr/>
        </p:nvGrpSpPr>
        <p:grpSpPr bwMode="auto">
          <a:xfrm>
            <a:off x="1943100" y="2768600"/>
            <a:ext cx="393700" cy="63500"/>
            <a:chOff x="1224" y="1744"/>
            <a:chExt cx="248" cy="40"/>
          </a:xfrm>
        </p:grpSpPr>
        <p:sp>
          <p:nvSpPr>
            <p:cNvPr id="47126" name="Line 22">
              <a:extLst>
                <a:ext uri="{FF2B5EF4-FFF2-40B4-BE49-F238E27FC236}">
                  <a16:creationId xmlns:a16="http://schemas.microsoft.com/office/drawing/2014/main" id="{4AE63C38-5536-3993-03A3-4C3EFEB2D28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1392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7127" name="Line 23">
              <a:extLst>
                <a:ext uri="{FF2B5EF4-FFF2-40B4-BE49-F238E27FC236}">
                  <a16:creationId xmlns:a16="http://schemas.microsoft.com/office/drawing/2014/main" id="{DB61F969-9A20-1419-F0F4-B7807FB4F96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224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5851" name="Group 24">
            <a:extLst>
              <a:ext uri="{FF2B5EF4-FFF2-40B4-BE49-F238E27FC236}">
                <a16:creationId xmlns:a16="http://schemas.microsoft.com/office/drawing/2014/main" id="{B845F5D9-2733-DB05-6165-E68764F114C2}"/>
              </a:ext>
            </a:extLst>
          </p:cNvPr>
          <p:cNvGrpSpPr>
            <a:grpSpLocks/>
          </p:cNvGrpSpPr>
          <p:nvPr/>
        </p:nvGrpSpPr>
        <p:grpSpPr bwMode="auto">
          <a:xfrm>
            <a:off x="2971800" y="2768600"/>
            <a:ext cx="393700" cy="63500"/>
            <a:chOff x="1872" y="1744"/>
            <a:chExt cx="248" cy="40"/>
          </a:xfrm>
        </p:grpSpPr>
        <p:sp>
          <p:nvSpPr>
            <p:cNvPr id="47129" name="Line 25">
              <a:extLst>
                <a:ext uri="{FF2B5EF4-FFF2-40B4-BE49-F238E27FC236}">
                  <a16:creationId xmlns:a16="http://schemas.microsoft.com/office/drawing/2014/main" id="{8F47B976-10EB-77F3-0750-A1A9A023047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040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7130" name="Line 26">
              <a:extLst>
                <a:ext uri="{FF2B5EF4-FFF2-40B4-BE49-F238E27FC236}">
                  <a16:creationId xmlns:a16="http://schemas.microsoft.com/office/drawing/2014/main" id="{9F3D06C9-E135-73C1-A394-FBD9F8BBC32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872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35852" name="Group 27">
            <a:extLst>
              <a:ext uri="{FF2B5EF4-FFF2-40B4-BE49-F238E27FC236}">
                <a16:creationId xmlns:a16="http://schemas.microsoft.com/office/drawing/2014/main" id="{A6452302-0D52-C6BD-C538-337FFC04E677}"/>
              </a:ext>
            </a:extLst>
          </p:cNvPr>
          <p:cNvGrpSpPr>
            <a:grpSpLocks/>
          </p:cNvGrpSpPr>
          <p:nvPr/>
        </p:nvGrpSpPr>
        <p:grpSpPr bwMode="auto">
          <a:xfrm>
            <a:off x="4000500" y="2768600"/>
            <a:ext cx="393700" cy="63500"/>
            <a:chOff x="2520" y="1744"/>
            <a:chExt cx="248" cy="40"/>
          </a:xfrm>
        </p:grpSpPr>
        <p:sp>
          <p:nvSpPr>
            <p:cNvPr id="47132" name="Line 28">
              <a:extLst>
                <a:ext uri="{FF2B5EF4-FFF2-40B4-BE49-F238E27FC236}">
                  <a16:creationId xmlns:a16="http://schemas.microsoft.com/office/drawing/2014/main" id="{BE0E1704-7275-6935-812A-2251D877746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688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7133" name="Line 29">
              <a:extLst>
                <a:ext uri="{FF2B5EF4-FFF2-40B4-BE49-F238E27FC236}">
                  <a16:creationId xmlns:a16="http://schemas.microsoft.com/office/drawing/2014/main" id="{E6388CDD-98AA-C6F8-7B81-1F84FE45D66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520" y="1744"/>
              <a:ext cx="80" cy="40"/>
            </a:xfrm>
            <a:prstGeom prst="line">
              <a:avLst/>
            </a:prstGeom>
            <a:noFill/>
            <a:ln w="25400">
              <a:solidFill>
                <a:schemeClr val="bg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sp>
        <p:nvSpPr>
          <p:cNvPr id="47134" name="Line 30">
            <a:extLst>
              <a:ext uri="{FF2B5EF4-FFF2-40B4-BE49-F238E27FC236}">
                <a16:creationId xmlns:a16="http://schemas.microsoft.com/office/drawing/2014/main" id="{52B6BA3B-9B34-DD77-D411-DB1D06488F89}"/>
              </a:ext>
            </a:extLst>
          </p:cNvPr>
          <p:cNvSpPr>
            <a:spLocks noChangeShapeType="1"/>
          </p:cNvSpPr>
          <p:nvPr/>
        </p:nvSpPr>
        <p:spPr bwMode="auto">
          <a:xfrm>
            <a:off x="4686300" y="1981200"/>
            <a:ext cx="368300" cy="0"/>
          </a:xfrm>
          <a:prstGeom prst="line">
            <a:avLst/>
          </a:prstGeom>
          <a:noFill/>
          <a:ln w="25400">
            <a:solidFill>
              <a:srgbClr val="037C03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7135" name="Line 31">
            <a:extLst>
              <a:ext uri="{FF2B5EF4-FFF2-40B4-BE49-F238E27FC236}">
                <a16:creationId xmlns:a16="http://schemas.microsoft.com/office/drawing/2014/main" id="{AD001C4F-60C5-3C49-53CE-CD9B92CA2E56}"/>
              </a:ext>
            </a:extLst>
          </p:cNvPr>
          <p:cNvSpPr>
            <a:spLocks noChangeShapeType="1"/>
          </p:cNvSpPr>
          <p:nvPr/>
        </p:nvSpPr>
        <p:spPr bwMode="auto">
          <a:xfrm>
            <a:off x="4711700" y="2374900"/>
            <a:ext cx="368300" cy="0"/>
          </a:xfrm>
          <a:prstGeom prst="line">
            <a:avLst/>
          </a:prstGeom>
          <a:noFill/>
          <a:ln w="25400">
            <a:solidFill>
              <a:srgbClr val="037C03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7136" name="Line 32">
            <a:extLst>
              <a:ext uri="{FF2B5EF4-FFF2-40B4-BE49-F238E27FC236}">
                <a16:creationId xmlns:a16="http://schemas.microsoft.com/office/drawing/2014/main" id="{D8320ACE-3D72-3C35-865A-2C590480C3CD}"/>
              </a:ext>
            </a:extLst>
          </p:cNvPr>
          <p:cNvSpPr>
            <a:spLocks noChangeShapeType="1"/>
          </p:cNvSpPr>
          <p:nvPr/>
        </p:nvSpPr>
        <p:spPr bwMode="auto">
          <a:xfrm>
            <a:off x="4724400" y="2794000"/>
            <a:ext cx="368300" cy="0"/>
          </a:xfrm>
          <a:prstGeom prst="line">
            <a:avLst/>
          </a:prstGeom>
          <a:noFill/>
          <a:ln w="25400">
            <a:solidFill>
              <a:srgbClr val="037C03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7137" name="Rectangle 33">
            <a:extLst>
              <a:ext uri="{FF2B5EF4-FFF2-40B4-BE49-F238E27FC236}">
                <a16:creationId xmlns:a16="http://schemas.microsoft.com/office/drawing/2014/main" id="{237F6C77-5983-4C35-EE0A-74848DE95B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6963" y="3073400"/>
            <a:ext cx="7989887" cy="1143000"/>
          </a:xfrm>
          <a:prstGeom prst="rect">
            <a:avLst/>
          </a:prstGeom>
          <a:noFill/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</a:extLst>
        </p:spPr>
        <p:txBody>
          <a:bodyPr lIns="90488" tIns="44450" rIns="90488" bIns="44450" anchor="ctr"/>
          <a:lstStyle/>
          <a:p>
            <a:pPr algn="ctr" eaLnBrk="0" hangingPunct="0"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600">
                <a:latin typeface="Book Antiqua" charset="0"/>
                <a:ea typeface="ＭＳ Ｐゴシック" charset="0"/>
              </a:rPr>
              <a:t>The Family...</a:t>
            </a:r>
          </a:p>
        </p:txBody>
      </p:sp>
      <p:sp>
        <p:nvSpPr>
          <p:cNvPr id="47138" name="Rectangle 34">
            <a:extLst>
              <a:ext uri="{FF2B5EF4-FFF2-40B4-BE49-F238E27FC236}">
                <a16:creationId xmlns:a16="http://schemas.microsoft.com/office/drawing/2014/main" id="{DD77E6C9-2F2F-0831-79F7-3C64AEC149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25" y="4605338"/>
            <a:ext cx="3216275" cy="174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7139" name="Rectangle 35">
            <a:extLst>
              <a:ext uri="{FF2B5EF4-FFF2-40B4-BE49-F238E27FC236}">
                <a16:creationId xmlns:a16="http://schemas.microsoft.com/office/drawing/2014/main" id="{229033E5-A243-E79C-523C-AB0ADE0B66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013" y="4073525"/>
            <a:ext cx="2165350" cy="2525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marL="342900" indent="-342900" eaLnBrk="0" hangingPunct="0"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latin typeface="Arial" charset="0"/>
                <a:ea typeface="ＭＳ Ｐゴシック" charset="0"/>
              </a:rPr>
              <a:t>Directions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endParaRPr lang="en-US" sz="3200">
              <a:latin typeface="Arial" charset="0"/>
              <a:ea typeface="ＭＳ Ｐゴシック" charset="0"/>
            </a:endParaRP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>
                <a:latin typeface="Arial" charset="0"/>
                <a:ea typeface="ＭＳ Ｐゴシック" charset="0"/>
              </a:rPr>
              <a:t>Left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>
                <a:latin typeface="Arial" charset="0"/>
                <a:ea typeface="ＭＳ Ｐゴシック" charset="0"/>
              </a:rPr>
              <a:t>Right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>
                <a:latin typeface="Arial" charset="0"/>
                <a:ea typeface="ＭＳ Ｐゴシック" charset="0"/>
              </a:rPr>
              <a:t>Left/Right</a:t>
            </a:r>
          </a:p>
        </p:txBody>
      </p:sp>
      <p:sp>
        <p:nvSpPr>
          <p:cNvPr id="47140" name="Rectangle 36">
            <a:extLst>
              <a:ext uri="{FF2B5EF4-FFF2-40B4-BE49-F238E27FC236}">
                <a16:creationId xmlns:a16="http://schemas.microsoft.com/office/drawing/2014/main" id="{9FC1DA5E-A7EE-E583-B063-B083B7C954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4413" y="4144963"/>
            <a:ext cx="1916112" cy="2428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latin typeface="Arial" charset="0"/>
                <a:ea typeface="ＭＳ Ｐゴシック" charset="0"/>
              </a:rPr>
              <a:t>Inclusive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latin typeface="Arial" charset="0"/>
                <a:ea typeface="ＭＳ Ｐゴシック" charset="0"/>
              </a:rPr>
              <a:t>Exc=0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>
                <a:latin typeface="Arial" charset="0"/>
                <a:ea typeface="ＭＳ Ｐゴシック" charset="0"/>
              </a:rPr>
              <a:t>Prefix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>
                <a:latin typeface="Arial" charset="0"/>
                <a:ea typeface="ＭＳ Ｐゴシック" charset="0"/>
              </a:rPr>
              <a:t>Suffix 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latin typeface="Arial" charset="0"/>
                <a:ea typeface="ＭＳ Ｐゴシック" charset="0"/>
              </a:rPr>
              <a:t>Reduce</a:t>
            </a:r>
          </a:p>
        </p:txBody>
      </p:sp>
      <p:sp>
        <p:nvSpPr>
          <p:cNvPr id="47141" name="Rectangle 37">
            <a:extLst>
              <a:ext uri="{FF2B5EF4-FFF2-40B4-BE49-F238E27FC236}">
                <a16:creationId xmlns:a16="http://schemas.microsoft.com/office/drawing/2014/main" id="{1FD941C8-14CF-6556-B6C7-EEC618B4D5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89413" y="4144963"/>
            <a:ext cx="2370137" cy="2428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latin typeface="Arial" charset="0"/>
                <a:ea typeface="ＭＳ Ｐゴシック" charset="0"/>
              </a:rPr>
              <a:t>Exclusive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latin typeface="Arial" charset="0"/>
                <a:ea typeface="ＭＳ Ｐゴシック" charset="0"/>
              </a:rPr>
              <a:t>Exc=1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latin typeface="Arial" charset="0"/>
                <a:ea typeface="ＭＳ Ｐゴシック" charset="0"/>
              </a:rPr>
              <a:t>Exc Prefix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>
                <a:latin typeface="Arial" charset="0"/>
                <a:ea typeface="ＭＳ Ｐゴシック" charset="0"/>
              </a:rPr>
              <a:t>Exc Suffix 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>
                <a:latin typeface="Arial" charset="0"/>
                <a:ea typeface="ＭＳ Ｐゴシック" charset="0"/>
              </a:rPr>
              <a:t>Exc Reduce</a:t>
            </a:r>
          </a:p>
        </p:txBody>
      </p:sp>
      <p:sp>
        <p:nvSpPr>
          <p:cNvPr id="47142" name="Rectangle 38">
            <a:extLst>
              <a:ext uri="{FF2B5EF4-FFF2-40B4-BE49-F238E27FC236}">
                <a16:creationId xmlns:a16="http://schemas.microsoft.com/office/drawing/2014/main" id="{A95027B7-4063-A3C6-0510-33AFEBA140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24613" y="4157663"/>
            <a:ext cx="2797175" cy="2428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latin typeface="Arial" charset="0"/>
                <a:ea typeface="ＭＳ Ｐゴシック" charset="0"/>
              </a:rPr>
              <a:t>Neighbor Exc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latin typeface="Arial" charset="0"/>
                <a:ea typeface="ＭＳ Ｐゴシック" charset="0"/>
              </a:rPr>
              <a:t>Exc=2</a:t>
            </a:r>
            <a:endParaRPr lang="en-US" sz="3200">
              <a:latin typeface="Arial" charset="0"/>
              <a:ea typeface="ＭＳ Ｐゴシック" charset="0"/>
            </a:endParaRP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>
                <a:latin typeface="Arial" charset="0"/>
                <a:ea typeface="ＭＳ Ｐゴシック" charset="0"/>
              </a:rPr>
              <a:t>Left Multipole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>
                <a:latin typeface="Arial" charset="0"/>
                <a:ea typeface="ＭＳ Ｐゴシック" charset="0"/>
              </a:rPr>
              <a:t>Right  "  "  "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latin typeface="Arial" charset="0"/>
                <a:ea typeface="ＭＳ Ｐゴシック" charset="0"/>
              </a:rPr>
              <a:t>Multipole</a:t>
            </a:r>
          </a:p>
        </p:txBody>
      </p:sp>
      <p:sp>
        <p:nvSpPr>
          <p:cNvPr id="47143" name="Rectangle 39">
            <a:extLst>
              <a:ext uri="{FF2B5EF4-FFF2-40B4-BE49-F238E27FC236}">
                <a16:creationId xmlns:a16="http://schemas.microsoft.com/office/drawing/2014/main" id="{47090E41-055D-7000-2D28-3D518AB892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50" y="5111750"/>
            <a:ext cx="8877300" cy="1422400"/>
          </a:xfrm>
          <a:prstGeom prst="rect">
            <a:avLst/>
          </a:prstGeom>
          <a:noFill/>
          <a:ln w="12700">
            <a:solidFill>
              <a:schemeClr val="bg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7144" name="Line 40">
            <a:extLst>
              <a:ext uri="{FF2B5EF4-FFF2-40B4-BE49-F238E27FC236}">
                <a16:creationId xmlns:a16="http://schemas.microsoft.com/office/drawing/2014/main" id="{EDB19CE2-F575-95FC-0914-2B6D6E347401}"/>
              </a:ext>
            </a:extLst>
          </p:cNvPr>
          <p:cNvSpPr>
            <a:spLocks noChangeShapeType="1"/>
          </p:cNvSpPr>
          <p:nvPr/>
        </p:nvSpPr>
        <p:spPr bwMode="auto">
          <a:xfrm>
            <a:off x="2273300" y="4203700"/>
            <a:ext cx="0" cy="233680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7145" name="Line 41">
            <a:extLst>
              <a:ext uri="{FF2B5EF4-FFF2-40B4-BE49-F238E27FC236}">
                <a16:creationId xmlns:a16="http://schemas.microsoft.com/office/drawing/2014/main" id="{4426AEA1-B695-19CC-D142-03BB0058097C}"/>
              </a:ext>
            </a:extLst>
          </p:cNvPr>
          <p:cNvSpPr>
            <a:spLocks noChangeShapeType="1"/>
          </p:cNvSpPr>
          <p:nvPr/>
        </p:nvSpPr>
        <p:spPr bwMode="auto">
          <a:xfrm>
            <a:off x="4178300" y="4216400"/>
            <a:ext cx="0" cy="233680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7146" name="Line 42">
            <a:extLst>
              <a:ext uri="{FF2B5EF4-FFF2-40B4-BE49-F238E27FC236}">
                <a16:creationId xmlns:a16="http://schemas.microsoft.com/office/drawing/2014/main" id="{168D932F-8FC7-4851-BE24-DB7EEF24FA8A}"/>
              </a:ext>
            </a:extLst>
          </p:cNvPr>
          <p:cNvSpPr>
            <a:spLocks noChangeShapeType="1"/>
          </p:cNvSpPr>
          <p:nvPr/>
        </p:nvSpPr>
        <p:spPr bwMode="auto">
          <a:xfrm>
            <a:off x="6451600" y="4216400"/>
            <a:ext cx="0" cy="233680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</p:spTree>
  </p:cSld>
  <p:clrMapOvr>
    <a:masterClrMapping/>
  </p:clrMapOvr>
  <p:transition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146F5608-3077-7787-E7C7-6ABFE489837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09600" y="0"/>
            <a:ext cx="7772400" cy="1143000"/>
          </a:xfrm>
          <a:noFill/>
          <a:effectLst>
            <a:outerShdw blurRad="63500" dist="35921" dir="2700000" algn="ctr" rotWithShape="0">
              <a:srgbClr val="000000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90488" tIns="44450" rIns="90488" bIns="44450"/>
          <a:lstStyle/>
          <a:p>
            <a:pPr eaLnBrk="1" hangingPunct="1">
              <a:defRPr/>
            </a:pPr>
            <a:r>
              <a:rPr lang="en-US"/>
              <a:t>Multipole in 2d or 3d etc</a:t>
            </a:r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62DC0FD6-C90A-C02D-BF4E-BF8B5317FB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6963" y="3073400"/>
            <a:ext cx="7989887" cy="1143000"/>
          </a:xfrm>
          <a:prstGeom prst="rect">
            <a:avLst/>
          </a:prstGeom>
          <a:noFill/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</a:extLst>
        </p:spPr>
        <p:txBody>
          <a:bodyPr lIns="90488" tIns="44450" rIns="90488" bIns="44450" anchor="ctr"/>
          <a:lstStyle/>
          <a:p>
            <a:pPr algn="ctr" eaLnBrk="0" hangingPunct="0"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600">
                <a:solidFill>
                  <a:schemeClr val="accent2"/>
                </a:solidFill>
                <a:latin typeface="Book Antiqua" charset="0"/>
                <a:ea typeface="ＭＳ Ｐゴシック" charset="0"/>
              </a:rPr>
              <a:t>The Family...</a:t>
            </a:r>
          </a:p>
        </p:txBody>
      </p:sp>
      <p:sp>
        <p:nvSpPr>
          <p:cNvPr id="48132" name="Rectangle 4">
            <a:extLst>
              <a:ext uri="{FF2B5EF4-FFF2-40B4-BE49-F238E27FC236}">
                <a16:creationId xmlns:a16="http://schemas.microsoft.com/office/drawing/2014/main" id="{82C7E056-20F5-1CFB-72CC-A53011F9F9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25" y="4605338"/>
            <a:ext cx="3216275" cy="174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1997FF24-8FF4-4D1E-CFC9-4938BF8DD7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013" y="4073525"/>
            <a:ext cx="2165350" cy="2525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marL="342900" indent="-342900" eaLnBrk="0" hangingPunct="0"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solidFill>
                  <a:srgbClr val="FC0128"/>
                </a:solidFill>
                <a:latin typeface="Arial" charset="0"/>
                <a:ea typeface="ＭＳ Ｐゴシック" charset="0"/>
              </a:rPr>
              <a:t>Directions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endParaRPr lang="en-US" sz="3200">
              <a:solidFill>
                <a:schemeClr val="bg2"/>
              </a:solidFill>
              <a:latin typeface="Arial" charset="0"/>
              <a:ea typeface="ＭＳ Ｐゴシック" charset="0"/>
            </a:endParaRP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>
                <a:solidFill>
                  <a:schemeClr val="bg2"/>
                </a:solidFill>
                <a:latin typeface="Arial" charset="0"/>
                <a:ea typeface="ＭＳ Ｐゴシック" charset="0"/>
              </a:rPr>
              <a:t>Left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>
                <a:solidFill>
                  <a:schemeClr val="bg2"/>
                </a:solidFill>
                <a:latin typeface="Arial" charset="0"/>
                <a:ea typeface="ＭＳ Ｐゴシック" charset="0"/>
              </a:rPr>
              <a:t>Right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>
                <a:solidFill>
                  <a:schemeClr val="bg2"/>
                </a:solidFill>
                <a:latin typeface="Arial" charset="0"/>
                <a:ea typeface="ＭＳ Ｐゴシック" charset="0"/>
              </a:rPr>
              <a:t>Left/Right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30D17DBC-B9B2-22AA-989C-0C8A4370CC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4413" y="4144963"/>
            <a:ext cx="1916112" cy="2428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solidFill>
                  <a:srgbClr val="FC0128"/>
                </a:solidFill>
                <a:latin typeface="Arial" charset="0"/>
                <a:ea typeface="ＭＳ Ｐゴシック" charset="0"/>
              </a:rPr>
              <a:t>Inclusive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solidFill>
                  <a:schemeClr val="bg2"/>
                </a:solidFill>
                <a:latin typeface="Arial" charset="0"/>
                <a:ea typeface="ＭＳ Ｐゴシック" charset="0"/>
              </a:rPr>
              <a:t>Exc=0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>
                <a:solidFill>
                  <a:schemeClr val="bg2"/>
                </a:solidFill>
                <a:latin typeface="Arial" charset="0"/>
                <a:ea typeface="ＭＳ Ｐゴシック" charset="0"/>
              </a:rPr>
              <a:t>Prefix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>
                <a:solidFill>
                  <a:schemeClr val="bg2"/>
                </a:solidFill>
                <a:latin typeface="Arial" charset="0"/>
                <a:ea typeface="ＭＳ Ｐゴシック" charset="0"/>
              </a:rPr>
              <a:t>Suffix 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solidFill>
                  <a:schemeClr val="hlink"/>
                </a:solidFill>
                <a:latin typeface="Arial" charset="0"/>
                <a:ea typeface="ＭＳ Ｐゴシック" charset="0"/>
              </a:rPr>
              <a:t>Reduce</a:t>
            </a:r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AB177382-5A41-491A-0FFF-2FB5D680B4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89413" y="4144963"/>
            <a:ext cx="2370137" cy="2428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solidFill>
                  <a:srgbClr val="FC0128"/>
                </a:solidFill>
                <a:latin typeface="Arial" charset="0"/>
                <a:ea typeface="ＭＳ Ｐゴシック" charset="0"/>
              </a:rPr>
              <a:t>Exclusive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solidFill>
                  <a:schemeClr val="bg2"/>
                </a:solidFill>
                <a:latin typeface="Arial" charset="0"/>
                <a:ea typeface="ＭＳ Ｐゴシック" charset="0"/>
              </a:rPr>
              <a:t>Exc=1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solidFill>
                  <a:schemeClr val="hlink"/>
                </a:solidFill>
                <a:latin typeface="Arial" charset="0"/>
                <a:ea typeface="ＭＳ Ｐゴシック" charset="0"/>
              </a:rPr>
              <a:t>Exc Prefix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>
                <a:solidFill>
                  <a:schemeClr val="bg2"/>
                </a:solidFill>
                <a:latin typeface="Arial" charset="0"/>
                <a:ea typeface="ＭＳ Ｐゴシック" charset="0"/>
              </a:rPr>
              <a:t>Exc Suffix 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>
                <a:solidFill>
                  <a:schemeClr val="bg2"/>
                </a:solidFill>
                <a:latin typeface="Arial" charset="0"/>
                <a:ea typeface="ＭＳ Ｐゴシック" charset="0"/>
              </a:rPr>
              <a:t>Exc Reduce</a:t>
            </a:r>
          </a:p>
        </p:txBody>
      </p:sp>
      <p:sp>
        <p:nvSpPr>
          <p:cNvPr id="48136" name="Rectangle 8">
            <a:extLst>
              <a:ext uri="{FF2B5EF4-FFF2-40B4-BE49-F238E27FC236}">
                <a16:creationId xmlns:a16="http://schemas.microsoft.com/office/drawing/2014/main" id="{BAE4016F-5BBA-9ED0-9FD0-3D5EBFBD41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24613" y="4157663"/>
            <a:ext cx="2797175" cy="2428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FAFD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solidFill>
                  <a:srgbClr val="FC0128"/>
                </a:solidFill>
                <a:latin typeface="Arial" charset="0"/>
                <a:ea typeface="ＭＳ Ｐゴシック" charset="0"/>
              </a:rPr>
              <a:t>Neighbor Exc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solidFill>
                  <a:schemeClr val="bg2"/>
                </a:solidFill>
                <a:latin typeface="Arial" charset="0"/>
                <a:ea typeface="ＭＳ Ｐゴシック" charset="0"/>
              </a:rPr>
              <a:t>Exc=2</a:t>
            </a:r>
            <a:endParaRPr lang="en-US" sz="3200">
              <a:solidFill>
                <a:schemeClr val="bg2"/>
              </a:solidFill>
              <a:latin typeface="Arial" charset="0"/>
              <a:ea typeface="ＭＳ Ｐゴシック" charset="0"/>
            </a:endParaRP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>
                <a:solidFill>
                  <a:schemeClr val="bg2"/>
                </a:solidFill>
                <a:latin typeface="Arial" charset="0"/>
                <a:ea typeface="ＭＳ Ｐゴシック" charset="0"/>
              </a:rPr>
              <a:t>Left Multipole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>
                <a:solidFill>
                  <a:schemeClr val="bg2"/>
                </a:solidFill>
                <a:latin typeface="Arial" charset="0"/>
                <a:ea typeface="ＭＳ Ｐゴシック" charset="0"/>
              </a:rPr>
              <a:t>Right  "  "  "</a:t>
            </a:r>
          </a:p>
          <a:p>
            <a:pPr marL="342900" indent="-342900" eaLnBrk="0" hangingPunct="0">
              <a:lnSpc>
                <a:spcPct val="80000"/>
              </a:lnSpc>
              <a:spcBef>
                <a:spcPct val="20000"/>
              </a:spcBef>
              <a:buClr>
                <a:schemeClr val="tx2"/>
              </a:buClr>
              <a:buSzPct val="75000"/>
              <a:buFont typeface="Monotype Sorts" charset="0"/>
              <a:buNone/>
              <a:defRPr/>
            </a:pPr>
            <a:r>
              <a:rPr lang="en-US" sz="3200" b="1">
                <a:solidFill>
                  <a:schemeClr val="hlink"/>
                </a:solidFill>
                <a:latin typeface="Arial" charset="0"/>
                <a:ea typeface="ＭＳ Ｐゴシック" charset="0"/>
              </a:rPr>
              <a:t>Multipole</a:t>
            </a:r>
          </a:p>
        </p:txBody>
      </p:sp>
      <p:sp>
        <p:nvSpPr>
          <p:cNvPr id="48137" name="Rectangle 9">
            <a:extLst>
              <a:ext uri="{FF2B5EF4-FFF2-40B4-BE49-F238E27FC236}">
                <a16:creationId xmlns:a16="http://schemas.microsoft.com/office/drawing/2014/main" id="{B3D6FEA6-4E14-7571-C145-F2237D6FE3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50" y="5111750"/>
            <a:ext cx="8877300" cy="1422400"/>
          </a:xfrm>
          <a:prstGeom prst="rect">
            <a:avLst/>
          </a:prstGeom>
          <a:noFill/>
          <a:ln w="12700">
            <a:solidFill>
              <a:schemeClr val="bg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8138" name="Line 10">
            <a:extLst>
              <a:ext uri="{FF2B5EF4-FFF2-40B4-BE49-F238E27FC236}">
                <a16:creationId xmlns:a16="http://schemas.microsoft.com/office/drawing/2014/main" id="{4AEE2563-4D42-AFAE-9531-53E66DD714BB}"/>
              </a:ext>
            </a:extLst>
          </p:cNvPr>
          <p:cNvSpPr>
            <a:spLocks noChangeShapeType="1"/>
          </p:cNvSpPr>
          <p:nvPr/>
        </p:nvSpPr>
        <p:spPr bwMode="auto">
          <a:xfrm>
            <a:off x="2273300" y="4203700"/>
            <a:ext cx="0" cy="233680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8139" name="Line 11">
            <a:extLst>
              <a:ext uri="{FF2B5EF4-FFF2-40B4-BE49-F238E27FC236}">
                <a16:creationId xmlns:a16="http://schemas.microsoft.com/office/drawing/2014/main" id="{7A5E44E1-BEA3-B8FB-1168-DA8F16C8A62D}"/>
              </a:ext>
            </a:extLst>
          </p:cNvPr>
          <p:cNvSpPr>
            <a:spLocks noChangeShapeType="1"/>
          </p:cNvSpPr>
          <p:nvPr/>
        </p:nvSpPr>
        <p:spPr bwMode="auto">
          <a:xfrm>
            <a:off x="4178300" y="4216400"/>
            <a:ext cx="0" cy="233680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8140" name="Line 12">
            <a:extLst>
              <a:ext uri="{FF2B5EF4-FFF2-40B4-BE49-F238E27FC236}">
                <a16:creationId xmlns:a16="http://schemas.microsoft.com/office/drawing/2014/main" id="{E30A7C93-EBC5-47A6-EE76-F539627A369F}"/>
              </a:ext>
            </a:extLst>
          </p:cNvPr>
          <p:cNvSpPr>
            <a:spLocks noChangeShapeType="1"/>
          </p:cNvSpPr>
          <p:nvPr/>
        </p:nvSpPr>
        <p:spPr bwMode="auto">
          <a:xfrm>
            <a:off x="6451600" y="4216400"/>
            <a:ext cx="0" cy="2336800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48141" name="Text Box 13">
            <a:extLst>
              <a:ext uri="{FF2B5EF4-FFF2-40B4-BE49-F238E27FC236}">
                <a16:creationId xmlns:a16="http://schemas.microsoft.com/office/drawing/2014/main" id="{B006A9AC-38C1-E782-8F5E-58C0F8791D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1000" y="1447800"/>
            <a:ext cx="8374063" cy="8318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Notice that left/right generalizes more readily to higher dimensions</a:t>
            </a:r>
          </a:p>
          <a:p>
            <a:pPr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Ask yourself what Exc=2 looks like in 3d</a:t>
            </a:r>
          </a:p>
        </p:txBody>
      </p:sp>
    </p:spTree>
  </p:cSld>
  <p:clrMapOvr>
    <a:masterClrMapping/>
  </p:clrMapOvr>
  <p:transition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2">
            <a:extLst>
              <a:ext uri="{FF2B5EF4-FFF2-40B4-BE49-F238E27FC236}">
                <a16:creationId xmlns:a16="http://schemas.microsoft.com/office/drawing/2014/main" id="{A67EF367-4AAB-AB28-D2F9-6335A6CD32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00" y="609600"/>
            <a:ext cx="71628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 anchor="ctr"/>
          <a:lstStyle/>
          <a:p>
            <a:pPr algn="ctr">
              <a:defRPr/>
            </a:pPr>
            <a:r>
              <a:rPr lang="en-US" sz="5400">
                <a:solidFill>
                  <a:schemeClr val="accent2"/>
                </a:solidFill>
                <a:latin typeface="Times New Roman" charset="0"/>
                <a:ea typeface="ＭＳ Ｐゴシック" charset="0"/>
              </a:rPr>
              <a:t>Not Parallel Prefix but </a:t>
            </a:r>
            <a:r>
              <a:rPr lang="en-US" sz="5400" u="sng">
                <a:solidFill>
                  <a:schemeClr val="accent2"/>
                </a:solidFill>
                <a:latin typeface="Times New Roman" charset="0"/>
                <a:ea typeface="ＭＳ Ｐゴシック" charset="0"/>
              </a:rPr>
              <a:t>PRAM</a:t>
            </a:r>
          </a:p>
        </p:txBody>
      </p:sp>
      <p:sp>
        <p:nvSpPr>
          <p:cNvPr id="49155" name="Rectangle 3">
            <a:extLst>
              <a:ext uri="{FF2B5EF4-FFF2-40B4-BE49-F238E27FC236}">
                <a16:creationId xmlns:a16="http://schemas.microsoft.com/office/drawing/2014/main" id="{E26755A7-25C3-8BAC-4B16-1333F9DE7D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0" y="2286000"/>
            <a:ext cx="7464425" cy="4149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marL="342900" indent="-342900" eaLnBrk="0" hangingPunct="0">
              <a:lnSpc>
                <a:spcPct val="90000"/>
              </a:lnSpc>
              <a:spcBef>
                <a:spcPct val="50000"/>
              </a:spcBef>
              <a:buClr>
                <a:schemeClr val="hlink"/>
              </a:buClr>
              <a:buSzPct val="100000"/>
              <a:buFont typeface="Wingdings" charset="0"/>
              <a:buChar char="§"/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  </a:t>
            </a:r>
            <a:r>
              <a:rPr lang="en-US" sz="3600">
                <a:latin typeface="Times New Roman" charset="0"/>
                <a:ea typeface="ＭＳ Ｐゴシック" charset="0"/>
              </a:rPr>
              <a:t>Only concerned with minimizing parallel time (not communication)</a:t>
            </a:r>
          </a:p>
          <a:p>
            <a:pPr marL="342900" indent="-342900" eaLnBrk="0" hangingPunct="0">
              <a:lnSpc>
                <a:spcPct val="90000"/>
              </a:lnSpc>
              <a:spcBef>
                <a:spcPct val="50000"/>
              </a:spcBef>
              <a:defRPr/>
            </a:pPr>
            <a:endParaRPr lang="en-US" sz="3600">
              <a:latin typeface="Times New Roman" charset="0"/>
              <a:ea typeface="ＭＳ Ｐゴシック" charset="0"/>
            </a:endParaRPr>
          </a:p>
          <a:p>
            <a:pPr marL="342900" indent="-342900" eaLnBrk="0" hangingPunct="0">
              <a:lnSpc>
                <a:spcPct val="90000"/>
              </a:lnSpc>
              <a:spcBef>
                <a:spcPct val="50000"/>
              </a:spcBef>
              <a:buClr>
                <a:schemeClr val="hlink"/>
              </a:buClr>
              <a:buSzPct val="100000"/>
              <a:buFont typeface="Wingdings" charset="0"/>
              <a:buChar char="§"/>
              <a:defRPr/>
            </a:pPr>
            <a:r>
              <a:rPr lang="en-US" sz="3600">
                <a:latin typeface="Times New Roman" charset="0"/>
                <a:ea typeface="ＭＳ Ｐゴシック" charset="0"/>
              </a:rPr>
              <a:t>  Arbitrary number of processors</a:t>
            </a:r>
          </a:p>
          <a:p>
            <a:pPr marL="342900" indent="-342900" eaLnBrk="0" hangingPunct="0">
              <a:lnSpc>
                <a:spcPct val="90000"/>
              </a:lnSpc>
              <a:spcBef>
                <a:spcPct val="50000"/>
              </a:spcBef>
              <a:buClr>
                <a:schemeClr val="hlink"/>
              </a:buClr>
              <a:buSzPct val="100000"/>
              <a:buFont typeface="Monotype Sorts" charset="0"/>
              <a:buNone/>
              <a:defRPr/>
            </a:pPr>
            <a:endParaRPr lang="en-US" sz="3600">
              <a:latin typeface="Times New Roman" charset="0"/>
              <a:ea typeface="ＭＳ Ｐゴシック" charset="0"/>
            </a:endParaRPr>
          </a:p>
          <a:p>
            <a:pPr marL="342900" indent="-342900" eaLnBrk="0" hangingPunct="0">
              <a:lnSpc>
                <a:spcPct val="90000"/>
              </a:lnSpc>
              <a:spcBef>
                <a:spcPct val="50000"/>
              </a:spcBef>
              <a:buClr>
                <a:schemeClr val="hlink"/>
              </a:buClr>
              <a:buSzPct val="100000"/>
              <a:buFont typeface="Wingdings" charset="0"/>
              <a:buChar char="§"/>
              <a:defRPr/>
            </a:pPr>
            <a:r>
              <a:rPr lang="en-US" sz="3600">
                <a:latin typeface="Times New Roman" charset="0"/>
                <a:ea typeface="ＭＳ Ｐゴシック" charset="0"/>
              </a:rPr>
              <a:t>One element per processor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>
            <a:extLst>
              <a:ext uri="{FF2B5EF4-FFF2-40B4-BE49-F238E27FC236}">
                <a16:creationId xmlns:a16="http://schemas.microsoft.com/office/drawing/2014/main" id="{929AD323-299D-8BD6-5896-B00031FD1B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76200"/>
            <a:ext cx="8686800" cy="76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 anchor="ctr"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/>
            <a:r>
              <a:rPr lang="en-US" altLang="en-US" sz="4400">
                <a:solidFill>
                  <a:schemeClr val="accent2"/>
                </a:solidFill>
                <a:latin typeface="Times New Roman" panose="02020603050405020304" pitchFamily="18" charset="0"/>
              </a:rPr>
              <a:t>Csanky</a:t>
            </a:r>
            <a:r>
              <a:rPr lang="ja-JP" altLang="en-US" sz="4400">
                <a:solidFill>
                  <a:schemeClr val="accent2"/>
                </a:solidFill>
              </a:rPr>
              <a:t>’</a:t>
            </a:r>
            <a:r>
              <a:rPr lang="en-US" altLang="ja-JP" sz="4400">
                <a:solidFill>
                  <a:schemeClr val="accent2"/>
                </a:solidFill>
                <a:latin typeface="Times New Roman" panose="02020603050405020304" pitchFamily="18" charset="0"/>
              </a:rPr>
              <a:t>s (1977) Matrix Inversion</a:t>
            </a:r>
            <a:endParaRPr lang="en-US" altLang="en-US" sz="4400">
              <a:solidFill>
                <a:schemeClr val="accent2"/>
              </a:solidFill>
              <a:latin typeface="Times New Roman" panose="02020603050405020304" pitchFamily="18" charset="0"/>
            </a:endParaRPr>
          </a:p>
        </p:txBody>
      </p:sp>
      <p:sp>
        <p:nvSpPr>
          <p:cNvPr id="50179" name="Rectangle 3">
            <a:extLst>
              <a:ext uri="{FF2B5EF4-FFF2-40B4-BE49-F238E27FC236}">
                <a16:creationId xmlns:a16="http://schemas.microsoft.com/office/drawing/2014/main" id="{9292B30E-E10F-C1DA-D158-D6871FC66A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590800"/>
            <a:ext cx="8305800" cy="3886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pPr marL="285750" indent="-285750">
              <a:spcBef>
                <a:spcPct val="20000"/>
              </a:spcBef>
              <a:defRPr/>
            </a:pPr>
            <a:endParaRPr lang="en-US" sz="3200" dirty="0">
              <a:solidFill>
                <a:srgbClr val="FFFFFF"/>
              </a:solidFill>
              <a:latin typeface="Times New Roman" charset="0"/>
              <a:ea typeface="ＭＳ Ｐゴシック" charset="0"/>
            </a:endParaRPr>
          </a:p>
          <a:p>
            <a:pPr marL="285750" indent="-285750">
              <a:spcBef>
                <a:spcPct val="20000"/>
              </a:spcBef>
              <a:defRPr/>
            </a:pPr>
            <a:r>
              <a:rPr lang="en-US" sz="3200" dirty="0">
                <a:latin typeface="Times New Roman" charset="0"/>
                <a:ea typeface="ＭＳ Ｐゴシック" charset="0"/>
              </a:rPr>
              <a:t>Lemma 2:  </a:t>
            </a:r>
            <a:r>
              <a:rPr lang="en-US" sz="3200" i="1" dirty="0">
                <a:latin typeface="Times New Roman" charset="0"/>
                <a:ea typeface="ＭＳ Ｐゴシック" charset="0"/>
              </a:rPr>
              <a:t>Cayley - Hamilton</a:t>
            </a:r>
            <a:endParaRPr lang="en-US" sz="3200" dirty="0">
              <a:latin typeface="Times New Roman" charset="0"/>
              <a:ea typeface="ＭＳ Ｐゴシック" charset="0"/>
            </a:endParaRPr>
          </a:p>
          <a:p>
            <a:pPr marL="285750" indent="-285750">
              <a:spcBef>
                <a:spcPct val="20000"/>
              </a:spcBef>
              <a:defRPr/>
            </a:pPr>
            <a:r>
              <a:rPr lang="en-US" sz="3200" dirty="0">
                <a:latin typeface="Times New Roman" charset="0"/>
                <a:ea typeface="ＭＳ Ｐゴシック" charset="0"/>
              </a:rPr>
              <a:t> 		p(x) = det (</a:t>
            </a:r>
            <a:r>
              <a:rPr lang="en-US" sz="3200" dirty="0" err="1">
                <a:latin typeface="Times New Roman" charset="0"/>
                <a:ea typeface="ＭＳ Ｐゴシック" charset="0"/>
              </a:rPr>
              <a:t>xI</a:t>
            </a:r>
            <a:r>
              <a:rPr lang="en-US" sz="3200" dirty="0">
                <a:latin typeface="Times New Roman" charset="0"/>
                <a:ea typeface="ＭＳ Ｐゴシック" charset="0"/>
              </a:rPr>
              <a:t> - A) = </a:t>
            </a:r>
            <a:r>
              <a:rPr lang="en-US" sz="3200" dirty="0" err="1">
                <a:latin typeface="Times New Roman" charset="0"/>
                <a:ea typeface="ＭＳ Ｐゴシック" charset="0"/>
              </a:rPr>
              <a:t>x</a:t>
            </a:r>
            <a:r>
              <a:rPr lang="en-US" sz="3200" baseline="30000" dirty="0" err="1">
                <a:latin typeface="Times New Roman" charset="0"/>
                <a:ea typeface="ＭＳ Ｐゴシック" charset="0"/>
              </a:rPr>
              <a:t>n</a:t>
            </a:r>
            <a:r>
              <a:rPr lang="en-US" sz="3200" dirty="0">
                <a:latin typeface="Times New Roman" charset="0"/>
                <a:ea typeface="ＭＳ Ｐゴシック" charset="0"/>
              </a:rPr>
              <a:t> + c</a:t>
            </a:r>
            <a:r>
              <a:rPr lang="en-US" sz="3200" baseline="-25000" dirty="0">
                <a:latin typeface="Times New Roman" charset="0"/>
                <a:ea typeface="ＭＳ Ｐゴシック" charset="0"/>
              </a:rPr>
              <a:t>1</a:t>
            </a:r>
            <a:r>
              <a:rPr lang="en-US" sz="3200" dirty="0">
                <a:latin typeface="Times New Roman" charset="0"/>
                <a:ea typeface="ＭＳ Ｐゴシック" charset="0"/>
              </a:rPr>
              <a:t>x</a:t>
            </a:r>
            <a:r>
              <a:rPr lang="en-US" sz="3200" baseline="30000" dirty="0">
                <a:latin typeface="Times New Roman" charset="0"/>
                <a:ea typeface="ＭＳ Ｐゴシック" charset="0"/>
              </a:rPr>
              <a:t>n-1</a:t>
            </a:r>
            <a:r>
              <a:rPr lang="en-US" sz="3200" dirty="0">
                <a:latin typeface="Times New Roman" charset="0"/>
                <a:ea typeface="ＭＳ Ｐゴシック" charset="0"/>
              </a:rPr>
              <a:t> + . . . + </a:t>
            </a:r>
            <a:r>
              <a:rPr lang="en-US" sz="3200" dirty="0" err="1">
                <a:latin typeface="Times New Roman" charset="0"/>
                <a:ea typeface="ＭＳ Ｐゴシック" charset="0"/>
              </a:rPr>
              <a:t>c</a:t>
            </a:r>
            <a:r>
              <a:rPr lang="en-US" sz="3200" baseline="-25000" dirty="0" err="1">
                <a:latin typeface="Times New Roman" charset="0"/>
                <a:ea typeface="ＭＳ Ｐゴシック" charset="0"/>
              </a:rPr>
              <a:t>n</a:t>
            </a:r>
            <a:r>
              <a:rPr lang="en-US" sz="3200" baseline="-25000" dirty="0">
                <a:latin typeface="Times New Roman" charset="0"/>
                <a:ea typeface="ＭＳ Ｐゴシック" charset="0"/>
              </a:rPr>
              <a:t>           </a:t>
            </a:r>
            <a:r>
              <a:rPr lang="en-US" sz="3200" dirty="0">
                <a:latin typeface="Times New Roman" charset="0"/>
                <a:ea typeface="ＭＳ Ｐゴシック" charset="0"/>
              </a:rPr>
              <a:t>(</a:t>
            </a:r>
            <a:r>
              <a:rPr lang="en-US" sz="3200" dirty="0" err="1">
                <a:latin typeface="Times New Roman" charset="0"/>
                <a:ea typeface="ＭＳ Ｐゴシック" charset="0"/>
              </a:rPr>
              <a:t>c</a:t>
            </a:r>
            <a:r>
              <a:rPr lang="en-US" sz="3200" baseline="-25000" dirty="0" err="1">
                <a:latin typeface="Times New Roman" charset="0"/>
                <a:ea typeface="ＭＳ Ｐゴシック" charset="0"/>
              </a:rPr>
              <a:t>n</a:t>
            </a:r>
            <a:r>
              <a:rPr lang="en-US" sz="3200" dirty="0">
                <a:latin typeface="Times New Roman" charset="0"/>
                <a:ea typeface="ＭＳ Ｐゴシック" charset="0"/>
              </a:rPr>
              <a:t> =  det A)</a:t>
            </a:r>
          </a:p>
          <a:p>
            <a:pPr marL="285750" indent="-285750">
              <a:spcBef>
                <a:spcPct val="20000"/>
              </a:spcBef>
              <a:defRPr/>
            </a:pPr>
            <a:r>
              <a:rPr lang="en-US" sz="3200" dirty="0">
                <a:latin typeface="Times New Roman" charset="0"/>
                <a:ea typeface="ＭＳ Ｐゴシック" charset="0"/>
              </a:rPr>
              <a:t> 			0 = p(A) = A</a:t>
            </a:r>
            <a:r>
              <a:rPr lang="en-US" sz="3200" baseline="30000" dirty="0">
                <a:latin typeface="Times New Roman" charset="0"/>
                <a:ea typeface="ＭＳ Ｐゴシック" charset="0"/>
              </a:rPr>
              <a:t>n</a:t>
            </a:r>
            <a:r>
              <a:rPr lang="en-US" sz="3200" dirty="0">
                <a:latin typeface="Times New Roman" charset="0"/>
                <a:ea typeface="ＭＳ Ｐゴシック" charset="0"/>
              </a:rPr>
              <a:t> + c</a:t>
            </a:r>
            <a:r>
              <a:rPr lang="en-US" sz="3200" baseline="-25000" dirty="0">
                <a:latin typeface="Times New Roman" charset="0"/>
                <a:ea typeface="ＭＳ Ｐゴシック" charset="0"/>
              </a:rPr>
              <a:t>1</a:t>
            </a:r>
            <a:r>
              <a:rPr lang="en-US" sz="3200" dirty="0">
                <a:latin typeface="Times New Roman" charset="0"/>
                <a:ea typeface="ＭＳ Ｐゴシック" charset="0"/>
              </a:rPr>
              <a:t>A</a:t>
            </a:r>
            <a:r>
              <a:rPr lang="en-US" sz="3200" baseline="30000" dirty="0">
                <a:latin typeface="Times New Roman" charset="0"/>
                <a:ea typeface="ＭＳ Ｐゴシック" charset="0"/>
              </a:rPr>
              <a:t>n-1</a:t>
            </a:r>
            <a:r>
              <a:rPr lang="en-US" sz="3200" dirty="0">
                <a:latin typeface="Times New Roman" charset="0"/>
                <a:ea typeface="ＭＳ Ｐゴシック" charset="0"/>
              </a:rPr>
              <a:t> + . . . + </a:t>
            </a:r>
            <a:r>
              <a:rPr lang="en-US" sz="3200" dirty="0" err="1">
                <a:latin typeface="Times New Roman" charset="0"/>
                <a:ea typeface="ＭＳ Ｐゴシック" charset="0"/>
              </a:rPr>
              <a:t>c</a:t>
            </a:r>
            <a:r>
              <a:rPr lang="en-US" sz="3200" baseline="-25000" dirty="0" err="1">
                <a:latin typeface="Times New Roman" charset="0"/>
                <a:ea typeface="ＭＳ Ｐゴシック" charset="0"/>
              </a:rPr>
              <a:t>n</a:t>
            </a:r>
            <a:r>
              <a:rPr lang="en-US" sz="3200" dirty="0" err="1">
                <a:latin typeface="Times New Roman" charset="0"/>
                <a:ea typeface="ＭＳ Ｐゴシック" charset="0"/>
              </a:rPr>
              <a:t>I</a:t>
            </a:r>
            <a:endParaRPr lang="en-US" sz="3200" dirty="0">
              <a:latin typeface="Times New Roman" charset="0"/>
              <a:ea typeface="ＭＳ Ｐゴシック" charset="0"/>
            </a:endParaRPr>
          </a:p>
          <a:p>
            <a:pPr marL="285750" indent="-285750">
              <a:spcBef>
                <a:spcPct val="20000"/>
              </a:spcBef>
              <a:defRPr/>
            </a:pPr>
            <a:r>
              <a:rPr lang="en-US" sz="3200" dirty="0">
                <a:latin typeface="Times New Roman" charset="0"/>
                <a:ea typeface="ＭＳ Ｐゴシック" charset="0"/>
              </a:rPr>
              <a:t> 			A</a:t>
            </a:r>
            <a:r>
              <a:rPr lang="en-US" sz="3200" baseline="30000" dirty="0">
                <a:latin typeface="Times New Roman" charset="0"/>
                <a:ea typeface="ＭＳ Ｐゴシック" charset="0"/>
              </a:rPr>
              <a:t>-1</a:t>
            </a:r>
            <a:r>
              <a:rPr lang="en-US" sz="3200" dirty="0">
                <a:latin typeface="Times New Roman" charset="0"/>
                <a:ea typeface="ＭＳ Ｐゴシック" charset="0"/>
              </a:rPr>
              <a:t> = (A</a:t>
            </a:r>
            <a:r>
              <a:rPr lang="en-US" sz="3200" baseline="30000" dirty="0">
                <a:latin typeface="Times New Roman" charset="0"/>
                <a:ea typeface="ＭＳ Ｐゴシック" charset="0"/>
              </a:rPr>
              <a:t>n-1</a:t>
            </a:r>
            <a:r>
              <a:rPr lang="en-US" sz="3200" dirty="0">
                <a:latin typeface="Times New Roman" charset="0"/>
                <a:ea typeface="ＭＳ Ｐゴシック" charset="0"/>
              </a:rPr>
              <a:t> + c</a:t>
            </a:r>
            <a:r>
              <a:rPr lang="en-US" sz="3200" baseline="-25000" dirty="0">
                <a:latin typeface="Times New Roman" charset="0"/>
                <a:ea typeface="ＭＳ Ｐゴシック" charset="0"/>
              </a:rPr>
              <a:t>1</a:t>
            </a:r>
            <a:r>
              <a:rPr lang="en-US" sz="3200" dirty="0">
                <a:latin typeface="Times New Roman" charset="0"/>
                <a:ea typeface="ＭＳ Ｐゴシック" charset="0"/>
              </a:rPr>
              <a:t>A</a:t>
            </a:r>
            <a:r>
              <a:rPr lang="en-US" sz="3200" baseline="30000" dirty="0">
                <a:latin typeface="Times New Roman" charset="0"/>
                <a:ea typeface="ＭＳ Ｐゴシック" charset="0"/>
              </a:rPr>
              <a:t>n-2</a:t>
            </a:r>
            <a:r>
              <a:rPr lang="en-US" sz="3200" dirty="0">
                <a:latin typeface="Times New Roman" charset="0"/>
                <a:ea typeface="ＭＳ Ｐゴシック" charset="0"/>
              </a:rPr>
              <a:t> + . . . + c</a:t>
            </a:r>
            <a:r>
              <a:rPr lang="en-US" sz="3200" baseline="-25000" dirty="0">
                <a:latin typeface="Times New Roman" charset="0"/>
                <a:ea typeface="ＭＳ Ｐゴシック" charset="0"/>
              </a:rPr>
              <a:t>n-1</a:t>
            </a:r>
            <a:r>
              <a:rPr lang="en-US" sz="3200" dirty="0">
                <a:latin typeface="Times New Roman" charset="0"/>
                <a:ea typeface="ＭＳ Ｐゴシック" charset="0"/>
              </a:rPr>
              <a:t>)(-1/</a:t>
            </a:r>
            <a:r>
              <a:rPr lang="en-US" sz="3200" dirty="0" err="1">
                <a:latin typeface="Times New Roman" charset="0"/>
                <a:ea typeface="ＭＳ Ｐゴシック" charset="0"/>
              </a:rPr>
              <a:t>c</a:t>
            </a:r>
            <a:r>
              <a:rPr lang="en-US" sz="3200" baseline="-25000" dirty="0" err="1">
                <a:latin typeface="Times New Roman" charset="0"/>
                <a:ea typeface="ＭＳ Ｐゴシック" charset="0"/>
              </a:rPr>
              <a:t>n</a:t>
            </a:r>
            <a:r>
              <a:rPr lang="en-US" sz="3200" dirty="0">
                <a:latin typeface="Times New Roman" charset="0"/>
                <a:ea typeface="ＭＳ Ｐゴシック" charset="0"/>
              </a:rPr>
              <a:t>)</a:t>
            </a:r>
          </a:p>
          <a:p>
            <a:pPr marL="285750" indent="-285750">
              <a:spcBef>
                <a:spcPct val="20000"/>
              </a:spcBef>
              <a:defRPr/>
            </a:pPr>
            <a:r>
              <a:rPr lang="en-US" sz="3200" b="1" dirty="0">
                <a:solidFill>
                  <a:srgbClr val="FFFFFF"/>
                </a:solidFill>
                <a:latin typeface="Times New Roman" charset="0"/>
                <a:ea typeface="ＭＳ Ｐゴシック" charset="0"/>
              </a:rPr>
              <a:t> Powers of A  via  Parallel Prefix</a:t>
            </a:r>
          </a:p>
          <a:p>
            <a:pPr marL="285750" indent="-285750">
              <a:spcBef>
                <a:spcPct val="20000"/>
              </a:spcBef>
              <a:defRPr/>
            </a:pPr>
            <a:endParaRPr lang="en-US" sz="3200" b="1" dirty="0">
              <a:solidFill>
                <a:srgbClr val="FFFFFF"/>
              </a:solidFill>
              <a:latin typeface="Times New Roman" charset="0"/>
              <a:ea typeface="ＭＳ Ｐゴシック" charset="0"/>
            </a:endParaRPr>
          </a:p>
        </p:txBody>
      </p:sp>
      <p:sp>
        <p:nvSpPr>
          <p:cNvPr id="50180" name="Line 4">
            <a:extLst>
              <a:ext uri="{FF2B5EF4-FFF2-40B4-BE49-F238E27FC236}">
                <a16:creationId xmlns:a16="http://schemas.microsoft.com/office/drawing/2014/main" id="{68DB4807-4D3C-88F8-809A-C6F763917671}"/>
              </a:ext>
            </a:extLst>
          </p:cNvPr>
          <p:cNvSpPr>
            <a:spLocks noChangeShapeType="1"/>
          </p:cNvSpPr>
          <p:nvPr/>
        </p:nvSpPr>
        <p:spPr bwMode="auto">
          <a:xfrm>
            <a:off x="2208213" y="2055813"/>
            <a:ext cx="0" cy="114300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50181" name="Line 5">
            <a:extLst>
              <a:ext uri="{FF2B5EF4-FFF2-40B4-BE49-F238E27FC236}">
                <a16:creationId xmlns:a16="http://schemas.microsoft.com/office/drawing/2014/main" id="{3963970F-6E32-1635-47C6-286CC3E88690}"/>
              </a:ext>
            </a:extLst>
          </p:cNvPr>
          <p:cNvSpPr>
            <a:spLocks noChangeShapeType="1"/>
          </p:cNvSpPr>
          <p:nvPr/>
        </p:nvSpPr>
        <p:spPr bwMode="auto">
          <a:xfrm>
            <a:off x="2208213" y="2055813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50182" name="Line 6">
            <a:extLst>
              <a:ext uri="{FF2B5EF4-FFF2-40B4-BE49-F238E27FC236}">
                <a16:creationId xmlns:a16="http://schemas.microsoft.com/office/drawing/2014/main" id="{78C47A9F-3AD6-BBD7-F2D2-99153D24BCE0}"/>
              </a:ext>
            </a:extLst>
          </p:cNvPr>
          <p:cNvSpPr>
            <a:spLocks noChangeShapeType="1"/>
          </p:cNvSpPr>
          <p:nvPr/>
        </p:nvSpPr>
        <p:spPr bwMode="auto">
          <a:xfrm>
            <a:off x="2208213" y="3198813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50183" name="Line 7">
            <a:extLst>
              <a:ext uri="{FF2B5EF4-FFF2-40B4-BE49-F238E27FC236}">
                <a16:creationId xmlns:a16="http://schemas.microsoft.com/office/drawing/2014/main" id="{EF0F5E98-DC0C-40DB-3832-AE098535C0D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98813" y="2055813"/>
            <a:ext cx="0" cy="114300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50184" name="Line 8">
            <a:extLst>
              <a:ext uri="{FF2B5EF4-FFF2-40B4-BE49-F238E27FC236}">
                <a16:creationId xmlns:a16="http://schemas.microsoft.com/office/drawing/2014/main" id="{6EB45592-810C-E47D-4D63-1E729A5DD40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22613" y="2055813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50185" name="Line 9">
            <a:extLst>
              <a:ext uri="{FF2B5EF4-FFF2-40B4-BE49-F238E27FC236}">
                <a16:creationId xmlns:a16="http://schemas.microsoft.com/office/drawing/2014/main" id="{54A4857A-AD1E-81DB-3A22-DFFF704DD72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22613" y="3198813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50186" name="AutoShape 10">
            <a:extLst>
              <a:ext uri="{FF2B5EF4-FFF2-40B4-BE49-F238E27FC236}">
                <a16:creationId xmlns:a16="http://schemas.microsoft.com/office/drawing/2014/main" id="{4A90BB82-B51B-59DF-785A-E8E84435A3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16150" y="1073150"/>
            <a:ext cx="215900" cy="215900"/>
          </a:xfrm>
          <a:prstGeom prst="rtTriangle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50188" name="Text Box 12">
            <a:extLst>
              <a:ext uri="{FF2B5EF4-FFF2-40B4-BE49-F238E27FC236}">
                <a16:creationId xmlns:a16="http://schemas.microsoft.com/office/drawing/2014/main" id="{9923CF40-55E5-6FB6-D78A-5206C46351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041" y="1405505"/>
            <a:ext cx="8907517" cy="21359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tx2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20000"/>
              </a:spcBef>
              <a:defRPr/>
            </a:pPr>
            <a:endParaRPr lang="en-US" sz="3200" dirty="0">
              <a:latin typeface="Times New Roman" charset="0"/>
              <a:ea typeface="ＭＳ Ｐゴシック" charset="0"/>
            </a:endParaRPr>
          </a:p>
          <a:p>
            <a:pPr>
              <a:spcBef>
                <a:spcPct val="20000"/>
              </a:spcBef>
              <a:defRPr/>
            </a:pPr>
            <a:r>
              <a:rPr lang="en-US" sz="3200" dirty="0">
                <a:latin typeface="Times New Roman" charset="0"/>
                <a:ea typeface="ＭＳ Ｐゴシック" charset="0"/>
              </a:rPr>
              <a:t>Proof Idea:	    A   0  </a:t>
            </a:r>
            <a:r>
              <a:rPr lang="en-US" sz="3200" baseline="30000" dirty="0">
                <a:latin typeface="Times New Roman" charset="0"/>
                <a:ea typeface="ＭＳ Ｐゴシック" charset="0"/>
              </a:rPr>
              <a:t>-1	          </a:t>
            </a:r>
            <a:r>
              <a:rPr lang="en-US" sz="3200" dirty="0">
                <a:latin typeface="Times New Roman" charset="0"/>
                <a:ea typeface="ＭＳ Ｐゴシック" charset="0"/>
              </a:rPr>
              <a:t>A</a:t>
            </a:r>
            <a:r>
              <a:rPr lang="en-US" sz="3200" baseline="30000" dirty="0">
                <a:latin typeface="Times New Roman" charset="0"/>
                <a:ea typeface="ＭＳ Ｐゴシック" charset="0"/>
              </a:rPr>
              <a:t>-1</a:t>
            </a:r>
            <a:r>
              <a:rPr lang="en-US" sz="3200" dirty="0">
                <a:latin typeface="Times New Roman" charset="0"/>
                <a:ea typeface="ＭＳ Ｐゴシック" charset="0"/>
              </a:rPr>
              <a:t>          0</a:t>
            </a:r>
          </a:p>
          <a:p>
            <a:pPr>
              <a:spcBef>
                <a:spcPct val="20000"/>
              </a:spcBef>
              <a:defRPr/>
            </a:pPr>
            <a:r>
              <a:rPr lang="en-US" sz="3200" dirty="0">
                <a:latin typeface="Times New Roman" charset="0"/>
                <a:ea typeface="ＭＳ Ｐゴシック" charset="0"/>
              </a:rPr>
              <a:t> 		    C   B	    -B</a:t>
            </a:r>
            <a:r>
              <a:rPr lang="en-US" sz="3200" baseline="30000" dirty="0">
                <a:latin typeface="Times New Roman" charset="0"/>
                <a:ea typeface="ＭＳ Ｐゴシック" charset="0"/>
              </a:rPr>
              <a:t>-1</a:t>
            </a:r>
            <a:r>
              <a:rPr lang="en-US" sz="3200" dirty="0">
                <a:latin typeface="Times New Roman" charset="0"/>
                <a:ea typeface="ＭＳ Ｐゴシック" charset="0"/>
              </a:rPr>
              <a:t>CA</a:t>
            </a:r>
            <a:r>
              <a:rPr lang="en-US" sz="3200" baseline="30000" dirty="0">
                <a:latin typeface="Times New Roman" charset="0"/>
                <a:ea typeface="ＭＳ Ｐゴシック" charset="0"/>
              </a:rPr>
              <a:t>-1      </a:t>
            </a:r>
            <a:r>
              <a:rPr lang="en-US" sz="3200" dirty="0">
                <a:latin typeface="Times New Roman" charset="0"/>
                <a:ea typeface="ＭＳ Ｐゴシック" charset="0"/>
              </a:rPr>
              <a:t>B</a:t>
            </a:r>
            <a:r>
              <a:rPr lang="en-US" sz="3200" baseline="30000" dirty="0">
                <a:latin typeface="Times New Roman" charset="0"/>
                <a:ea typeface="ＭＳ Ｐゴシック" charset="0"/>
              </a:rPr>
              <a:t>-1</a:t>
            </a:r>
          </a:p>
          <a:p>
            <a:pPr>
              <a:defRPr/>
            </a:pPr>
            <a:endParaRPr lang="en-US" sz="2400" dirty="0">
              <a:latin typeface="Times New Roman" charset="0"/>
              <a:ea typeface="ＭＳ Ｐゴシック" charset="0"/>
            </a:endParaRPr>
          </a:p>
        </p:txBody>
      </p:sp>
      <p:sp>
        <p:nvSpPr>
          <p:cNvPr id="50189" name="Line 13">
            <a:extLst>
              <a:ext uri="{FF2B5EF4-FFF2-40B4-BE49-F238E27FC236}">
                <a16:creationId xmlns:a16="http://schemas.microsoft.com/office/drawing/2014/main" id="{A44E10EB-C3CB-4A14-8413-6305499FCB68}"/>
              </a:ext>
            </a:extLst>
          </p:cNvPr>
          <p:cNvSpPr>
            <a:spLocks noChangeShapeType="1"/>
          </p:cNvSpPr>
          <p:nvPr/>
        </p:nvSpPr>
        <p:spPr bwMode="auto">
          <a:xfrm>
            <a:off x="6477000" y="2057400"/>
            <a:ext cx="0" cy="114300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50190" name="Line 14">
            <a:extLst>
              <a:ext uri="{FF2B5EF4-FFF2-40B4-BE49-F238E27FC236}">
                <a16:creationId xmlns:a16="http://schemas.microsoft.com/office/drawing/2014/main" id="{42D783CD-4AE9-5A7B-F0D3-EF96B266785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400800" y="2057400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50191" name="Line 15">
            <a:extLst>
              <a:ext uri="{FF2B5EF4-FFF2-40B4-BE49-F238E27FC236}">
                <a16:creationId xmlns:a16="http://schemas.microsoft.com/office/drawing/2014/main" id="{5B31297C-0F35-83EC-C3D9-BC2FCF3400C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400800" y="3200400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50192" name="Line 16">
            <a:extLst>
              <a:ext uri="{FF2B5EF4-FFF2-40B4-BE49-F238E27FC236}">
                <a16:creationId xmlns:a16="http://schemas.microsoft.com/office/drawing/2014/main" id="{F63CA45E-FD16-3E31-F093-E1E2D98D31FD}"/>
              </a:ext>
            </a:extLst>
          </p:cNvPr>
          <p:cNvSpPr>
            <a:spLocks noChangeShapeType="1"/>
          </p:cNvSpPr>
          <p:nvPr/>
        </p:nvSpPr>
        <p:spPr bwMode="auto">
          <a:xfrm>
            <a:off x="4038600" y="2057400"/>
            <a:ext cx="0" cy="106680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50193" name="Line 17">
            <a:extLst>
              <a:ext uri="{FF2B5EF4-FFF2-40B4-BE49-F238E27FC236}">
                <a16:creationId xmlns:a16="http://schemas.microsoft.com/office/drawing/2014/main" id="{48D30971-DB32-B1C6-0DC0-E225A69592E7}"/>
              </a:ext>
            </a:extLst>
          </p:cNvPr>
          <p:cNvSpPr>
            <a:spLocks noChangeShapeType="1"/>
          </p:cNvSpPr>
          <p:nvPr/>
        </p:nvSpPr>
        <p:spPr bwMode="auto">
          <a:xfrm>
            <a:off x="4038600" y="2057400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50194" name="Line 18">
            <a:extLst>
              <a:ext uri="{FF2B5EF4-FFF2-40B4-BE49-F238E27FC236}">
                <a16:creationId xmlns:a16="http://schemas.microsoft.com/office/drawing/2014/main" id="{4FFBAD08-999F-C898-A18E-7AAE944B5637}"/>
              </a:ext>
            </a:extLst>
          </p:cNvPr>
          <p:cNvSpPr>
            <a:spLocks noChangeShapeType="1"/>
          </p:cNvSpPr>
          <p:nvPr/>
        </p:nvSpPr>
        <p:spPr bwMode="auto">
          <a:xfrm>
            <a:off x="4038600" y="3124200"/>
            <a:ext cx="76200" cy="0"/>
          </a:xfrm>
          <a:prstGeom prst="line">
            <a:avLst/>
          </a:prstGeom>
          <a:noFill/>
          <a:ln w="12700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50195" name="Text Box 19">
            <a:extLst>
              <a:ext uri="{FF2B5EF4-FFF2-40B4-BE49-F238E27FC236}">
                <a16:creationId xmlns:a16="http://schemas.microsoft.com/office/drawing/2014/main" id="{FF1A5A91-D6D1-CF59-9010-582C4C5B19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89325" y="2327275"/>
            <a:ext cx="355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=</a:t>
            </a:r>
          </a:p>
        </p:txBody>
      </p:sp>
      <p:sp>
        <p:nvSpPr>
          <p:cNvPr id="50196" name="AutoShape 20">
            <a:extLst>
              <a:ext uri="{FF2B5EF4-FFF2-40B4-BE49-F238E27FC236}">
                <a16:creationId xmlns:a16="http://schemas.microsoft.com/office/drawing/2014/main" id="{B41A7AE4-F32D-466B-5A1F-19572AF67F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0" y="1066800"/>
            <a:ext cx="304800" cy="304800"/>
          </a:xfrm>
          <a:prstGeom prst="rtTriangl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grpSp>
        <p:nvGrpSpPr>
          <p:cNvPr id="38932" name="Group 28">
            <a:extLst>
              <a:ext uri="{FF2B5EF4-FFF2-40B4-BE49-F238E27FC236}">
                <a16:creationId xmlns:a16="http://schemas.microsoft.com/office/drawing/2014/main" id="{53B97835-447E-8A60-E621-4E25A2FE11C6}"/>
              </a:ext>
            </a:extLst>
          </p:cNvPr>
          <p:cNvGrpSpPr>
            <a:grpSpLocks/>
          </p:cNvGrpSpPr>
          <p:nvPr/>
        </p:nvGrpSpPr>
        <p:grpSpPr bwMode="auto">
          <a:xfrm>
            <a:off x="2133600" y="2133600"/>
            <a:ext cx="228600" cy="914400"/>
            <a:chOff x="1344" y="1344"/>
            <a:chExt cx="144" cy="576"/>
          </a:xfrm>
        </p:grpSpPr>
        <p:sp>
          <p:nvSpPr>
            <p:cNvPr id="50197" name="Line 21">
              <a:extLst>
                <a:ext uri="{FF2B5EF4-FFF2-40B4-BE49-F238E27FC236}">
                  <a16:creationId xmlns:a16="http://schemas.microsoft.com/office/drawing/2014/main" id="{C8D8848F-505D-5C4D-D4E3-0A18A7043D4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44" y="1344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38949" name="Group 24">
              <a:extLst>
                <a:ext uri="{FF2B5EF4-FFF2-40B4-BE49-F238E27FC236}">
                  <a16:creationId xmlns:a16="http://schemas.microsoft.com/office/drawing/2014/main" id="{8F90EBB9-C966-92CC-229C-089D47AEFA6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44" y="1344"/>
              <a:ext cx="144" cy="576"/>
              <a:chOff x="1344" y="1344"/>
              <a:chExt cx="144" cy="576"/>
            </a:xfrm>
          </p:grpSpPr>
          <p:sp>
            <p:nvSpPr>
              <p:cNvPr id="50198" name="Line 22">
                <a:extLst>
                  <a:ext uri="{FF2B5EF4-FFF2-40B4-BE49-F238E27FC236}">
                    <a16:creationId xmlns:a16="http://schemas.microsoft.com/office/drawing/2014/main" id="{D748C3C5-2F39-C0A0-861C-DA6E2617DA9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344" y="1344"/>
                <a:ext cx="14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50199" name="Line 23">
                <a:extLst>
                  <a:ext uri="{FF2B5EF4-FFF2-40B4-BE49-F238E27FC236}">
                    <a16:creationId xmlns:a16="http://schemas.microsoft.com/office/drawing/2014/main" id="{26676011-0537-8349-0798-53B7E869C9D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344" y="1920"/>
                <a:ext cx="14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</p:grpSp>
      </p:grpSp>
      <p:grpSp>
        <p:nvGrpSpPr>
          <p:cNvPr id="38933" name="Group 29">
            <a:extLst>
              <a:ext uri="{FF2B5EF4-FFF2-40B4-BE49-F238E27FC236}">
                <a16:creationId xmlns:a16="http://schemas.microsoft.com/office/drawing/2014/main" id="{58611909-9AD8-66F1-0384-AF1950F36B4F}"/>
              </a:ext>
            </a:extLst>
          </p:cNvPr>
          <p:cNvGrpSpPr>
            <a:grpSpLocks/>
          </p:cNvGrpSpPr>
          <p:nvPr/>
        </p:nvGrpSpPr>
        <p:grpSpPr bwMode="auto">
          <a:xfrm>
            <a:off x="3962400" y="2133600"/>
            <a:ext cx="228600" cy="914400"/>
            <a:chOff x="1344" y="1344"/>
            <a:chExt cx="144" cy="576"/>
          </a:xfrm>
        </p:grpSpPr>
        <p:sp>
          <p:nvSpPr>
            <p:cNvPr id="50206" name="Line 30">
              <a:extLst>
                <a:ext uri="{FF2B5EF4-FFF2-40B4-BE49-F238E27FC236}">
                  <a16:creationId xmlns:a16="http://schemas.microsoft.com/office/drawing/2014/main" id="{DF27D786-77F5-BED4-0952-B6549ADA1C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44" y="1344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38945" name="Group 31">
              <a:extLst>
                <a:ext uri="{FF2B5EF4-FFF2-40B4-BE49-F238E27FC236}">
                  <a16:creationId xmlns:a16="http://schemas.microsoft.com/office/drawing/2014/main" id="{AD78BC2C-5A86-16C7-AE8E-B9BEAD246FB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44" y="1344"/>
              <a:ext cx="144" cy="576"/>
              <a:chOff x="1344" y="1344"/>
              <a:chExt cx="144" cy="576"/>
            </a:xfrm>
          </p:grpSpPr>
          <p:sp>
            <p:nvSpPr>
              <p:cNvPr id="50208" name="Line 32">
                <a:extLst>
                  <a:ext uri="{FF2B5EF4-FFF2-40B4-BE49-F238E27FC236}">
                    <a16:creationId xmlns:a16="http://schemas.microsoft.com/office/drawing/2014/main" id="{9BD4A03F-70FE-E008-AD81-8FAF101CBE7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344" y="1344"/>
                <a:ext cx="14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50209" name="Line 33">
                <a:extLst>
                  <a:ext uri="{FF2B5EF4-FFF2-40B4-BE49-F238E27FC236}">
                    <a16:creationId xmlns:a16="http://schemas.microsoft.com/office/drawing/2014/main" id="{B7DA4E73-907B-9753-E61E-6F22DD14D01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344" y="1920"/>
                <a:ext cx="14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</p:grpSp>
      </p:grpSp>
      <p:grpSp>
        <p:nvGrpSpPr>
          <p:cNvPr id="38934" name="Group 34">
            <a:extLst>
              <a:ext uri="{FF2B5EF4-FFF2-40B4-BE49-F238E27FC236}">
                <a16:creationId xmlns:a16="http://schemas.microsoft.com/office/drawing/2014/main" id="{1A5E692F-9C73-020E-8077-8677AEEBB69A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477000" y="2133600"/>
            <a:ext cx="228600" cy="914400"/>
            <a:chOff x="1344" y="1344"/>
            <a:chExt cx="144" cy="576"/>
          </a:xfrm>
        </p:grpSpPr>
        <p:sp>
          <p:nvSpPr>
            <p:cNvPr id="50211" name="Line 35">
              <a:extLst>
                <a:ext uri="{FF2B5EF4-FFF2-40B4-BE49-F238E27FC236}">
                  <a16:creationId xmlns:a16="http://schemas.microsoft.com/office/drawing/2014/main" id="{D4424FB5-9B79-4791-54B3-A9D387E8723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344" y="1344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38941" name="Group 36">
              <a:extLst>
                <a:ext uri="{FF2B5EF4-FFF2-40B4-BE49-F238E27FC236}">
                  <a16:creationId xmlns:a16="http://schemas.microsoft.com/office/drawing/2014/main" id="{FF325D8B-9199-07E1-31C6-78CE24BB4D0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44" y="1344"/>
              <a:ext cx="144" cy="576"/>
              <a:chOff x="1344" y="1344"/>
              <a:chExt cx="144" cy="576"/>
            </a:xfrm>
          </p:grpSpPr>
          <p:sp>
            <p:nvSpPr>
              <p:cNvPr id="50213" name="Line 37">
                <a:extLst>
                  <a:ext uri="{FF2B5EF4-FFF2-40B4-BE49-F238E27FC236}">
                    <a16:creationId xmlns:a16="http://schemas.microsoft.com/office/drawing/2014/main" id="{26B7A64A-1947-C59C-7A45-632E2B465A6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344" y="1344"/>
                <a:ext cx="14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50214" name="Line 38">
                <a:extLst>
                  <a:ext uri="{FF2B5EF4-FFF2-40B4-BE49-F238E27FC236}">
                    <a16:creationId xmlns:a16="http://schemas.microsoft.com/office/drawing/2014/main" id="{3610CD80-FE13-4284-BAEB-1D517AD0A76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344" y="1920"/>
                <a:ext cx="14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</p:grpSp>
      </p:grpSp>
      <p:grpSp>
        <p:nvGrpSpPr>
          <p:cNvPr id="38935" name="Group 39">
            <a:extLst>
              <a:ext uri="{FF2B5EF4-FFF2-40B4-BE49-F238E27FC236}">
                <a16:creationId xmlns:a16="http://schemas.microsoft.com/office/drawing/2014/main" id="{916CBBDB-19B0-FC16-CB79-7A8A30C307CF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3124200" y="2133600"/>
            <a:ext cx="228600" cy="914400"/>
            <a:chOff x="1344" y="1344"/>
            <a:chExt cx="144" cy="576"/>
          </a:xfrm>
        </p:grpSpPr>
        <p:sp>
          <p:nvSpPr>
            <p:cNvPr id="50216" name="Line 40">
              <a:extLst>
                <a:ext uri="{FF2B5EF4-FFF2-40B4-BE49-F238E27FC236}">
                  <a16:creationId xmlns:a16="http://schemas.microsoft.com/office/drawing/2014/main" id="{E6398B83-B435-F349-B0AB-2BEF8CB4C1C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344" y="1344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grpSp>
          <p:nvGrpSpPr>
            <p:cNvPr id="38937" name="Group 41">
              <a:extLst>
                <a:ext uri="{FF2B5EF4-FFF2-40B4-BE49-F238E27FC236}">
                  <a16:creationId xmlns:a16="http://schemas.microsoft.com/office/drawing/2014/main" id="{DC67A5BE-63C0-D37D-575D-4307A76C333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44" y="1344"/>
              <a:ext cx="144" cy="576"/>
              <a:chOff x="1344" y="1344"/>
              <a:chExt cx="144" cy="576"/>
            </a:xfrm>
          </p:grpSpPr>
          <p:sp>
            <p:nvSpPr>
              <p:cNvPr id="50218" name="Line 42">
                <a:extLst>
                  <a:ext uri="{FF2B5EF4-FFF2-40B4-BE49-F238E27FC236}">
                    <a16:creationId xmlns:a16="http://schemas.microsoft.com/office/drawing/2014/main" id="{4033C31E-0405-B5A0-029A-5FB3BA31E0E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344" y="1344"/>
                <a:ext cx="14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50219" name="Line 43">
                <a:extLst>
                  <a:ext uri="{FF2B5EF4-FFF2-40B4-BE49-F238E27FC236}">
                    <a16:creationId xmlns:a16="http://schemas.microsoft.com/office/drawing/2014/main" id="{97AB2493-8A97-5986-6B2C-69E94D6071D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344" y="1920"/>
                <a:ext cx="14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</p:grpSp>
      </p:grpSp>
      <p:sp>
        <p:nvSpPr>
          <p:cNvPr id="2" name="Text Box 12">
            <a:extLst>
              <a:ext uri="{FF2B5EF4-FFF2-40B4-BE49-F238E27FC236}">
                <a16:creationId xmlns:a16="http://schemas.microsoft.com/office/drawing/2014/main" id="{98DA22C0-92E9-AC32-EFD6-4F11CCA02A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241" y="875642"/>
            <a:ext cx="8907517" cy="20374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tx2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20000"/>
              </a:spcBef>
              <a:defRPr/>
            </a:pPr>
            <a:r>
              <a:rPr lang="en-US" sz="3200" dirty="0">
                <a:latin typeface="Times New Roman" charset="0"/>
                <a:ea typeface="ＭＳ Ｐゴシック" charset="0"/>
              </a:rPr>
              <a:t>Lemma 1:  (     </a:t>
            </a:r>
            <a:r>
              <a:rPr lang="en-US" sz="3200" baseline="30000" dirty="0">
                <a:latin typeface="Times New Roman" charset="0"/>
                <a:ea typeface="ＭＳ Ｐゴシック" charset="0"/>
              </a:rPr>
              <a:t>-1</a:t>
            </a:r>
            <a:r>
              <a:rPr lang="en-US" sz="3200" dirty="0">
                <a:latin typeface="Times New Roman" charset="0"/>
                <a:ea typeface="ＭＳ Ｐゴシック" charset="0"/>
              </a:rPr>
              <a:t>)  in  O(log</a:t>
            </a:r>
            <a:r>
              <a:rPr lang="en-US" sz="3200" baseline="30000" dirty="0">
                <a:latin typeface="Times New Roman" charset="0"/>
                <a:ea typeface="ＭＳ Ｐゴシック" charset="0"/>
              </a:rPr>
              <a:t>2</a:t>
            </a:r>
            <a:r>
              <a:rPr lang="en-US" sz="3200" dirty="0">
                <a:latin typeface="Times New Roman" charset="0"/>
                <a:ea typeface="ＭＳ Ｐゴシック" charset="0"/>
              </a:rPr>
              <a:t>n)   (triangular matrix inv)</a:t>
            </a:r>
          </a:p>
          <a:p>
            <a:pPr>
              <a:spcBef>
                <a:spcPct val="20000"/>
              </a:spcBef>
              <a:defRPr/>
            </a:pPr>
            <a:endParaRPr lang="en-US" sz="3200" dirty="0">
              <a:latin typeface="Times New Roman" charset="0"/>
              <a:ea typeface="ＭＳ Ｐゴシック" charset="0"/>
            </a:endParaRPr>
          </a:p>
          <a:p>
            <a:pPr>
              <a:defRPr/>
            </a:pPr>
            <a:endParaRPr lang="en-US" sz="2400" dirty="0">
              <a:latin typeface="Times New Roman" charset="0"/>
              <a:ea typeface="ＭＳ Ｐゴシック" charset="0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2">
            <a:extLst>
              <a:ext uri="{FF2B5EF4-FFF2-40B4-BE49-F238E27FC236}">
                <a16:creationId xmlns:a16="http://schemas.microsoft.com/office/drawing/2014/main" id="{371711F3-0B73-9C30-DE39-13093965BD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066800"/>
            <a:ext cx="8610600" cy="510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>
            <a:lvl1pPr marL="2857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90000"/>
              </a:lnSpc>
              <a:spcBef>
                <a:spcPct val="30000"/>
              </a:spcBef>
            </a:pPr>
            <a:r>
              <a:rPr lang="en-US" altLang="en-US">
                <a:latin typeface="Times New Roman" panose="02020603050405020304" pitchFamily="18" charset="0"/>
              </a:rPr>
              <a:t>Lemma 3: </a:t>
            </a:r>
            <a:r>
              <a:rPr lang="en-US" altLang="en-US" i="1">
                <a:latin typeface="Times New Roman" panose="02020603050405020304" pitchFamily="18" charset="0"/>
              </a:rPr>
              <a:t> Leverier</a:t>
            </a:r>
            <a:r>
              <a:rPr lang="ja-JP" altLang="en-US" i="1"/>
              <a:t>’</a:t>
            </a:r>
            <a:r>
              <a:rPr lang="en-US" altLang="ja-JP" i="1">
                <a:latin typeface="Times New Roman" panose="02020603050405020304" pitchFamily="18" charset="0"/>
              </a:rPr>
              <a:t>s Lemma</a:t>
            </a:r>
          </a:p>
          <a:p>
            <a:pPr>
              <a:lnSpc>
                <a:spcPct val="90000"/>
              </a:lnSpc>
              <a:spcBef>
                <a:spcPct val="30000"/>
              </a:spcBef>
            </a:pPr>
            <a:r>
              <a:rPr lang="en-US" altLang="en-US" i="1">
                <a:solidFill>
                  <a:schemeClr val="hlink"/>
                </a:solidFill>
                <a:latin typeface="Times New Roman" panose="02020603050405020304" pitchFamily="18" charset="0"/>
              </a:rPr>
              <a:t> </a:t>
            </a:r>
            <a:r>
              <a:rPr lang="en-US" altLang="en-US" i="1">
                <a:solidFill>
                  <a:srgbClr val="500093"/>
                </a:solidFill>
                <a:latin typeface="Times New Roman" panose="02020603050405020304" pitchFamily="18" charset="0"/>
              </a:rPr>
              <a:t>		</a:t>
            </a:r>
            <a:r>
              <a:rPr lang="en-US" altLang="en-US">
                <a:latin typeface="Times New Roman" panose="02020603050405020304" pitchFamily="18" charset="0"/>
              </a:rPr>
              <a:t>1			c</a:t>
            </a:r>
            <a:r>
              <a:rPr lang="en-US" altLang="en-US" baseline="-25000">
                <a:latin typeface="Times New Roman" panose="02020603050405020304" pitchFamily="18" charset="0"/>
              </a:rPr>
              <a:t>1</a:t>
            </a:r>
            <a:r>
              <a:rPr lang="en-US" altLang="en-US">
                <a:latin typeface="Times New Roman" panose="02020603050405020304" pitchFamily="18" charset="0"/>
              </a:rPr>
              <a:t>	     s</a:t>
            </a:r>
            <a:r>
              <a:rPr lang="en-US" altLang="en-US" baseline="-25000">
                <a:latin typeface="Times New Roman" panose="02020603050405020304" pitchFamily="18" charset="0"/>
              </a:rPr>
              <a:t>1</a:t>
            </a:r>
            <a:endParaRPr lang="en-US" altLang="en-US">
              <a:latin typeface="Times New Roman" panose="02020603050405020304" pitchFamily="18" charset="0"/>
            </a:endParaRPr>
          </a:p>
          <a:p>
            <a:pPr>
              <a:lnSpc>
                <a:spcPct val="90000"/>
              </a:lnSpc>
              <a:spcBef>
                <a:spcPct val="30000"/>
              </a:spcBef>
            </a:pPr>
            <a:r>
              <a:rPr lang="en-US" altLang="en-US">
                <a:latin typeface="Times New Roman" panose="02020603050405020304" pitchFamily="18" charset="0"/>
              </a:rPr>
              <a:t> 		s</a:t>
            </a:r>
            <a:r>
              <a:rPr lang="en-US" altLang="en-US" baseline="-25000">
                <a:latin typeface="Times New Roman" panose="02020603050405020304" pitchFamily="18" charset="0"/>
              </a:rPr>
              <a:t>1</a:t>
            </a:r>
            <a:r>
              <a:rPr lang="en-US" altLang="en-US">
                <a:latin typeface="Times New Roman" panose="02020603050405020304" pitchFamily="18" charset="0"/>
              </a:rPr>
              <a:t>  2			c</a:t>
            </a:r>
            <a:r>
              <a:rPr lang="en-US" altLang="en-US" baseline="-25000">
                <a:latin typeface="Times New Roman" panose="02020603050405020304" pitchFamily="18" charset="0"/>
              </a:rPr>
              <a:t>2</a:t>
            </a:r>
            <a:r>
              <a:rPr lang="en-US" altLang="en-US">
                <a:latin typeface="Times New Roman" panose="02020603050405020304" pitchFamily="18" charset="0"/>
              </a:rPr>
              <a:t>	     s</a:t>
            </a:r>
            <a:r>
              <a:rPr lang="en-US" altLang="en-US" baseline="-25000">
                <a:latin typeface="Times New Roman" panose="02020603050405020304" pitchFamily="18" charset="0"/>
              </a:rPr>
              <a:t>2</a:t>
            </a:r>
            <a:endParaRPr lang="en-US" altLang="en-US">
              <a:latin typeface="Times New Roman" panose="02020603050405020304" pitchFamily="18" charset="0"/>
            </a:endParaRPr>
          </a:p>
          <a:p>
            <a:pPr>
              <a:lnSpc>
                <a:spcPct val="90000"/>
              </a:lnSpc>
              <a:spcBef>
                <a:spcPct val="30000"/>
              </a:spcBef>
            </a:pPr>
            <a:r>
              <a:rPr lang="en-US" altLang="en-US">
                <a:latin typeface="Times New Roman" panose="02020603050405020304" pitchFamily="18" charset="0"/>
              </a:rPr>
              <a:t> 		s</a:t>
            </a:r>
            <a:r>
              <a:rPr lang="en-US" altLang="en-US" baseline="-25000">
                <a:latin typeface="Times New Roman" panose="02020603050405020304" pitchFamily="18" charset="0"/>
              </a:rPr>
              <a:t>2</a:t>
            </a:r>
            <a:r>
              <a:rPr lang="en-US" altLang="en-US">
                <a:latin typeface="Times New Roman" panose="02020603050405020304" pitchFamily="18" charset="0"/>
              </a:rPr>
              <a:t>  s</a:t>
            </a:r>
            <a:r>
              <a:rPr lang="en-US" altLang="en-US" baseline="-25000">
                <a:latin typeface="Times New Roman" panose="02020603050405020304" pitchFamily="18" charset="0"/>
              </a:rPr>
              <a:t>1</a:t>
            </a:r>
            <a:r>
              <a:rPr lang="en-US" altLang="en-US">
                <a:latin typeface="Times New Roman" panose="02020603050405020304" pitchFamily="18" charset="0"/>
              </a:rPr>
              <a:t>  .			c</a:t>
            </a:r>
            <a:r>
              <a:rPr lang="en-US" altLang="en-US" baseline="-25000">
                <a:latin typeface="Times New Roman" panose="02020603050405020304" pitchFamily="18" charset="0"/>
              </a:rPr>
              <a:t>3</a:t>
            </a:r>
            <a:r>
              <a:rPr lang="en-US" altLang="en-US">
                <a:latin typeface="Times New Roman" panose="02020603050405020304" pitchFamily="18" charset="0"/>
              </a:rPr>
              <a:t>	     s</a:t>
            </a:r>
            <a:r>
              <a:rPr lang="en-US" altLang="en-US" baseline="-25000">
                <a:latin typeface="Times New Roman" panose="02020603050405020304" pitchFamily="18" charset="0"/>
              </a:rPr>
              <a:t>3</a:t>
            </a:r>
            <a:r>
              <a:rPr lang="en-US" altLang="en-US">
                <a:latin typeface="Times New Roman" panose="02020603050405020304" pitchFamily="18" charset="0"/>
              </a:rPr>
              <a:t>		s</a:t>
            </a:r>
            <a:r>
              <a:rPr lang="en-US" altLang="en-US" sz="2000" baseline="-25000">
                <a:latin typeface="Times New Roman" panose="02020603050405020304" pitchFamily="18" charset="0"/>
              </a:rPr>
              <a:t>k</a:t>
            </a:r>
            <a:r>
              <a:rPr lang="en-US" altLang="en-US">
                <a:latin typeface="Times New Roman" panose="02020603050405020304" pitchFamily="18" charset="0"/>
              </a:rPr>
              <a:t>= tr (A</a:t>
            </a:r>
            <a:r>
              <a:rPr lang="en-US" altLang="en-US" baseline="30000">
                <a:latin typeface="Times New Roman" panose="02020603050405020304" pitchFamily="18" charset="0"/>
              </a:rPr>
              <a:t>k</a:t>
            </a:r>
            <a:r>
              <a:rPr lang="en-US" altLang="en-US">
                <a:latin typeface="Times New Roman" panose="02020603050405020304" pitchFamily="18" charset="0"/>
              </a:rPr>
              <a:t>)</a:t>
            </a:r>
          </a:p>
          <a:p>
            <a:pPr>
              <a:lnSpc>
                <a:spcPct val="90000"/>
              </a:lnSpc>
              <a:spcBef>
                <a:spcPct val="30000"/>
              </a:spcBef>
            </a:pPr>
            <a:r>
              <a:rPr lang="en-US" altLang="en-US">
                <a:latin typeface="Times New Roman" panose="02020603050405020304" pitchFamily="18" charset="0"/>
              </a:rPr>
              <a:t>  		:    :    .   .		:	     :</a:t>
            </a:r>
          </a:p>
          <a:p>
            <a:pPr>
              <a:lnSpc>
                <a:spcPct val="90000"/>
              </a:lnSpc>
              <a:spcBef>
                <a:spcPct val="30000"/>
              </a:spcBef>
            </a:pPr>
            <a:r>
              <a:rPr lang="en-US" altLang="en-US">
                <a:latin typeface="Times New Roman" panose="02020603050405020304" pitchFamily="18" charset="0"/>
              </a:rPr>
              <a:t> 	       s</a:t>
            </a:r>
            <a:r>
              <a:rPr lang="en-US" altLang="en-US" baseline="-25000">
                <a:latin typeface="Times New Roman" panose="02020603050405020304" pitchFamily="18" charset="0"/>
              </a:rPr>
              <a:t>n-1</a:t>
            </a:r>
            <a:r>
              <a:rPr lang="en-US" altLang="en-US">
                <a:latin typeface="Times New Roman" panose="02020603050405020304" pitchFamily="18" charset="0"/>
              </a:rPr>
              <a:t> .     .   s</a:t>
            </a:r>
            <a:r>
              <a:rPr lang="en-US" altLang="en-US" baseline="-25000">
                <a:latin typeface="Times New Roman" panose="02020603050405020304" pitchFamily="18" charset="0"/>
              </a:rPr>
              <a:t>1</a:t>
            </a:r>
            <a:r>
              <a:rPr lang="en-US" altLang="en-US">
                <a:latin typeface="Times New Roman" panose="02020603050405020304" pitchFamily="18" charset="0"/>
              </a:rPr>
              <a:t>  n		c</a:t>
            </a:r>
            <a:r>
              <a:rPr lang="en-US" altLang="en-US" baseline="-25000">
                <a:latin typeface="Times New Roman" panose="02020603050405020304" pitchFamily="18" charset="0"/>
              </a:rPr>
              <a:t>n</a:t>
            </a:r>
            <a:r>
              <a:rPr lang="en-US" altLang="en-US">
                <a:latin typeface="Times New Roman" panose="02020603050405020304" pitchFamily="18" charset="0"/>
              </a:rPr>
              <a:t>	     s</a:t>
            </a:r>
            <a:r>
              <a:rPr lang="en-US" altLang="en-US" baseline="-25000">
                <a:latin typeface="Times New Roman" panose="02020603050405020304" pitchFamily="18" charset="0"/>
              </a:rPr>
              <a:t>n</a:t>
            </a:r>
            <a:endParaRPr lang="en-US" altLang="en-US">
              <a:latin typeface="Times New Roman" panose="02020603050405020304" pitchFamily="18" charset="0"/>
            </a:endParaRPr>
          </a:p>
          <a:p>
            <a:pPr>
              <a:lnSpc>
                <a:spcPct val="90000"/>
              </a:lnSpc>
              <a:spcBef>
                <a:spcPct val="30000"/>
              </a:spcBef>
            </a:pPr>
            <a:endParaRPr lang="en-US" altLang="en-US">
              <a:latin typeface="Times New Roman" panose="02020603050405020304" pitchFamily="18" charset="0"/>
            </a:endParaRPr>
          </a:p>
          <a:p>
            <a:pPr>
              <a:lnSpc>
                <a:spcPct val="90000"/>
              </a:lnSpc>
              <a:spcBef>
                <a:spcPct val="30000"/>
              </a:spcBef>
            </a:pPr>
            <a:r>
              <a:rPr lang="en-US" altLang="en-US">
                <a:latin typeface="Times New Roman" panose="02020603050405020304" pitchFamily="18" charset="0"/>
              </a:rPr>
              <a:t> 	 </a:t>
            </a:r>
            <a:r>
              <a:rPr lang="en-US" altLang="en-US" i="1">
                <a:latin typeface="Times New Roman" panose="02020603050405020304" pitchFamily="18" charset="0"/>
              </a:rPr>
              <a:t>Csanky</a:t>
            </a:r>
            <a:r>
              <a:rPr lang="en-US" altLang="en-US">
                <a:latin typeface="Times New Roman" panose="02020603050405020304" pitchFamily="18" charset="0"/>
              </a:rPr>
              <a:t> 	1) Parallel Prefix powers of A</a:t>
            </a:r>
          </a:p>
          <a:p>
            <a:pPr>
              <a:lnSpc>
                <a:spcPct val="90000"/>
              </a:lnSpc>
              <a:spcBef>
                <a:spcPct val="30000"/>
              </a:spcBef>
            </a:pPr>
            <a:r>
              <a:rPr lang="en-US" altLang="en-US">
                <a:latin typeface="Times New Roman" panose="02020603050405020304" pitchFamily="18" charset="0"/>
              </a:rPr>
              <a:t>		            2)  s</a:t>
            </a:r>
            <a:r>
              <a:rPr lang="en-US" altLang="en-US" baseline="-25000">
                <a:latin typeface="Times New Roman" panose="02020603050405020304" pitchFamily="18" charset="0"/>
              </a:rPr>
              <a:t>k	</a:t>
            </a:r>
            <a:r>
              <a:rPr lang="en-US" altLang="en-US" baseline="30000">
                <a:latin typeface="Times New Roman" panose="02020603050405020304" pitchFamily="18" charset="0"/>
              </a:rPr>
              <a:t>  </a:t>
            </a:r>
            <a:r>
              <a:rPr lang="en-US" altLang="en-US">
                <a:latin typeface="Times New Roman" panose="02020603050405020304" pitchFamily="18" charset="0"/>
              </a:rPr>
              <a:t>by directly adding diagonals</a:t>
            </a:r>
            <a:r>
              <a:rPr lang="en-US" altLang="en-US" baseline="-25000">
                <a:latin typeface="Times New Roman" panose="02020603050405020304" pitchFamily="18" charset="0"/>
              </a:rPr>
              <a:t>	 </a:t>
            </a:r>
            <a:r>
              <a:rPr lang="en-US" altLang="en-US">
                <a:latin typeface="Times New Roman" panose="02020603050405020304" pitchFamily="18" charset="0"/>
              </a:rPr>
              <a:t>			            3)  c</a:t>
            </a:r>
            <a:r>
              <a:rPr lang="en-US" altLang="en-US" baseline="-25000">
                <a:latin typeface="Times New Roman" panose="02020603050405020304" pitchFamily="18" charset="0"/>
              </a:rPr>
              <a:t>i         </a:t>
            </a:r>
            <a:r>
              <a:rPr lang="en-US" altLang="en-US">
                <a:latin typeface="Times New Roman" panose="02020603050405020304" pitchFamily="18" charset="0"/>
              </a:rPr>
              <a:t>from lemmas 1 and 3</a:t>
            </a:r>
          </a:p>
          <a:p>
            <a:pPr>
              <a:lnSpc>
                <a:spcPct val="90000"/>
              </a:lnSpc>
              <a:spcBef>
                <a:spcPct val="30000"/>
              </a:spcBef>
            </a:pPr>
            <a:r>
              <a:rPr lang="en-US" altLang="en-US">
                <a:latin typeface="Times New Roman" panose="02020603050405020304" pitchFamily="18" charset="0"/>
              </a:rPr>
              <a:t> 			4)  A</a:t>
            </a:r>
            <a:r>
              <a:rPr lang="en-US" altLang="en-US" baseline="30000">
                <a:latin typeface="Times New Roman" panose="02020603050405020304" pitchFamily="18" charset="0"/>
              </a:rPr>
              <a:t>-1 </a:t>
            </a:r>
            <a:r>
              <a:rPr lang="en-US" altLang="en-US">
                <a:latin typeface="Times New Roman" panose="02020603050405020304" pitchFamily="18" charset="0"/>
              </a:rPr>
              <a:t>  obtained from lemma 2</a:t>
            </a:r>
          </a:p>
        </p:txBody>
      </p:sp>
      <p:sp>
        <p:nvSpPr>
          <p:cNvPr id="51203" name="Line 3">
            <a:extLst>
              <a:ext uri="{FF2B5EF4-FFF2-40B4-BE49-F238E27FC236}">
                <a16:creationId xmlns:a16="http://schemas.microsoft.com/office/drawing/2014/main" id="{65EB61FE-D198-2044-D145-1E33E0F8FC98}"/>
              </a:ext>
            </a:extLst>
          </p:cNvPr>
          <p:cNvSpPr>
            <a:spLocks noChangeShapeType="1"/>
          </p:cNvSpPr>
          <p:nvPr/>
        </p:nvSpPr>
        <p:spPr bwMode="auto">
          <a:xfrm>
            <a:off x="1143000" y="1524000"/>
            <a:ext cx="0" cy="2209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51204" name="Line 4">
            <a:extLst>
              <a:ext uri="{FF2B5EF4-FFF2-40B4-BE49-F238E27FC236}">
                <a16:creationId xmlns:a16="http://schemas.microsoft.com/office/drawing/2014/main" id="{E48299FA-D9BF-98D8-BBC3-C4225D606406}"/>
              </a:ext>
            </a:extLst>
          </p:cNvPr>
          <p:cNvSpPr>
            <a:spLocks noChangeShapeType="1"/>
          </p:cNvSpPr>
          <p:nvPr/>
        </p:nvSpPr>
        <p:spPr bwMode="auto">
          <a:xfrm>
            <a:off x="1143000" y="1524000"/>
            <a:ext cx="1524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51205" name="Line 5">
            <a:extLst>
              <a:ext uri="{FF2B5EF4-FFF2-40B4-BE49-F238E27FC236}">
                <a16:creationId xmlns:a16="http://schemas.microsoft.com/office/drawing/2014/main" id="{9C56D1B4-1BE4-7F7E-5656-66F0A47A1C17}"/>
              </a:ext>
            </a:extLst>
          </p:cNvPr>
          <p:cNvSpPr>
            <a:spLocks noChangeShapeType="1"/>
          </p:cNvSpPr>
          <p:nvPr/>
        </p:nvSpPr>
        <p:spPr bwMode="auto">
          <a:xfrm>
            <a:off x="1143000" y="3733800"/>
            <a:ext cx="1524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51206" name="Line 6">
            <a:extLst>
              <a:ext uri="{FF2B5EF4-FFF2-40B4-BE49-F238E27FC236}">
                <a16:creationId xmlns:a16="http://schemas.microsoft.com/office/drawing/2014/main" id="{BBD180CF-F15C-077D-8307-1ADA4FFA7056}"/>
              </a:ext>
            </a:extLst>
          </p:cNvPr>
          <p:cNvSpPr>
            <a:spLocks noChangeShapeType="1"/>
          </p:cNvSpPr>
          <p:nvPr/>
        </p:nvSpPr>
        <p:spPr bwMode="auto">
          <a:xfrm>
            <a:off x="3352800" y="1524000"/>
            <a:ext cx="0" cy="2209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51207" name="Line 7">
            <a:extLst>
              <a:ext uri="{FF2B5EF4-FFF2-40B4-BE49-F238E27FC236}">
                <a16:creationId xmlns:a16="http://schemas.microsoft.com/office/drawing/2014/main" id="{3B4B2E98-AC56-EFA6-99BA-5FE57EEE534D}"/>
              </a:ext>
            </a:extLst>
          </p:cNvPr>
          <p:cNvSpPr>
            <a:spLocks noChangeShapeType="1"/>
          </p:cNvSpPr>
          <p:nvPr/>
        </p:nvSpPr>
        <p:spPr bwMode="auto">
          <a:xfrm>
            <a:off x="4038600" y="1524000"/>
            <a:ext cx="0" cy="2209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51208" name="Line 8">
            <a:extLst>
              <a:ext uri="{FF2B5EF4-FFF2-40B4-BE49-F238E27FC236}">
                <a16:creationId xmlns:a16="http://schemas.microsoft.com/office/drawing/2014/main" id="{AE8186E7-5EBE-97DF-5529-38ACB5D7A800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0" y="1524000"/>
            <a:ext cx="0" cy="2209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51209" name="Line 9">
            <a:extLst>
              <a:ext uri="{FF2B5EF4-FFF2-40B4-BE49-F238E27FC236}">
                <a16:creationId xmlns:a16="http://schemas.microsoft.com/office/drawing/2014/main" id="{ADD5CD75-A3AB-3B4A-1B78-5DE2BBA7E01D}"/>
              </a:ext>
            </a:extLst>
          </p:cNvPr>
          <p:cNvSpPr>
            <a:spLocks noChangeShapeType="1"/>
          </p:cNvSpPr>
          <p:nvPr/>
        </p:nvSpPr>
        <p:spPr bwMode="auto">
          <a:xfrm>
            <a:off x="5334000" y="1524000"/>
            <a:ext cx="0" cy="2209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51210" name="Line 10">
            <a:extLst>
              <a:ext uri="{FF2B5EF4-FFF2-40B4-BE49-F238E27FC236}">
                <a16:creationId xmlns:a16="http://schemas.microsoft.com/office/drawing/2014/main" id="{2F4233A0-2E50-981A-BDB3-183E4FA59FE0}"/>
              </a:ext>
            </a:extLst>
          </p:cNvPr>
          <p:cNvSpPr>
            <a:spLocks noChangeShapeType="1"/>
          </p:cNvSpPr>
          <p:nvPr/>
        </p:nvSpPr>
        <p:spPr bwMode="auto">
          <a:xfrm>
            <a:off x="5867400" y="1524000"/>
            <a:ext cx="0" cy="2209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51211" name="Line 11">
            <a:extLst>
              <a:ext uri="{FF2B5EF4-FFF2-40B4-BE49-F238E27FC236}">
                <a16:creationId xmlns:a16="http://schemas.microsoft.com/office/drawing/2014/main" id="{21F255F0-B7AA-D537-E56F-B9545AA316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200400" y="1524000"/>
            <a:ext cx="1524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51212" name="Line 12">
            <a:extLst>
              <a:ext uri="{FF2B5EF4-FFF2-40B4-BE49-F238E27FC236}">
                <a16:creationId xmlns:a16="http://schemas.microsoft.com/office/drawing/2014/main" id="{099463E8-7781-5785-01FD-D5E92F44B6C8}"/>
              </a:ext>
            </a:extLst>
          </p:cNvPr>
          <p:cNvSpPr>
            <a:spLocks noChangeShapeType="1"/>
          </p:cNvSpPr>
          <p:nvPr/>
        </p:nvSpPr>
        <p:spPr bwMode="auto">
          <a:xfrm>
            <a:off x="3200400" y="3733800"/>
            <a:ext cx="1524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51213" name="Line 13">
            <a:extLst>
              <a:ext uri="{FF2B5EF4-FFF2-40B4-BE49-F238E27FC236}">
                <a16:creationId xmlns:a16="http://schemas.microsoft.com/office/drawing/2014/main" id="{F3AE910F-4132-7D58-1773-899DBC3D8DD6}"/>
              </a:ext>
            </a:extLst>
          </p:cNvPr>
          <p:cNvSpPr>
            <a:spLocks noChangeShapeType="1"/>
          </p:cNvSpPr>
          <p:nvPr/>
        </p:nvSpPr>
        <p:spPr bwMode="auto">
          <a:xfrm>
            <a:off x="4038600" y="1524000"/>
            <a:ext cx="1524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51214" name="Line 14">
            <a:extLst>
              <a:ext uri="{FF2B5EF4-FFF2-40B4-BE49-F238E27FC236}">
                <a16:creationId xmlns:a16="http://schemas.microsoft.com/office/drawing/2014/main" id="{562EC0D2-D95D-82D9-161D-73AB5FB4E6DC}"/>
              </a:ext>
            </a:extLst>
          </p:cNvPr>
          <p:cNvSpPr>
            <a:spLocks noChangeShapeType="1"/>
          </p:cNvSpPr>
          <p:nvPr/>
        </p:nvSpPr>
        <p:spPr bwMode="auto">
          <a:xfrm>
            <a:off x="4038600" y="3733800"/>
            <a:ext cx="1524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51215" name="Line 15">
            <a:extLst>
              <a:ext uri="{FF2B5EF4-FFF2-40B4-BE49-F238E27FC236}">
                <a16:creationId xmlns:a16="http://schemas.microsoft.com/office/drawing/2014/main" id="{9CC6EC03-63A1-4761-188E-B0DD87FDE7CE}"/>
              </a:ext>
            </a:extLst>
          </p:cNvPr>
          <p:cNvSpPr>
            <a:spLocks noChangeShapeType="1"/>
          </p:cNvSpPr>
          <p:nvPr/>
        </p:nvSpPr>
        <p:spPr bwMode="auto">
          <a:xfrm>
            <a:off x="4419600" y="1524000"/>
            <a:ext cx="1524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51216" name="Line 16">
            <a:extLst>
              <a:ext uri="{FF2B5EF4-FFF2-40B4-BE49-F238E27FC236}">
                <a16:creationId xmlns:a16="http://schemas.microsoft.com/office/drawing/2014/main" id="{AC126F4B-FDEE-987A-EA9F-B6C9E3B036C9}"/>
              </a:ext>
            </a:extLst>
          </p:cNvPr>
          <p:cNvSpPr>
            <a:spLocks noChangeShapeType="1"/>
          </p:cNvSpPr>
          <p:nvPr/>
        </p:nvSpPr>
        <p:spPr bwMode="auto">
          <a:xfrm>
            <a:off x="4419600" y="3733800"/>
            <a:ext cx="1524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51217" name="Line 17">
            <a:extLst>
              <a:ext uri="{FF2B5EF4-FFF2-40B4-BE49-F238E27FC236}">
                <a16:creationId xmlns:a16="http://schemas.microsoft.com/office/drawing/2014/main" id="{00715AFC-0C59-BAB9-AF5C-2BE1742DDA03}"/>
              </a:ext>
            </a:extLst>
          </p:cNvPr>
          <p:cNvSpPr>
            <a:spLocks noChangeShapeType="1"/>
          </p:cNvSpPr>
          <p:nvPr/>
        </p:nvSpPr>
        <p:spPr bwMode="auto">
          <a:xfrm>
            <a:off x="5334000" y="1524000"/>
            <a:ext cx="1524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51218" name="Line 18">
            <a:extLst>
              <a:ext uri="{FF2B5EF4-FFF2-40B4-BE49-F238E27FC236}">
                <a16:creationId xmlns:a16="http://schemas.microsoft.com/office/drawing/2014/main" id="{FE227B91-FA45-F18D-2B03-3392AC340650}"/>
              </a:ext>
            </a:extLst>
          </p:cNvPr>
          <p:cNvSpPr>
            <a:spLocks noChangeShapeType="1"/>
          </p:cNvSpPr>
          <p:nvPr/>
        </p:nvSpPr>
        <p:spPr bwMode="auto">
          <a:xfrm>
            <a:off x="5334000" y="3733800"/>
            <a:ext cx="1524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51219" name="Line 19">
            <a:extLst>
              <a:ext uri="{FF2B5EF4-FFF2-40B4-BE49-F238E27FC236}">
                <a16:creationId xmlns:a16="http://schemas.microsoft.com/office/drawing/2014/main" id="{A847C137-39D5-8C6A-2B9A-F58DC88EF782}"/>
              </a:ext>
            </a:extLst>
          </p:cNvPr>
          <p:cNvSpPr>
            <a:spLocks noChangeShapeType="1"/>
          </p:cNvSpPr>
          <p:nvPr/>
        </p:nvSpPr>
        <p:spPr bwMode="auto">
          <a:xfrm>
            <a:off x="5715000" y="1524000"/>
            <a:ext cx="1524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51220" name="Line 20">
            <a:extLst>
              <a:ext uri="{FF2B5EF4-FFF2-40B4-BE49-F238E27FC236}">
                <a16:creationId xmlns:a16="http://schemas.microsoft.com/office/drawing/2014/main" id="{D88250BC-E688-D3C3-3B5B-4A812578E216}"/>
              </a:ext>
            </a:extLst>
          </p:cNvPr>
          <p:cNvSpPr>
            <a:spLocks noChangeShapeType="1"/>
          </p:cNvSpPr>
          <p:nvPr/>
        </p:nvSpPr>
        <p:spPr bwMode="auto">
          <a:xfrm>
            <a:off x="5715000" y="3733800"/>
            <a:ext cx="1524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Arial" charset="0"/>
              <a:ea typeface="ＭＳ Ｐゴシック" charset="0"/>
            </a:endParaRPr>
          </a:p>
        </p:txBody>
      </p:sp>
      <p:sp>
        <p:nvSpPr>
          <p:cNvPr id="51221" name="Rectangle 21">
            <a:extLst>
              <a:ext uri="{FF2B5EF4-FFF2-40B4-BE49-F238E27FC236}">
                <a16:creationId xmlns:a16="http://schemas.microsoft.com/office/drawing/2014/main" id="{6B6006A7-C6FB-09F9-F818-7EDF537ED8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5988" y="2363788"/>
            <a:ext cx="987425" cy="417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eaLnBrk="0" hangingPunct="0">
              <a:lnSpc>
                <a:spcPct val="90000"/>
              </a:lnSpc>
              <a:spcBef>
                <a:spcPct val="50000"/>
              </a:spcBef>
              <a:defRPr/>
            </a:pPr>
            <a:r>
              <a:rPr lang="en-US" sz="2400" b="1">
                <a:latin typeface="Times New Roman" charset="0"/>
                <a:ea typeface="ＭＳ Ｐゴシック" charset="0"/>
              </a:rPr>
              <a:t>=  -</a:t>
            </a:r>
          </a:p>
        </p:txBody>
      </p:sp>
      <p:sp>
        <p:nvSpPr>
          <p:cNvPr id="51222" name="Text Box 22">
            <a:extLst>
              <a:ext uri="{FF2B5EF4-FFF2-40B4-BE49-F238E27FC236}">
                <a16:creationId xmlns:a16="http://schemas.microsoft.com/office/drawing/2014/main" id="{D55AE836-ADD7-DFDD-6386-4E238B14CC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2325" y="6289675"/>
            <a:ext cx="40227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Horrible for A=3I  and n&gt;50  !!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Text Box 2">
            <a:extLst>
              <a:ext uri="{FF2B5EF4-FFF2-40B4-BE49-F238E27FC236}">
                <a16:creationId xmlns:a16="http://schemas.microsoft.com/office/drawing/2014/main" id="{BF12804E-797E-743E-EB22-FB751F21E0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7800" y="838200"/>
            <a:ext cx="5502275" cy="822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Matrix multiply can be done in log n steps on n</a:t>
            </a:r>
            <a:r>
              <a:rPr lang="en-US" sz="2400" baseline="30000">
                <a:latin typeface="Times New Roman" charset="0"/>
                <a:ea typeface="ＭＳ Ｐゴシック" charset="0"/>
              </a:rPr>
              <a:t>3</a:t>
            </a:r>
            <a:r>
              <a:rPr lang="en-US" sz="2400">
                <a:latin typeface="Times New Roman" charset="0"/>
                <a:ea typeface="ＭＳ Ｐゴシック" charset="0"/>
              </a:rPr>
              <a:t> processors with the pram model</a:t>
            </a:r>
          </a:p>
        </p:txBody>
      </p:sp>
      <p:sp>
        <p:nvSpPr>
          <p:cNvPr id="52227" name="Text Box 3">
            <a:extLst>
              <a:ext uri="{FF2B5EF4-FFF2-40B4-BE49-F238E27FC236}">
                <a16:creationId xmlns:a16="http://schemas.microsoft.com/office/drawing/2014/main" id="{1B8D775E-6342-0E5D-2215-4514CA1F12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6800" y="2743200"/>
            <a:ext cx="5410200" cy="1927225"/>
          </a:xfrm>
          <a:prstGeom prst="rect">
            <a:avLst/>
          </a:prstGeom>
          <a:noFill/>
          <a:ln w="9525">
            <a:solidFill>
              <a:srgbClr val="FFFF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Can be useful to think this way, but must also remember how real machines are built!</a:t>
            </a:r>
          </a:p>
          <a:p>
            <a:pPr>
              <a:buFontTx/>
              <a:buChar char="•"/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Parallel steps are not the whole story</a:t>
            </a:r>
          </a:p>
          <a:p>
            <a:pPr>
              <a:buFontTx/>
              <a:buChar char="•"/>
              <a:defRPr/>
            </a:pPr>
            <a:r>
              <a:rPr lang="en-US" sz="2400">
                <a:latin typeface="Times New Roman" charset="0"/>
                <a:ea typeface="ＭＳ Ｐゴシック" charset="0"/>
              </a:rPr>
              <a:t>Nobody puts one element per processor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4560</TotalTime>
  <Words>3020</Words>
  <Application>Microsoft Macintosh PowerPoint</Application>
  <PresentationFormat>On-screen Show (4:3)</PresentationFormat>
  <Paragraphs>478</Paragraphs>
  <Slides>39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7" baseType="lpstr">
      <vt:lpstr>Arial</vt:lpstr>
      <vt:lpstr>Book Antiqua</vt:lpstr>
      <vt:lpstr>Monotype Sorts</vt:lpstr>
      <vt:lpstr>Symbol</vt:lpstr>
      <vt:lpstr>Times New Roman</vt:lpstr>
      <vt:lpstr>Wingdings</vt:lpstr>
      <vt:lpstr>Default Design</vt:lpstr>
      <vt:lpstr>Equation</vt:lpstr>
      <vt:lpstr>18.337 Parallel Prefix</vt:lpstr>
      <vt:lpstr>The Parallel Prefix Method</vt:lpstr>
      <vt:lpstr>Students early mental models</vt:lpstr>
      <vt:lpstr>Parallel Prefix Algorithms</vt:lpstr>
      <vt:lpstr>Example of a prefix</vt:lpstr>
      <vt:lpstr>What do you think?</vt:lpstr>
      <vt:lpstr>A clue?</vt:lpstr>
      <vt:lpstr>PowerPoint Presentation</vt:lpstr>
      <vt:lpstr>PowerPoint Presentation</vt:lpstr>
      <vt:lpstr>PowerPoint Presentation</vt:lpstr>
      <vt:lpstr>Operation Count</vt:lpstr>
      <vt:lpstr>PowerPoint Presentation</vt:lpstr>
      <vt:lpstr>Fibonacci via Matrix Multiply Prefix</vt:lpstr>
      <vt:lpstr>Arithmetic Modulo 2 (binary arithmetic)</vt:lpstr>
      <vt:lpstr>Carry-Look Ahead Addition (Babbage 1800’s)</vt:lpstr>
      <vt:lpstr>Carry-Look Ahead Addition (Babbage 1800’s)</vt:lpstr>
      <vt:lpstr>Carry-Look Ahead Addition (Babbage 1800’s)</vt:lpstr>
      <vt:lpstr>Carry-Look Ahead Addition (Babbage 1800’s)</vt:lpstr>
      <vt:lpstr>Carry-Look Ahead Addition (Babbage 1800’s)</vt:lpstr>
      <vt:lpstr>Tridiagonal Factor</vt:lpstr>
      <vt:lpstr>The “Myth” of log n</vt:lpstr>
      <vt:lpstr>PowerPoint Presentation</vt:lpstr>
      <vt:lpstr>PowerPoint Presentation</vt:lpstr>
      <vt:lpstr>Segmented Operations</vt:lpstr>
      <vt:lpstr> Copy Prefix:    x  y = x  (is associative)</vt:lpstr>
      <vt:lpstr>High Performance Fortran </vt:lpstr>
      <vt:lpstr>More HPF Segmented</vt:lpstr>
      <vt:lpstr>Example of Exclusive</vt:lpstr>
      <vt:lpstr>Parallel Prefix</vt:lpstr>
      <vt:lpstr>Variations on Prefix</vt:lpstr>
      <vt:lpstr>Variations on Prefix</vt:lpstr>
      <vt:lpstr>Variations on Prefix</vt:lpstr>
      <vt:lpstr>Variations on Prefix</vt:lpstr>
      <vt:lpstr>Variations on Prefix</vt:lpstr>
      <vt:lpstr>Multipole in 2d or 3d etc</vt:lpstr>
      <vt:lpstr>PowerPoint Presentation</vt:lpstr>
      <vt:lpstr>PowerPoint Presentation</vt:lpstr>
      <vt:lpstr>PowerPoint Presentation</vt:lpstr>
      <vt:lpstr>PowerPoint Presentation</vt:lpstr>
    </vt:vector>
  </TitlesOfParts>
  <Company>Garland Road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18.337 Introduction Super-computing Tuesday</dc:title>
  <dc:creator>dad</dc:creator>
  <cp:lastModifiedBy>Alan Edelman</cp:lastModifiedBy>
  <cp:revision>17</cp:revision>
  <dcterms:created xsi:type="dcterms:W3CDTF">2008-02-05T02:58:39Z</dcterms:created>
  <dcterms:modified xsi:type="dcterms:W3CDTF">2026-03-30T17:39:36Z</dcterms:modified>
</cp:coreProperties>
</file>