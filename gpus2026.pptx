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79" r:id="rId3"/>
    <p:sldId id="280" r:id="rId4"/>
    <p:sldId id="282" r:id="rId5"/>
    <p:sldId id="281" r:id="rId6"/>
    <p:sldId id="283" r:id="rId7"/>
    <p:sldId id="284" r:id="rId8"/>
    <p:sldId id="285" r:id="rId9"/>
    <p:sldId id="286" r:id="rId10"/>
    <p:sldId id="257" r:id="rId11"/>
    <p:sldId id="287" r:id="rId12"/>
    <p:sldId id="288" r:id="rId13"/>
    <p:sldId id="289" r:id="rId14"/>
    <p:sldId id="290" r:id="rId15"/>
    <p:sldId id="291" r:id="rId16"/>
    <p:sldId id="292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Roboto Mono" pitchFamily="49" charset="0"/>
      <p:regular r:id="rId47"/>
      <p:bold r:id="rId48"/>
      <p:italic r:id="rId49"/>
      <p:boldItalic r:id="rId50"/>
    </p:embeddedFont>
    <p:embeddedFont>
      <p:font typeface="Roboto Slab" pitchFamily="2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gsdZ9KNQ4XygiqWmtNOvdxgtTb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7746F5-F69B-4E5B-9A70-246C7A561BFC}">
  <a:tblStyle styleId="{677746F5-F69B-4E5B-9A70-246C7A561BF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1E8"/>
          </a:solidFill>
        </a:fill>
      </a:tcStyle>
    </a:wholeTbl>
    <a:band1H>
      <a:tcTxStyle b="off" i="off"/>
      <a:tcStyle>
        <a:tcBdr/>
        <a:fill>
          <a:solidFill>
            <a:srgbClr val="FFE2C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FE2CD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1E8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FFF1E8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0E68DB2-7450-404F-9B94-63E3EFBFD2D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5"/>
    <p:restoredTop sz="94712"/>
  </p:normalViewPr>
  <p:slideViewPr>
    <p:cSldViewPr snapToGrid="0">
      <p:cViewPr>
        <p:scale>
          <a:sx n="142" d="100"/>
          <a:sy n="142" d="100"/>
        </p:scale>
        <p:origin x="416" y="12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750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7D6B37B3-4577-90F6-B1C7-E90EA8C6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>
            <a:extLst>
              <a:ext uri="{FF2B5EF4-FFF2-40B4-BE49-F238E27FC236}">
                <a16:creationId xmlns:a16="http://schemas.microsoft.com/office/drawing/2014/main" id="{CE463B41-0D69-D9DE-33E2-13C4F4204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>
            <a:extLst>
              <a:ext uri="{FF2B5EF4-FFF2-40B4-BE49-F238E27FC236}">
                <a16:creationId xmlns:a16="http://schemas.microsoft.com/office/drawing/2014/main" id="{6B9F95A6-9141-3D4E-1F5E-C4D9E4B3B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7870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23ff9ab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523ff9ab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Several back-ends with similar structure: API package, kernel package, array package.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oneAPI has them all merged into a single package.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Focus on CUDA stack: most mature.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Trivial installation, nowadays. Only requires NVIDIA driver.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Start your GPU application with: the CuArray type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Convenience constructors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When possible, we reuse NVIDIA’s libraries for performance.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Real power comes from higher-order array expressions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SA"/>
              <a:t>https://drive.google.com/file/d/1v8hCrhw5bow8VaPwvDCxGejAcTkopnkX/view?usp=sharing</a:t>
            </a:r>
            <a:endParaRPr/>
          </a:p>
        </p:txBody>
      </p:sp>
      <p:sp>
        <p:nvSpPr>
          <p:cNvPr id="281" name="Google Shape;2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" name="Google Shape;1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698" y="4196601"/>
            <a:ext cx="1185734" cy="61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6115" y="3771533"/>
            <a:ext cx="1294110" cy="1294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7274" y="3890692"/>
            <a:ext cx="1055800" cy="10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4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drdv2-public.intel.com/824430/2024_Intel_Tech%20Tour%20TW_Next%20Gen%20P-core%20The%20Lion%20Cove%20Architecture-4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List_of_eponyms_of_Nvidia_GPU_microarchitectur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about:blank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abab53/mit-parallel-computing-course/blob/main/Introduction_to_julia_gpu/gpu_introduction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>
            <a:spLocks noGrp="1"/>
          </p:cNvSpPr>
          <p:nvPr>
            <p:ph type="ctrTitle"/>
          </p:nvPr>
        </p:nvSpPr>
        <p:spPr>
          <a:xfrm>
            <a:off x="311700" y="134330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SA" sz="3200"/>
              <a:t>GPU Acceleration </a:t>
            </a:r>
            <a:endParaRPr sz="3200"/>
          </a:p>
        </p:txBody>
      </p:sp>
      <p:sp>
        <p:nvSpPr>
          <p:cNvPr id="48" name="Google Shape;48;p1"/>
          <p:cNvSpPr txBox="1">
            <a:spLocks noGrp="1"/>
          </p:cNvSpPr>
          <p:nvPr>
            <p:ph type="subTitle" idx="1"/>
          </p:nvPr>
        </p:nvSpPr>
        <p:spPr>
          <a:xfrm>
            <a:off x="418800" y="2305500"/>
            <a:ext cx="8520600" cy="10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/>
              <a:t>adapted from slides by </a:t>
            </a:r>
            <a:r>
              <a:rPr lang="en-SA" sz="2400"/>
              <a:t>Rabab Alomairy &amp; Evelyne</a:t>
            </a:r>
            <a:r>
              <a:rPr lang="en-SA" sz="1150">
                <a:solidFill>
                  <a:srgbClr val="1D1C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A" sz="2400"/>
              <a:t>Ringoot</a:t>
            </a:r>
            <a:endParaRPr lang="en-US"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>
                <a:solidFill>
                  <a:srgbClr val="1D1C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(Alan Edelman)</a:t>
            </a:r>
            <a:endParaRPr sz="1150" dirty="0">
              <a:solidFill>
                <a:srgbClr val="1D1C1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50">
                <a:solidFill>
                  <a:srgbClr val="1D1C1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50" dirty="0">
              <a:solidFill>
                <a:srgbClr val="1D1C1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4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1440-6505-3D16-435A-1BB88C4E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64" y="86683"/>
            <a:ext cx="8520600" cy="572700"/>
          </a:xfrm>
        </p:spPr>
        <p:txBody>
          <a:bodyPr/>
          <a:lstStyle/>
          <a:p>
            <a:r>
              <a:rPr lang="en-US" dirty="0"/>
              <a:t>Typical old</a:t>
            </a:r>
            <a:br>
              <a:rPr lang="en-US" dirty="0"/>
            </a:br>
            <a:r>
              <a:rPr lang="en-US" dirty="0"/>
              <a:t>fashioned CPU</a:t>
            </a:r>
            <a:br>
              <a:rPr lang="en-US" dirty="0"/>
            </a:br>
            <a:r>
              <a:rPr lang="en-US" dirty="0"/>
              <a:t>(central processing unit)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12418-907A-777F-FA0E-8597508867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2</a:t>
            </a:fld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EA5BB-FF11-C7E3-4C17-A82EAB5C9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09530"/>
            <a:ext cx="4239730" cy="3076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246FCE-83ED-6AFE-18B2-D6EE4E16B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518" y="0"/>
            <a:ext cx="4865482" cy="1360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12EFFA-CBC7-EC59-BD5D-476C918D3FD2}"/>
              </a:ext>
            </a:extLst>
          </p:cNvPr>
          <p:cNvSpPr txBox="1"/>
          <p:nvPr/>
        </p:nvSpPr>
        <p:spPr>
          <a:xfrm>
            <a:off x="4892040" y="2571750"/>
            <a:ext cx="359746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 Point :   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Computation</a:t>
            </a:r>
            <a:r>
              <a:rPr lang="en-US" dirty="0"/>
              <a:t> are not</a:t>
            </a:r>
          </a:p>
          <a:p>
            <a:r>
              <a:rPr lang="en-US" dirty="0"/>
              <a:t>in the same physical hardware locations.</a:t>
            </a:r>
          </a:p>
          <a:p>
            <a:endParaRPr lang="en-US" dirty="0"/>
          </a:p>
          <a:p>
            <a:r>
              <a:rPr lang="en-US" dirty="0"/>
              <a:t>Theoretical courses count operations, but</a:t>
            </a:r>
          </a:p>
          <a:p>
            <a:r>
              <a:rPr lang="en-US" dirty="0"/>
              <a:t>execution time depends on much more.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9858A9-1529-DCA3-BE51-A79C302EFB0F}"/>
              </a:ext>
            </a:extLst>
          </p:cNvPr>
          <p:cNvCxnSpPr>
            <a:cxnSpLocks/>
          </p:cNvCxnSpPr>
          <p:nvPr/>
        </p:nvCxnSpPr>
        <p:spPr>
          <a:xfrm flipH="1">
            <a:off x="2761488" y="2843784"/>
            <a:ext cx="3255264" cy="14904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>
            <a:extLst>
              <a:ext uri="{FF2B5EF4-FFF2-40B4-BE49-F238E27FC236}">
                <a16:creationId xmlns:a16="http://schemas.microsoft.com/office/drawing/2014/main" id="{081C7651-6637-CCBA-7987-1660F2E85FB5}"/>
              </a:ext>
            </a:extLst>
          </p:cNvPr>
          <p:cNvSpPr/>
          <p:nvPr/>
        </p:nvSpPr>
        <p:spPr>
          <a:xfrm>
            <a:off x="2834640" y="1978264"/>
            <a:ext cx="4795415" cy="948803"/>
          </a:xfrm>
          <a:custGeom>
            <a:avLst/>
            <a:gdLst>
              <a:gd name="csX0" fmla="*/ 4795415 w 4795415"/>
              <a:gd name="csY0" fmla="*/ 616165 h 948803"/>
              <a:gd name="csX1" fmla="*/ 3826151 w 4795415"/>
              <a:gd name="csY1" fmla="*/ 3517 h 948803"/>
              <a:gd name="csX2" fmla="*/ 333143 w 4795415"/>
              <a:gd name="csY2" fmla="*/ 863053 h 948803"/>
              <a:gd name="csX3" fmla="*/ 342287 w 4795415"/>
              <a:gd name="csY3" fmla="*/ 872197 h 9488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795415" h="948803">
                <a:moveTo>
                  <a:pt x="4795415" y="616165"/>
                </a:moveTo>
                <a:cubicBezTo>
                  <a:pt x="4682639" y="289267"/>
                  <a:pt x="4569863" y="-37631"/>
                  <a:pt x="3826151" y="3517"/>
                </a:cubicBezTo>
                <a:cubicBezTo>
                  <a:pt x="3082439" y="44665"/>
                  <a:pt x="333143" y="863053"/>
                  <a:pt x="333143" y="863053"/>
                </a:cubicBezTo>
                <a:cubicBezTo>
                  <a:pt x="-247501" y="1007833"/>
                  <a:pt x="47393" y="940015"/>
                  <a:pt x="342287" y="872197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9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7B4C-466A-26E7-64F2-54FB8265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332E-59AE-B756-BE5A-665D61A4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64" y="86683"/>
            <a:ext cx="8520600" cy="572700"/>
          </a:xfrm>
        </p:spPr>
        <p:txBody>
          <a:bodyPr/>
          <a:lstStyle/>
          <a:p>
            <a:r>
              <a:rPr lang="en-US" dirty="0"/>
              <a:t>Typical old</a:t>
            </a:r>
            <a:br>
              <a:rPr lang="en-US" dirty="0"/>
            </a:br>
            <a:r>
              <a:rPr lang="en-US" dirty="0"/>
              <a:t>fashioned CPU</a:t>
            </a:r>
            <a:br>
              <a:rPr lang="en-US" dirty="0"/>
            </a:br>
            <a:r>
              <a:rPr lang="en-US" dirty="0"/>
              <a:t>(central processing unit)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786EC-FF2B-E3E6-CD68-B9AC82756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3</a:t>
            </a:fld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26AAB-BEC0-C55F-B2B5-57AE0989F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36" r="16612"/>
          <a:stretch>
            <a:fillRect/>
          </a:stretch>
        </p:blipFill>
        <p:spPr>
          <a:xfrm>
            <a:off x="896111" y="1709530"/>
            <a:ext cx="2639307" cy="3076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E88827-8FFA-6C96-5FF7-BC1B1D449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518" y="0"/>
            <a:ext cx="4865482" cy="1360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56BA13-F3E8-FC24-8B11-A8A197161AD9}"/>
              </a:ext>
            </a:extLst>
          </p:cNvPr>
          <p:cNvSpPr txBox="1"/>
          <p:nvPr/>
        </p:nvSpPr>
        <p:spPr>
          <a:xfrm>
            <a:off x="3875197" y="1709530"/>
            <a:ext cx="51459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 have a big matrix, where is it in this</a:t>
            </a:r>
          </a:p>
          <a:p>
            <a:r>
              <a:rPr lang="en-US" sz="2400" dirty="0"/>
              <a:t>diagram?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MOSTLY</a:t>
            </a:r>
            <a:r>
              <a:rPr lang="en-US" sz="2400" dirty="0"/>
              <a:t> not in the CPU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520509-E2F1-BD32-F8F5-70BA9C7A7233}"/>
              </a:ext>
            </a:extLst>
          </p:cNvPr>
          <p:cNvSpPr/>
          <p:nvPr/>
        </p:nvSpPr>
        <p:spPr>
          <a:xfrm>
            <a:off x="2542032" y="3502152"/>
            <a:ext cx="356616" cy="246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9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3CF4-BBB5-A353-B41D-6E1BE2CBF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6833-2E98-36A4-A219-24341CFEF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64" y="86683"/>
            <a:ext cx="8520600" cy="572700"/>
          </a:xfrm>
        </p:spPr>
        <p:txBody>
          <a:bodyPr/>
          <a:lstStyle/>
          <a:p>
            <a:r>
              <a:rPr lang="en-US" dirty="0"/>
              <a:t>Typical old</a:t>
            </a:r>
            <a:br>
              <a:rPr lang="en-US" dirty="0"/>
            </a:br>
            <a:r>
              <a:rPr lang="en-US" dirty="0"/>
              <a:t>fashioned CPU</a:t>
            </a:r>
            <a:br>
              <a:rPr lang="en-US" dirty="0"/>
            </a:br>
            <a:r>
              <a:rPr lang="en-US" dirty="0"/>
              <a:t>(central processing unit)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03927-BD51-B5A1-E5F3-60033A068C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4</a:t>
            </a:fld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B7212-7B04-765E-001D-378F75CAD4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36" r="16612"/>
          <a:stretch>
            <a:fillRect/>
          </a:stretch>
        </p:blipFill>
        <p:spPr>
          <a:xfrm>
            <a:off x="896111" y="1709530"/>
            <a:ext cx="2639307" cy="3076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A1135A-2C0E-880C-D80A-731437FF8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518" y="0"/>
            <a:ext cx="4865482" cy="1360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7AF5C-8B06-6F62-461A-B2144076E0EB}"/>
              </a:ext>
            </a:extLst>
          </p:cNvPr>
          <p:cNvSpPr txBox="1"/>
          <p:nvPr/>
        </p:nvSpPr>
        <p:spPr>
          <a:xfrm>
            <a:off x="3688660" y="2175874"/>
            <a:ext cx="54553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 have a big matrix, where is it in this</a:t>
            </a:r>
          </a:p>
          <a:p>
            <a:r>
              <a:rPr lang="en-US" sz="2400" dirty="0"/>
              <a:t>diagram?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MOSTLY</a:t>
            </a:r>
            <a:r>
              <a:rPr lang="en-US" sz="2400" dirty="0"/>
              <a:t> not in the CPU</a:t>
            </a:r>
          </a:p>
          <a:p>
            <a:endParaRPr lang="en-US" sz="2400" dirty="0"/>
          </a:p>
          <a:p>
            <a:r>
              <a:rPr lang="en-US" sz="2400" dirty="0"/>
              <a:t>but a few elements may be in registers</a:t>
            </a:r>
          </a:p>
          <a:p>
            <a:r>
              <a:rPr lang="en-US" sz="2400" dirty="0"/>
              <a:t>and the rest in memory (but…)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C8078B-980D-EE38-B41F-864DC8B0532A}"/>
              </a:ext>
            </a:extLst>
          </p:cNvPr>
          <p:cNvSpPr/>
          <p:nvPr/>
        </p:nvSpPr>
        <p:spPr>
          <a:xfrm>
            <a:off x="2542032" y="3502152"/>
            <a:ext cx="356616" cy="246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8E1A6-DCCE-20B5-AE0E-87BAD930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63AE-775B-A8CB-E45C-83B9A71C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64" y="86683"/>
            <a:ext cx="8520600" cy="572700"/>
          </a:xfrm>
        </p:spPr>
        <p:txBody>
          <a:bodyPr/>
          <a:lstStyle/>
          <a:p>
            <a:r>
              <a:rPr lang="en-US" dirty="0"/>
              <a:t>Typical old</a:t>
            </a:r>
            <a:br>
              <a:rPr lang="en-US" dirty="0"/>
            </a:br>
            <a:r>
              <a:rPr lang="en-US" dirty="0"/>
              <a:t>fashioned CPU</a:t>
            </a:r>
            <a:br>
              <a:rPr lang="en-US" dirty="0"/>
            </a:br>
            <a:r>
              <a:rPr lang="en-US" dirty="0"/>
              <a:t>(central processing unit)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AAB1A-CBD3-0E48-4EF6-60FED0CC2B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5</a:t>
            </a:fld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1D133-29EE-0970-D44B-38B6D17501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36" r="16612"/>
          <a:stretch>
            <a:fillRect/>
          </a:stretch>
        </p:blipFill>
        <p:spPr>
          <a:xfrm>
            <a:off x="896111" y="1709530"/>
            <a:ext cx="2639307" cy="3076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417EB1-1753-8251-DBC2-FDC437859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518" y="0"/>
            <a:ext cx="4865482" cy="13604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6C02C7-3D8C-3A6C-F2E2-1BB64EA43166}"/>
              </a:ext>
            </a:extLst>
          </p:cNvPr>
          <p:cNvSpPr txBox="1"/>
          <p:nvPr/>
        </p:nvSpPr>
        <p:spPr>
          <a:xfrm>
            <a:off x="3959948" y="1811511"/>
            <a:ext cx="48734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 have a large Julia (</a:t>
            </a:r>
            <a:r>
              <a:rPr lang="en-US" sz="2400" dirty="0" err="1"/>
              <a:t>etc</a:t>
            </a:r>
            <a:r>
              <a:rPr lang="en-US" sz="2400" dirty="0"/>
              <a:t>)  program,</a:t>
            </a:r>
          </a:p>
          <a:p>
            <a:r>
              <a:rPr lang="en-US" sz="2400" dirty="0"/>
              <a:t>where is that?</a:t>
            </a:r>
          </a:p>
          <a:p>
            <a:r>
              <a:rPr lang="en-US" sz="2400" dirty="0"/>
              <a:t>not in the CPU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1C955-4C7C-C9AE-40F8-974628F4BA23}"/>
              </a:ext>
            </a:extLst>
          </p:cNvPr>
          <p:cNvSpPr txBox="1"/>
          <p:nvPr/>
        </p:nvSpPr>
        <p:spPr>
          <a:xfrm>
            <a:off x="3959947" y="3106911"/>
            <a:ext cx="47548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It gets compiled down to machine</a:t>
            </a:r>
          </a:p>
          <a:p>
            <a:r>
              <a:rPr lang="en-US" sz="2400" dirty="0"/>
              <a:t>Instructions in the memory unit</a:t>
            </a:r>
          </a:p>
          <a:p>
            <a:endParaRPr lang="en-US" sz="2400" dirty="0"/>
          </a:p>
          <a:p>
            <a:r>
              <a:rPr lang="en-US" sz="2400" dirty="0"/>
              <a:t>also mostly not in the CPU</a:t>
            </a:r>
          </a:p>
          <a:p>
            <a:r>
              <a:rPr lang="en-US" sz="2400" dirty="0"/>
              <a:t>but one instruction is in a register</a:t>
            </a:r>
          </a:p>
          <a:p>
            <a:endParaRPr lang="en-US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FB0526-26D2-BEF0-9340-DDC6988B9339}"/>
              </a:ext>
            </a:extLst>
          </p:cNvPr>
          <p:cNvSpPr/>
          <p:nvPr/>
        </p:nvSpPr>
        <p:spPr>
          <a:xfrm>
            <a:off x="2542032" y="3264408"/>
            <a:ext cx="356616" cy="246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5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48DB-9D49-4488-FA4B-8C72BCA6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</p:spPr>
        <p:txBody>
          <a:bodyPr/>
          <a:lstStyle/>
          <a:p>
            <a:r>
              <a:rPr lang="en-US" dirty="0"/>
              <a:t>Modern Memory is hierarchical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5EC3-FE67-EF99-6176-1393BDCE9D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6</a:t>
            </a:fld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14164-E0AD-AF45-5A3F-17E8D8DC8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" y="1380336"/>
            <a:ext cx="7005324" cy="3776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F140AA-ADFA-A31F-D85B-92180A9F3FFF}"/>
              </a:ext>
            </a:extLst>
          </p:cNvPr>
          <p:cNvSpPr txBox="1"/>
          <p:nvPr/>
        </p:nvSpPr>
        <p:spPr>
          <a:xfrm>
            <a:off x="6199632" y="2980944"/>
            <a:ext cx="237276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Faster memory is more </a:t>
            </a:r>
          </a:p>
          <a:p>
            <a:r>
              <a:rPr lang="en-US" dirty="0"/>
              <a:t>expensive.</a:t>
            </a:r>
          </a:p>
          <a:p>
            <a:r>
              <a:rPr lang="en-US" dirty="0"/>
              <a:t>The pyramid is dictated by</a:t>
            </a:r>
          </a:p>
          <a:p>
            <a:r>
              <a:rPr lang="en-US" dirty="0"/>
              <a:t>performance vs economics.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404FA1-0E9D-47CE-172C-F56C7366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784" y="659383"/>
            <a:ext cx="2540000" cy="850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24E9C-E2EB-819A-5D2B-2E439471EE13}"/>
              </a:ext>
            </a:extLst>
          </p:cNvPr>
          <p:cNvSpPr txBox="1"/>
          <p:nvPr/>
        </p:nvSpPr>
        <p:spPr>
          <a:xfrm>
            <a:off x="5989320" y="841248"/>
            <a:ext cx="1289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 simplified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7046B2-6F05-DDDB-4C3C-5FB91F18D6FE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5349240" y="995136"/>
            <a:ext cx="6400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74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CCAD-E573-CA5C-7A51-BC4BCBA9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8" y="246254"/>
            <a:ext cx="8520600" cy="572700"/>
          </a:xfrm>
        </p:spPr>
        <p:txBody>
          <a:bodyPr/>
          <a:lstStyle/>
          <a:p>
            <a:r>
              <a:rPr lang="en-US" dirty="0"/>
              <a:t>These days a single core has a lot of  parallelism!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1978A-4E8E-340F-7FCB-808B09773C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7</a:t>
            </a:fld>
            <a:endParaRPr lang="en-SA"/>
          </a:p>
        </p:txBody>
      </p:sp>
      <p:pic>
        <p:nvPicPr>
          <p:cNvPr id="5" name="Google Shape;57;p3">
            <a:extLst>
              <a:ext uri="{FF2B5EF4-FFF2-40B4-BE49-F238E27FC236}">
                <a16:creationId xmlns:a16="http://schemas.microsoft.com/office/drawing/2014/main" id="{6ABBB218-18EC-6E54-F5B0-82B76400A6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6908"/>
          <a:stretch>
            <a:fillRect/>
          </a:stretch>
        </p:blipFill>
        <p:spPr>
          <a:xfrm>
            <a:off x="153056" y="818954"/>
            <a:ext cx="3349267" cy="27806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264981-802A-F891-1FBD-421E86FE0782}"/>
              </a:ext>
            </a:extLst>
          </p:cNvPr>
          <p:cNvSpPr txBox="1"/>
          <p:nvPr/>
        </p:nvSpPr>
        <p:spPr>
          <a:xfrm>
            <a:off x="3639312" y="1106424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ALUs</a:t>
            </a:r>
          </a:p>
        </p:txBody>
      </p:sp>
    </p:spTree>
    <p:extLst>
      <p:ext uri="{BB962C8B-B14F-4D97-AF65-F5344CB8AC3E}">
        <p14:creationId xmlns:p14="http://schemas.microsoft.com/office/powerpoint/2010/main" val="330449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A7BF-B9F2-A25D-95BA-15A8A3B4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14BFD-3180-1E6B-6704-71C3BFA665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8</a:t>
            </a:fld>
            <a:endParaRPr lang="en-SA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AA5D01-910A-51FB-7AB7-7D264273A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0"/>
            <a:ext cx="81946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F22E1E-0F23-4582-C4CF-909AA455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142" y="86683"/>
            <a:ext cx="8520600" cy="572700"/>
          </a:xfrm>
        </p:spPr>
        <p:txBody>
          <a:bodyPr/>
          <a:lstStyle/>
          <a:p>
            <a:r>
              <a:rPr lang="en-US" dirty="0"/>
              <a:t>These days a single</a:t>
            </a:r>
            <a:br>
              <a:rPr lang="en-US" dirty="0"/>
            </a:br>
            <a:r>
              <a:rPr lang="en-US" dirty="0"/>
              <a:t> core has a lot of </a:t>
            </a:r>
            <a:br>
              <a:rPr lang="en-US" dirty="0"/>
            </a:br>
            <a:r>
              <a:rPr lang="en-US" dirty="0"/>
              <a:t> parallelism!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BA2A4-8085-6D44-7133-B2FF8795CEDB}"/>
              </a:ext>
            </a:extLst>
          </p:cNvPr>
          <p:cNvSpPr txBox="1"/>
          <p:nvPr/>
        </p:nvSpPr>
        <p:spPr>
          <a:xfrm>
            <a:off x="-48142" y="4835723"/>
            <a:ext cx="4828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chipsandcheese.com</a:t>
            </a:r>
            <a:r>
              <a:rPr lang="en-US" dirty="0"/>
              <a:t>/p/lion-cove-</a:t>
            </a:r>
            <a:r>
              <a:rPr lang="en-US" dirty="0" err="1"/>
              <a:t>intels</a:t>
            </a:r>
            <a:r>
              <a:rPr lang="en-US" dirty="0"/>
              <a:t>-p-core-roars</a:t>
            </a:r>
          </a:p>
        </p:txBody>
      </p:sp>
    </p:spTree>
    <p:extLst>
      <p:ext uri="{BB962C8B-B14F-4D97-AF65-F5344CB8AC3E}">
        <p14:creationId xmlns:p14="http://schemas.microsoft.com/office/powerpoint/2010/main" val="1285799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B487-4887-C279-8EB0-CA7D06AF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Lion Cove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073E6-0EE3-356D-221B-029373EC7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https://cdrdv2-public.intel.com/824430/2024_Intel_Tech%20Tour%20TW_Next%20Gen%20P-core%20The%20Lion%20Cove%20Architecture-4.pdf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lion cove marketing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6F67D-508B-2FBE-7FED-3EFAB976E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9</a:t>
            </a:fld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90D8F-834E-B7DA-2AA7-67B00398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2637671"/>
            <a:ext cx="4572000" cy="24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15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>
            <a:spLocks noGrp="1"/>
          </p:cNvSpPr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is the GPU (graphics processing unit) difference</a:t>
            </a:r>
            <a:endParaRPr dirty="0"/>
          </a:p>
        </p:txBody>
      </p:sp>
      <p:pic>
        <p:nvPicPr>
          <p:cNvPr id="54" name="Google Shape;54;p3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10</a:t>
            </a:fld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body" idx="1"/>
          </p:nvPr>
        </p:nvSpPr>
        <p:spPr>
          <a:xfrm>
            <a:off x="311700" y="1482574"/>
            <a:ext cx="8520600" cy="2903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261" y="1505076"/>
            <a:ext cx="7772400" cy="27806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23E9E2-8EAA-120E-5985-CA4E2C55B22A}"/>
              </a:ext>
            </a:extLst>
          </p:cNvPr>
          <p:cNvSpPr txBox="1"/>
          <p:nvPr/>
        </p:nvSpPr>
        <p:spPr>
          <a:xfrm>
            <a:off x="2803728" y="4388533"/>
            <a:ext cx="5804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each core dead simple, and make up for it with massive quantity.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C85159C6-BC6E-74DA-96C8-C66F7649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>
            <a:extLst>
              <a:ext uri="{FF2B5EF4-FFF2-40B4-BE49-F238E27FC236}">
                <a16:creationId xmlns:a16="http://schemas.microsoft.com/office/drawing/2014/main" id="{EB32E5C7-CB2B-BAE7-99D1-313A9AE81D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is the GPU (graphics processing unit) difference</a:t>
            </a:r>
            <a:endParaRPr dirty="0"/>
          </a:p>
        </p:txBody>
      </p:sp>
      <p:pic>
        <p:nvPicPr>
          <p:cNvPr id="54" name="Google Shape;54;p3" descr="Julia (programming language) - Wikipedia">
            <a:extLst>
              <a:ext uri="{FF2B5EF4-FFF2-40B4-BE49-F238E27FC236}">
                <a16:creationId xmlns:a16="http://schemas.microsoft.com/office/drawing/2014/main" id="{15426C06-1C3D-3F0C-2910-DB394A4B03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>
            <a:extLst>
              <a:ext uri="{FF2B5EF4-FFF2-40B4-BE49-F238E27FC236}">
                <a16:creationId xmlns:a16="http://schemas.microsoft.com/office/drawing/2014/main" id="{FE3E3132-EBFF-353C-F56A-C106349300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11</a:t>
            </a:fld>
            <a:endParaRPr/>
          </a:p>
        </p:txBody>
      </p:sp>
      <p:sp>
        <p:nvSpPr>
          <p:cNvPr id="56" name="Google Shape;56;p3">
            <a:extLst>
              <a:ext uri="{FF2B5EF4-FFF2-40B4-BE49-F238E27FC236}">
                <a16:creationId xmlns:a16="http://schemas.microsoft.com/office/drawing/2014/main" id="{89335E12-059D-C891-C805-5F3CDFEC3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2574"/>
            <a:ext cx="8520600" cy="2903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57" name="Google Shape;57;p3">
            <a:extLst>
              <a:ext uri="{FF2B5EF4-FFF2-40B4-BE49-F238E27FC236}">
                <a16:creationId xmlns:a16="http://schemas.microsoft.com/office/drawing/2014/main" id="{6AC64188-AB92-6C2B-2527-EA2F4016B8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261" y="1505076"/>
            <a:ext cx="7772400" cy="27806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0A9E8B-8D6E-8884-F0BE-96BECFC7362E}"/>
              </a:ext>
            </a:extLst>
          </p:cNvPr>
          <p:cNvSpPr txBox="1"/>
          <p:nvPr/>
        </p:nvSpPr>
        <p:spPr>
          <a:xfrm>
            <a:off x="2803728" y="438853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each core dead simple, and make up for it with massive quantity.</a:t>
            </a:r>
          </a:p>
          <a:p>
            <a:r>
              <a:rPr lang="en-US" dirty="0"/>
              <a:t>and have multiple cores act in lockstep</a:t>
            </a:r>
          </a:p>
        </p:txBody>
      </p:sp>
    </p:spTree>
    <p:extLst>
      <p:ext uri="{BB962C8B-B14F-4D97-AF65-F5344CB8AC3E}">
        <p14:creationId xmlns:p14="http://schemas.microsoft.com/office/powerpoint/2010/main" val="353296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C4789-B8CF-C119-B06D-56025F81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08" y="71950"/>
            <a:ext cx="8520600" cy="572700"/>
          </a:xfrm>
        </p:spPr>
        <p:txBody>
          <a:bodyPr/>
          <a:lstStyle/>
          <a:p>
            <a:r>
              <a:rPr lang="en-US" dirty="0"/>
              <a:t>What to call each of these processing elements?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D4A77-62EC-E72A-ED32-9E25E4B5A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42" y="2193875"/>
            <a:ext cx="8520600" cy="34164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NVIDIA		Cuda Core</a:t>
            </a:r>
          </a:p>
          <a:p>
            <a:pPr marL="114300" indent="0">
              <a:buNone/>
            </a:pPr>
            <a:r>
              <a:rPr lang="en-US" dirty="0"/>
              <a:t>AMD		Stream Processor</a:t>
            </a:r>
          </a:p>
          <a:p>
            <a:pPr marL="114300" indent="0">
              <a:buNone/>
            </a:pPr>
            <a:r>
              <a:rPr lang="en-US" dirty="0"/>
              <a:t>Apple		Not publicly named?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good news is you probably don’t need to remember these names.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0337B-9B01-18B8-3796-17E9948A3C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12</a:t>
            </a:fld>
            <a:endParaRPr lang="en-S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FA07F-72C7-043B-1445-6AA4BAC3E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5" y="589471"/>
            <a:ext cx="1930400" cy="12954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0041195-1EC2-9865-1828-F852ECE75FD5}"/>
              </a:ext>
            </a:extLst>
          </p:cNvPr>
          <p:cNvSpPr/>
          <p:nvPr/>
        </p:nvSpPr>
        <p:spPr>
          <a:xfrm>
            <a:off x="1168400" y="1098757"/>
            <a:ext cx="477109" cy="4771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16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E720-1295-C040-91FD-78D3FE25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</p:spPr>
        <p:txBody>
          <a:bodyPr/>
          <a:lstStyle/>
          <a:p>
            <a:r>
              <a:rPr lang="en-US" dirty="0"/>
              <a:t>NVIDIA architectures and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384D8-A9D6-0EF8-07F5-41E2FA4F68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13</a:t>
            </a:fld>
            <a:endParaRPr lang="en-S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BD9E5-954A-7EB8-B054-1DD899F67D0C}"/>
              </a:ext>
            </a:extLst>
          </p:cNvPr>
          <p:cNvSpPr txBox="1"/>
          <p:nvPr/>
        </p:nvSpPr>
        <p:spPr>
          <a:xfrm>
            <a:off x="364067" y="855133"/>
            <a:ext cx="6664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https://en.wikipedia.org/wiki/List_of_eponyms_of_Nvidia_GPU_microarchitectures</a:t>
            </a:r>
            <a:endParaRPr lang="en-US" dirty="0"/>
          </a:p>
          <a:p>
            <a:r>
              <a:rPr lang="en-US" dirty="0" err="1"/>
              <a:t>claude</a:t>
            </a:r>
            <a:r>
              <a:rPr lang="en-US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2DA172-9758-B755-C9AC-D2782BDE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840"/>
          <a:stretch>
            <a:fillRect/>
          </a:stretch>
        </p:blipFill>
        <p:spPr>
          <a:xfrm>
            <a:off x="106443" y="1657261"/>
            <a:ext cx="4988521" cy="1954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4FF805-F8C9-353B-3EAF-681C4E161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561" t="28100" r="3561" b="25702"/>
          <a:stretch>
            <a:fillRect/>
          </a:stretch>
        </p:blipFill>
        <p:spPr>
          <a:xfrm>
            <a:off x="5189577" y="1657261"/>
            <a:ext cx="3566435" cy="23761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D43F94-A399-B96D-55C4-21EF59C5E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561" t="78289" r="3561" b="-898"/>
          <a:stretch>
            <a:fillRect/>
          </a:stretch>
        </p:blipFill>
        <p:spPr>
          <a:xfrm>
            <a:off x="1005565" y="3893907"/>
            <a:ext cx="3566435" cy="116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02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07CC-757A-1A8D-7A01-7921E71B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86683"/>
            <a:ext cx="8520600" cy="572700"/>
          </a:xfrm>
        </p:spPr>
        <p:txBody>
          <a:bodyPr/>
          <a:lstStyle/>
          <a:p>
            <a:r>
              <a:rPr lang="en-US" dirty="0"/>
              <a:t>An Ampere Streaming Multiprocessor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6F0B6-3609-EB9E-6F31-A043E37B0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4328" y="1152475"/>
            <a:ext cx="3327971" cy="3416400"/>
          </a:xfrm>
        </p:spPr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Supartition</a:t>
            </a:r>
            <a:endParaRPr lang="en-US" dirty="0"/>
          </a:p>
          <a:p>
            <a:r>
              <a:rPr lang="en-US" dirty="0"/>
              <a:t>Each </a:t>
            </a:r>
            <a:r>
              <a:rPr lang="en-US" dirty="0" err="1"/>
              <a:t>Subpartition</a:t>
            </a:r>
            <a:endParaRPr lang="en-US" dirty="0"/>
          </a:p>
          <a:p>
            <a:pPr marL="548640" lvl="1">
              <a:spcBef>
                <a:spcPts val="600"/>
              </a:spcBef>
            </a:pPr>
            <a:r>
              <a:rPr lang="en-US" dirty="0"/>
              <a:t>16 Int32 cores</a:t>
            </a:r>
          </a:p>
          <a:p>
            <a:pPr marL="548640" lvl="1">
              <a:spcBef>
                <a:spcPts val="600"/>
              </a:spcBef>
            </a:pPr>
            <a:r>
              <a:rPr lang="en-US" dirty="0"/>
              <a:t>16 FP32 cores</a:t>
            </a:r>
          </a:p>
          <a:p>
            <a:pPr marL="548640" lvl="1">
              <a:spcBef>
                <a:spcPts val="600"/>
              </a:spcBef>
            </a:pPr>
            <a:r>
              <a:rPr lang="en-US" dirty="0"/>
              <a:t>8 FP64 cores</a:t>
            </a:r>
          </a:p>
          <a:p>
            <a:pPr marL="548640" lvl="1">
              <a:spcBef>
                <a:spcPts val="600"/>
              </a:spcBef>
            </a:pPr>
            <a:r>
              <a:rPr lang="en-US" dirty="0"/>
              <a:t>1 tensor Cores – </a:t>
            </a:r>
            <a:r>
              <a:rPr lang="en-US" dirty="0" err="1"/>
              <a:t>matmul</a:t>
            </a:r>
            <a:r>
              <a:rPr lang="en-US" dirty="0"/>
              <a:t> accumulator</a:t>
            </a:r>
          </a:p>
          <a:p>
            <a:pPr marL="91440">
              <a:spcBef>
                <a:spcPts val="600"/>
              </a:spcBef>
            </a:pPr>
            <a:r>
              <a:rPr lang="en-US" dirty="0"/>
              <a:t>In each cycle cores operate in lock step scheduled by the warp scheduler</a:t>
            </a:r>
          </a:p>
          <a:p>
            <a:pPr marL="91440">
              <a:spcBef>
                <a:spcPts val="600"/>
              </a:spcBef>
            </a:pPr>
            <a:r>
              <a:rPr lang="en-US" dirty="0"/>
              <a:t>A warp scheduler schedules 32 threads</a:t>
            </a:r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lvl="1"/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60D3A-B10E-A56B-0B9D-725E25FE2D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14</a:t>
            </a:fld>
            <a:endParaRPr lang="en-SA"/>
          </a:p>
        </p:txBody>
      </p:sp>
      <p:pic>
        <p:nvPicPr>
          <p:cNvPr id="5" name="Google Shape;103;p6">
            <a:extLst>
              <a:ext uri="{FF2B5EF4-FFF2-40B4-BE49-F238E27FC236}">
                <a16:creationId xmlns:a16="http://schemas.microsoft.com/office/drawing/2014/main" id="{0D076EFB-F31A-F1CC-BD70-2AD8BDBAC3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473" y="659383"/>
            <a:ext cx="4958409" cy="4298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5506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38FF-68D9-A8A2-7B62-702F8D4D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8" y="176084"/>
            <a:ext cx="8520600" cy="572700"/>
          </a:xfrm>
        </p:spPr>
        <p:txBody>
          <a:bodyPr/>
          <a:lstStyle/>
          <a:p>
            <a:r>
              <a:rPr lang="en-US" dirty="0"/>
              <a:t>Wait if there are 16 FP32s and 32 threads in a warp, how does that work out?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3C0E7-A3A6-7024-E70B-CD7F32F57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takes two cycles for a thread to complete so it pipelines:</a:t>
            </a:r>
          </a:p>
          <a:p>
            <a:pPr lvl="1"/>
            <a:r>
              <a:rPr lang="en-US" dirty="0"/>
              <a:t>wash 1</a:t>
            </a:r>
          </a:p>
          <a:p>
            <a:pPr lvl="1"/>
            <a:r>
              <a:rPr lang="en-US" dirty="0"/>
              <a:t>dry 1, wash 2</a:t>
            </a:r>
          </a:p>
          <a:p>
            <a:pPr lvl="1"/>
            <a:r>
              <a:rPr lang="en-US" dirty="0"/>
              <a:t>fold 1, dry 2</a:t>
            </a:r>
          </a:p>
          <a:p>
            <a:pPr lvl="1"/>
            <a:r>
              <a:rPr lang="en-US" dirty="0"/>
              <a:t>fold 2</a:t>
            </a:r>
          </a:p>
          <a:p>
            <a:r>
              <a:rPr lang="en-US" dirty="0"/>
              <a:t>all this x 16 parallel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F32B3-9123-80BA-5FA2-003BC73820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15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019582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65C4F-298E-39A2-2FB0-AA45F877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2F78-7AC3-EEE8-0DAB-3AEF2CB9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86683"/>
            <a:ext cx="8520600" cy="572700"/>
          </a:xfrm>
        </p:spPr>
        <p:txBody>
          <a:bodyPr/>
          <a:lstStyle/>
          <a:p>
            <a:r>
              <a:rPr lang="en-US" dirty="0"/>
              <a:t>An Ampere Streaming Multiprocessor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37407-68F2-438B-42C0-EC1AC8550C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A" smtClean="0"/>
              <a:t>16</a:t>
            </a:fld>
            <a:endParaRPr lang="en-SA"/>
          </a:p>
        </p:txBody>
      </p:sp>
      <p:pic>
        <p:nvPicPr>
          <p:cNvPr id="5" name="Google Shape;103;p6">
            <a:extLst>
              <a:ext uri="{FF2B5EF4-FFF2-40B4-BE49-F238E27FC236}">
                <a16:creationId xmlns:a16="http://schemas.microsoft.com/office/drawing/2014/main" id="{726108C5-4A43-AE0F-BB9E-F5BCA4965D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473" y="659383"/>
            <a:ext cx="4958409" cy="42980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E9BEE5-3B5B-66CE-0288-770286651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6071" y="1100232"/>
            <a:ext cx="3890682" cy="3416400"/>
          </a:xfrm>
        </p:spPr>
        <p:txBody>
          <a:bodyPr/>
          <a:lstStyle/>
          <a:p>
            <a:r>
              <a:rPr lang="en-US" dirty="0"/>
              <a:t>Notice the shared memory in the SM at the bottom (&amp; the L1 instruction cache)</a:t>
            </a:r>
          </a:p>
          <a:p>
            <a:r>
              <a:rPr lang="en-US" dirty="0"/>
              <a:t>the SM is one self contained parallel computing unit</a:t>
            </a:r>
          </a:p>
          <a:p>
            <a:r>
              <a:rPr lang="en-US" dirty="0"/>
              <a:t>juggles many warps to hide latency</a:t>
            </a:r>
          </a:p>
        </p:txBody>
      </p:sp>
    </p:spTree>
    <p:extLst>
      <p:ext uri="{BB962C8B-B14F-4D97-AF65-F5344CB8AC3E}">
        <p14:creationId xmlns:p14="http://schemas.microsoft.com/office/powerpoint/2010/main" val="1744463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Overview of </a:t>
            </a:r>
            <a:r>
              <a:rPr lang="en-US" dirty="0"/>
              <a:t> NVIDIA Ampere </a:t>
            </a:r>
            <a:r>
              <a:rPr lang="en-SA"/>
              <a:t>GPU Architecture</a:t>
            </a:r>
            <a:endParaRPr dirty="0"/>
          </a:p>
        </p:txBody>
      </p:sp>
      <p:pic>
        <p:nvPicPr>
          <p:cNvPr id="72" name="Google Shape;72;p4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17</a:t>
            </a:fld>
            <a:endParaRPr/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311700" y="1191986"/>
            <a:ext cx="8520600" cy="370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0" y="769358"/>
            <a:ext cx="90213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Transistor Count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54.2 billion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Area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826 mm²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SA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Ampere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Up to 80 GB HBM2e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FP64 Performance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~19.5 TFLOP/s (A100 80GB SXM)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NVLink (up to 600 GB/s), PCIe Gen4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128 SMs per full GPU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2617" y="727571"/>
            <a:ext cx="4573584" cy="229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23ff9abb4_0_0"/>
          <p:cNvSpPr txBox="1">
            <a:spLocks noGrp="1"/>
          </p:cNvSpPr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Overview of </a:t>
            </a:r>
            <a:r>
              <a:rPr lang="en-US" dirty="0"/>
              <a:t>NVIDIA HOPPER </a:t>
            </a:r>
            <a:r>
              <a:rPr lang="en-SA"/>
              <a:t>GPU Architecture</a:t>
            </a:r>
            <a:endParaRPr dirty="0"/>
          </a:p>
        </p:txBody>
      </p:sp>
      <p:pic>
        <p:nvPicPr>
          <p:cNvPr id="82" name="Google Shape;82;g3523ff9abb4_0_0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523ff9abb4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18</a:t>
            </a:fld>
            <a:endParaRPr/>
          </a:p>
        </p:txBody>
      </p:sp>
      <p:sp>
        <p:nvSpPr>
          <p:cNvPr id="84" name="Google Shape;84;g3523ff9abb4_0_0"/>
          <p:cNvSpPr txBox="1">
            <a:spLocks noGrp="1"/>
          </p:cNvSpPr>
          <p:nvPr>
            <p:ph type="body" idx="1"/>
          </p:nvPr>
        </p:nvSpPr>
        <p:spPr>
          <a:xfrm>
            <a:off x="311700" y="1191986"/>
            <a:ext cx="85206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85" name="Google Shape;85;g3523ff9abb4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6125" y="1010675"/>
            <a:ext cx="4485026" cy="20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523ff9abb4_0_0"/>
          <p:cNvSpPr txBox="1"/>
          <p:nvPr/>
        </p:nvSpPr>
        <p:spPr>
          <a:xfrm>
            <a:off x="127050" y="761475"/>
            <a:ext cx="80076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Transistor Count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80 billion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Area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814 mm²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SA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Hopper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Up to </a:t>
            </a:r>
            <a:r>
              <a:rPr lang="en-SA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GB HBM2e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FP64 Performance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~34 TFLOP/s (H100 96GB SXM)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Interconnect</a:t>
            </a: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NVLink (up to 900 GB/s), PCIe Gen4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132 SMs per full GPU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Streaming multiprocessor (SM)</a:t>
            </a:r>
            <a:endParaRPr/>
          </a:p>
        </p:txBody>
      </p:sp>
      <p:pic>
        <p:nvPicPr>
          <p:cNvPr id="92" name="Google Shape;92;p5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19</a:t>
            </a:fld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body" idx="1"/>
          </p:nvPr>
        </p:nvSpPr>
        <p:spPr>
          <a:xfrm>
            <a:off x="311700" y="1482574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3877" y="1320249"/>
            <a:ext cx="7772402" cy="367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>
            <a:spLocks noGrp="1"/>
          </p:cNvSpPr>
          <p:nvPr>
            <p:ph type="title"/>
          </p:nvPr>
        </p:nvSpPr>
        <p:spPr>
          <a:xfrm>
            <a:off x="226208" y="9438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Streaming multiprocessor (SM)</a:t>
            </a:r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body" idx="1"/>
          </p:nvPr>
        </p:nvSpPr>
        <p:spPr>
          <a:xfrm>
            <a:off x="226208" y="927950"/>
            <a:ext cx="5170800" cy="3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SM contains four processing blocks that share an L1 cache for data caching.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Each processing block has a Warp scheduler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16 INT32 CUDA cores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16 FP32 CUDA cores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8 FP64 CUDA cores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8 Load/Store cores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Tensor core for matrix multiplication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16K 32-bit register file.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The maximum number of thread blocks per SM is 32.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20</a:t>
            </a:fld>
            <a:endParaRPr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0980" y="1152475"/>
            <a:ext cx="2767431" cy="3210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>
            <a:spLocks noGrp="1"/>
          </p:cNvSpPr>
          <p:nvPr>
            <p:ph type="title"/>
          </p:nvPr>
        </p:nvSpPr>
        <p:spPr>
          <a:xfrm>
            <a:off x="127061" y="154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How to program a GPU</a:t>
            </a:r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1"/>
          </p:nvPr>
        </p:nvSpPr>
        <p:spPr>
          <a:xfrm>
            <a:off x="-1" y="951384"/>
            <a:ext cx="5577841" cy="3820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Single-Instruction-Multiple-Threads (SIMT). </a:t>
            </a:r>
            <a:endParaRPr sz="19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SIMT allows GPUs to execute the same instruction across multiple threads</a:t>
            </a:r>
            <a:endParaRPr sz="19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Perspective is a </a:t>
            </a:r>
            <a:r>
              <a:rPr lang="en-SA" sz="1900">
                <a:solidFill>
                  <a:srgbClr val="92D050"/>
                </a:solidFill>
              </a:rPr>
              <a:t>thread</a:t>
            </a:r>
            <a:endParaRPr sz="19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Threads grouped into </a:t>
            </a:r>
            <a:r>
              <a:rPr lang="en-SA" sz="1900">
                <a:solidFill>
                  <a:srgbClr val="92D050"/>
                </a:solidFill>
              </a:rPr>
              <a:t>blocks</a:t>
            </a:r>
            <a:endParaRPr sz="19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Blocks grouped into </a:t>
            </a:r>
            <a:r>
              <a:rPr lang="en-SA" sz="1900">
                <a:solidFill>
                  <a:srgbClr val="92D050"/>
                </a:solidFill>
              </a:rPr>
              <a:t>grids</a:t>
            </a:r>
            <a:endParaRPr sz="1900">
              <a:solidFill>
                <a:srgbClr val="92D05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Threads within block can access shared memory and synchronize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GPUs are designed to maximize throughput.</a:t>
            </a:r>
            <a:endParaRPr sz="19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SA" sz="1900">
                <a:solidFill>
                  <a:schemeClr val="dk1"/>
                </a:solidFill>
              </a:rPr>
              <a:t>Transferring data from the CPU to the GPU can be a bottleneck  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0846" y="1334491"/>
            <a:ext cx="3643154" cy="249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 descr="Julia (programming language)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5774635" y="2912165"/>
            <a:ext cx="288234" cy="407504"/>
          </a:xfrm>
          <a:prstGeom prst="ellipse">
            <a:avLst/>
          </a:prstGeom>
          <a:noFill/>
          <a:ln w="254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685183" y="2912165"/>
            <a:ext cx="1162878" cy="993913"/>
          </a:xfrm>
          <a:prstGeom prst="ellipse">
            <a:avLst/>
          </a:prstGeom>
          <a:noFill/>
          <a:ln w="254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918752" y="1404632"/>
            <a:ext cx="1162878" cy="993913"/>
          </a:xfrm>
          <a:prstGeom prst="ellipse">
            <a:avLst/>
          </a:prstGeom>
          <a:noFill/>
          <a:ln w="254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21</a:t>
            </a:fld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213612" y="1657503"/>
            <a:ext cx="1162878" cy="244085"/>
          </a:xfrm>
          <a:prstGeom prst="ellipse">
            <a:avLst/>
          </a:prstGeom>
          <a:noFill/>
          <a:ln w="25400" cap="flat" cmpd="sng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>
            <a:spLocks noGrp="1"/>
          </p:cNvSpPr>
          <p:nvPr>
            <p:ph type="title"/>
          </p:nvPr>
        </p:nvSpPr>
        <p:spPr>
          <a:xfrm>
            <a:off x="226208" y="136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 Mapping Software to Hardware</a:t>
            </a:r>
            <a:br>
              <a:rPr lang="en-SA"/>
            </a:br>
            <a:endParaRPr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1"/>
          </p:nvPr>
        </p:nvSpPr>
        <p:spPr>
          <a:xfrm>
            <a:off x="0" y="863550"/>
            <a:ext cx="6540600" cy="41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SA" sz="1600" b="1">
                <a:solidFill>
                  <a:srgbClr val="00B050"/>
                </a:solidFill>
              </a:rPr>
              <a:t>Thread</a:t>
            </a:r>
            <a:r>
              <a:rPr lang="en-SA" sz="1600">
                <a:solidFill>
                  <a:srgbClr val="00B050"/>
                </a:solidFill>
              </a:rPr>
              <a:t>:</a:t>
            </a:r>
            <a:r>
              <a:rPr lang="en-SA" sz="1600">
                <a:solidFill>
                  <a:schemeClr val="dk1"/>
                </a:solidFill>
              </a:rPr>
              <a:t> Smallest unit of execution, executes a kernel function.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SA" sz="1600" b="1">
                <a:solidFill>
                  <a:srgbClr val="00B050"/>
                </a:solidFill>
              </a:rPr>
              <a:t>Scalar Processor (core)</a:t>
            </a:r>
            <a:r>
              <a:rPr lang="en-SA" sz="1600">
                <a:solidFill>
                  <a:srgbClr val="00B05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Executes one thread. Multiple cores live inside an SM.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SA" sz="1600" b="1">
                <a:solidFill>
                  <a:srgbClr val="FFC000"/>
                </a:solidFill>
              </a:rPr>
              <a:t>Thread Block</a:t>
            </a:r>
            <a:r>
              <a:rPr lang="en-SA" sz="1600">
                <a:solidFill>
                  <a:srgbClr val="FFC00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Group of threads executed on a single SM. Threads in a block can share memory and synchronize.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SA" sz="1600" b="1">
                <a:solidFill>
                  <a:srgbClr val="FFC000"/>
                </a:solidFill>
              </a:rPr>
              <a:t>SM (Streaming Multiprocessor)</a:t>
            </a:r>
            <a:r>
              <a:rPr lang="en-SA" sz="1600">
                <a:solidFill>
                  <a:srgbClr val="FFC00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Executes thread blocks. Contains cores, Tensor Cores, registers, shared memory, etc.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SA" sz="1600" b="1">
                <a:solidFill>
                  <a:srgbClr val="00B0F0"/>
                </a:solidFill>
              </a:rPr>
              <a:t>Grid</a:t>
            </a:r>
            <a:r>
              <a:rPr lang="en-SA" sz="1600">
                <a:solidFill>
                  <a:srgbClr val="00B0F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Collection of thread blocks. Can span across multiple SMs.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SA" sz="1600" b="1">
                <a:solidFill>
                  <a:srgbClr val="00B0F0"/>
                </a:solidFill>
              </a:rPr>
              <a:t>GPU Device</a:t>
            </a:r>
            <a:r>
              <a:rPr lang="en-SA" sz="1600">
                <a:solidFill>
                  <a:srgbClr val="00B0F0"/>
                </a:solidFill>
              </a:rPr>
              <a:t>: </a:t>
            </a:r>
            <a:r>
              <a:rPr lang="en-SA" sz="1600">
                <a:solidFill>
                  <a:schemeClr val="dk1"/>
                </a:solidFill>
              </a:rPr>
              <a:t>The full hardware accelerator; includes many SMs and memory hierarchies (L2 cache, global memory, etc.).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123" name="Google Shape;12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22</a:t>
            </a:fld>
            <a:endParaRPr/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5081" y="1018761"/>
            <a:ext cx="2271728" cy="3105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>
            <a:spLocks noGrp="1"/>
          </p:cNvSpPr>
          <p:nvPr>
            <p:ph type="title"/>
          </p:nvPr>
        </p:nvSpPr>
        <p:spPr>
          <a:xfrm>
            <a:off x="226208" y="23542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Memory Hierarchy</a:t>
            </a:r>
            <a:br>
              <a:rPr lang="en-SA"/>
            </a:br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body" idx="1"/>
          </p:nvPr>
        </p:nvSpPr>
        <p:spPr>
          <a:xfrm>
            <a:off x="93023" y="1017725"/>
            <a:ext cx="517471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Each thread has private local memory. 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Each thread block has shared memory visible to all threads of the block and with the same lifetime as the block.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Thread blocks in a thread block cluster can perform read, write, and atomics operations on each other’s shared memory. 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A">
                <a:solidFill>
                  <a:schemeClr val="dk1"/>
                </a:solidFill>
              </a:rPr>
              <a:t>All threads have access to the same global memory.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23</a:t>
            </a:fld>
            <a:endParaRPr/>
          </a:p>
        </p:txBody>
      </p:sp>
      <p:pic>
        <p:nvPicPr>
          <p:cNvPr id="132" name="Google Shape;132;p9" descr="Memory Hierarch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7759" y="1292087"/>
            <a:ext cx="3667519" cy="2829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132796" y="1663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SIMT Programming model</a:t>
            </a:r>
            <a:endParaRPr/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633" y="1177103"/>
            <a:ext cx="5229671" cy="324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enter image description here"/>
          <p:cNvPicPr preferRelativeResize="0"/>
          <p:nvPr/>
        </p:nvPicPr>
        <p:blipFill rotWithShape="1">
          <a:blip r:embed="rId4">
            <a:alphaModFix/>
          </a:blip>
          <a:srcRect l="16920" t="55162" r="19126" b="5334"/>
          <a:stretch/>
        </p:blipFill>
        <p:spPr>
          <a:xfrm>
            <a:off x="5834688" y="1966886"/>
            <a:ext cx="1550505" cy="90488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2499403" y="777034"/>
            <a:ext cx="105083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18"/>
          <p:cNvCxnSpPr/>
          <p:nvPr/>
        </p:nvCxnSpPr>
        <p:spPr>
          <a:xfrm rot="10800000" flipH="1">
            <a:off x="3968247" y="2512143"/>
            <a:ext cx="1811382" cy="245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2" name="Google Shape;142;p18"/>
          <p:cNvSpPr txBox="1"/>
          <p:nvPr/>
        </p:nvSpPr>
        <p:spPr>
          <a:xfrm>
            <a:off x="6218377" y="1420652"/>
            <a:ext cx="143359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 descr="Julia (programming language) -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1145295" y="2358255"/>
            <a:ext cx="27443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SA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2672489" y="1081749"/>
            <a:ext cx="27443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SA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sldNum" idx="12"/>
          </p:nvPr>
        </p:nvSpPr>
        <p:spPr>
          <a:xfrm>
            <a:off x="8379046" y="462811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24</a:t>
            </a:fld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59246" y="4399171"/>
            <a:ext cx="849415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∙"/>
            </a:pPr>
            <a:r>
              <a:rPr lang="en-SA" sz="1800" b="0" i="0" u="none" strike="noStrike" cap="none">
                <a:solidFill>
                  <a:srgbClr val="1705F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thread ID: </a:t>
            </a:r>
            <a:r>
              <a:rPr lang="en-SA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position of the thread within block (threadIdx) , the position of the block within the grid (blockIdx), and block dimension (blockDim)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SA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132796" y="166355"/>
            <a:ext cx="818625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Existing GPUs and their Software</a:t>
            </a:r>
            <a:endParaRPr/>
          </a:p>
        </p:txBody>
      </p:sp>
      <p:pic>
        <p:nvPicPr>
          <p:cNvPr id="153" name="Google Shape;153;p10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0"/>
          <p:cNvGraphicFramePr/>
          <p:nvPr/>
        </p:nvGraphicFramePr>
        <p:xfrm>
          <a:off x="1036981" y="1720462"/>
          <a:ext cx="6785125" cy="736620"/>
        </p:xfrm>
        <a:graphic>
          <a:graphicData uri="http://schemas.openxmlformats.org/drawingml/2006/table">
            <a:tbl>
              <a:tblPr firstRow="1" bandRow="1">
                <a:noFill/>
                <a:tableStyleId>{677746F5-F69B-4E5B-9A70-246C7A561BFC}</a:tableStyleId>
              </a:tblPr>
              <a:tblGrid>
                <a:gridCol w="135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Hardware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NVIDIA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AMD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Intel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Apple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Software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CUDA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ROCm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OneAPI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SA" sz="1800" b="0" u="none" strike="noStrike" cap="none"/>
                        <a:t>Metal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5" name="Google Shape;155;p10" descr="Nvidia, the tech company more valuable than Google and Amazon, explained |  Vox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4408" y="2890813"/>
            <a:ext cx="1306358" cy="87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 descr="AMD Instinct™ MI300A Accelerator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7866" y="2890813"/>
            <a:ext cx="1074650" cy="10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 descr="Intel Launches Gaudi 3 AI Accelerator | CDOTrend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0357" y="2890813"/>
            <a:ext cx="1660054" cy="1184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0" descr="First M1 Max GPU Performance Results Show It Is More Than 3x Faster Than Apple's  M1"/>
          <p:cNvPicPr preferRelativeResize="0"/>
          <p:nvPr/>
        </p:nvPicPr>
        <p:blipFill rotWithShape="1">
          <a:blip r:embed="rId7">
            <a:alphaModFix/>
          </a:blip>
          <a:srcRect l="20922" t="7947" r="21968" b="8532"/>
          <a:stretch/>
        </p:blipFill>
        <p:spPr>
          <a:xfrm>
            <a:off x="6558252" y="2788939"/>
            <a:ext cx="1306358" cy="1074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Typical Execution Dataflow</a:t>
            </a:r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26</a:t>
            </a:fld>
            <a:endParaRPr/>
          </a:p>
        </p:txBody>
      </p:sp>
      <p:pic>
        <p:nvPicPr>
          <p:cNvPr id="166" name="Google Shape;166;p24" descr="Timeli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241" y="955675"/>
            <a:ext cx="6839777" cy="390434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2286000" y="241937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2286000" y="241937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252813" y="219096"/>
            <a:ext cx="471268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NVIDIA Ampere A100</a:t>
            </a:r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1"/>
          </p:nvPr>
        </p:nvSpPr>
        <p:spPr>
          <a:xfrm>
            <a:off x="-1" y="875459"/>
            <a:ext cx="5916529" cy="205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An NVIDIA A100 GPU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It has 40 MB L2 cache, which helps reduce latency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It supports up to 80 GB of HBM2 memory with a maximum memory bandwidth of 2039 GB/s , essential for handling large data and reducing data transfer.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SA" sz="1500">
                <a:solidFill>
                  <a:schemeClr val="dk1"/>
                </a:solidFill>
              </a:rPr>
              <a:t>It contains in total 6912 FP32/INT32 CUDA cores and 3456 FP64 CUDA cores</a:t>
            </a:r>
            <a:endParaRPr/>
          </a:p>
        </p:txBody>
      </p:sp>
      <p:pic>
        <p:nvPicPr>
          <p:cNvPr id="175" name="Google Shape;175;p16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8895" y="-75928"/>
            <a:ext cx="316983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The ASCI Q machine at Los Alamos National Laboratory | Download Scientific  Diagra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3070" y="2749120"/>
            <a:ext cx="1862504" cy="123328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0784"/>
              </a:srgbClr>
            </a:outerShdw>
          </a:effectLst>
        </p:spPr>
      </p:pic>
      <p:sp>
        <p:nvSpPr>
          <p:cNvPr id="177" name="Google Shape;177;p16"/>
          <p:cNvSpPr txBox="1"/>
          <p:nvPr/>
        </p:nvSpPr>
        <p:spPr>
          <a:xfrm>
            <a:off x="2841110" y="3999364"/>
            <a:ext cx="3656771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SA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ASCI White supercomputer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SA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Lawrence Livermore National Laboratory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SA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 #1 in 2007, 7.9 TFLOPS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056406" y="577969"/>
            <a:ext cx="776378" cy="153405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6"/>
          <p:cNvCxnSpPr>
            <a:stCxn id="178" idx="3"/>
          </p:cNvCxnSpPr>
          <p:nvPr/>
        </p:nvCxnSpPr>
        <p:spPr>
          <a:xfrm flipH="1">
            <a:off x="5024504" y="708908"/>
            <a:ext cx="2145600" cy="2090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16"/>
          <p:cNvSpPr txBox="1"/>
          <p:nvPr/>
        </p:nvSpPr>
        <p:spPr>
          <a:xfrm>
            <a:off x="155021" y="2930379"/>
            <a:ext cx="281625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SA"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NVIDIA H100: </a:t>
            </a:r>
            <a:r>
              <a:rPr lang="en-SA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offers up to 30 TFLOPs of FP64 performance, which is over  3x the FP64 performance of the A100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SA"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GB200 Grace Blackwell Superchip: </a:t>
            </a:r>
            <a:r>
              <a:rPr lang="en-SA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Provides 90 TFLOPS of FP64 performance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913" y="207238"/>
            <a:ext cx="2730677" cy="184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1"/>
          <p:cNvPicPr preferRelativeResize="0"/>
          <p:nvPr/>
        </p:nvPicPr>
        <p:blipFill rotWithShape="1">
          <a:blip r:embed="rId4">
            <a:alphaModFix/>
          </a:blip>
          <a:srcRect l="28719" r="28536"/>
          <a:stretch/>
        </p:blipFill>
        <p:spPr>
          <a:xfrm>
            <a:off x="5643950" y="372300"/>
            <a:ext cx="2342788" cy="197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/>
          <p:nvPr/>
        </p:nvSpPr>
        <p:spPr>
          <a:xfrm>
            <a:off x="4164738" y="818863"/>
            <a:ext cx="814500" cy="7752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 txBox="1">
            <a:spLocks noGrp="1"/>
          </p:cNvSpPr>
          <p:nvPr>
            <p:ph type="body" idx="4294967295"/>
          </p:nvPr>
        </p:nvSpPr>
        <p:spPr>
          <a:xfrm>
            <a:off x="311700" y="2367275"/>
            <a:ext cx="8426100" cy="18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b="1">
                <a:latin typeface="Roboto"/>
                <a:ea typeface="Roboto"/>
                <a:cs typeface="Roboto"/>
                <a:sym typeface="Roboto"/>
              </a:rPr>
              <a:t>NVIDIA CUDA:</a:t>
            </a:r>
            <a:r>
              <a:rPr lang="en-SA">
                <a:latin typeface="Roboto"/>
                <a:ea typeface="Roboto"/>
                <a:cs typeface="Roboto"/>
                <a:sym typeface="Roboto"/>
              </a:rPr>
              <a:t> CUDA.jl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b="1">
                <a:latin typeface="Roboto"/>
                <a:ea typeface="Roboto"/>
                <a:cs typeface="Roboto"/>
                <a:sym typeface="Roboto"/>
              </a:rPr>
              <a:t>AMD ROCm</a:t>
            </a:r>
            <a:r>
              <a:rPr lang="en-SA">
                <a:latin typeface="Roboto"/>
                <a:ea typeface="Roboto"/>
                <a:cs typeface="Roboto"/>
                <a:sym typeface="Roboto"/>
              </a:rPr>
              <a:t>: AMDGPU.jl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b="1">
                <a:latin typeface="Roboto"/>
                <a:ea typeface="Roboto"/>
                <a:cs typeface="Roboto"/>
                <a:sym typeface="Roboto"/>
              </a:rPr>
              <a:t>Intel oneAPI</a:t>
            </a:r>
            <a:r>
              <a:rPr lang="en-SA">
                <a:latin typeface="Roboto"/>
                <a:ea typeface="Roboto"/>
                <a:cs typeface="Roboto"/>
                <a:sym typeface="Roboto"/>
              </a:rPr>
              <a:t>: oneAPI.jl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>
                <a:latin typeface="Roboto"/>
                <a:ea typeface="Roboto"/>
                <a:cs typeface="Roboto"/>
                <a:sym typeface="Roboto"/>
              </a:rPr>
              <a:t>Performance portability layer: KernelAbstractions.jl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311700" y="2513125"/>
            <a:ext cx="3229800" cy="447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solidFill>
                  <a:schemeClr val="lt1"/>
                </a:solidFill>
              </a:rPr>
              <a:t>Installation</a:t>
            </a:r>
            <a:endParaRPr/>
          </a:p>
        </p:txBody>
      </p:sp>
      <p:sp>
        <p:nvSpPr>
          <p:cNvPr id="196" name="Google Shape;196;p12"/>
          <p:cNvSpPr txBox="1">
            <a:spLocks noGrp="1"/>
          </p:cNvSpPr>
          <p:nvPr>
            <p:ph type="body" idx="1"/>
          </p:nvPr>
        </p:nvSpPr>
        <p:spPr>
          <a:xfrm>
            <a:off x="311700" y="1505250"/>
            <a:ext cx="3703800" cy="21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000" b="1">
                <a:solidFill>
                  <a:srgbClr val="5454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pkg&gt; 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add CUDA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using CUDA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SA" sz="10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CUDA.version()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Downloading artifact: CUDA10.2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Downloading artifact: CUDNN+CUDA10.2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Downloading artifact: CUTENSOR+CUDA10.2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v"10.2.89"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0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CUDA.functional()</a:t>
            </a:r>
            <a:b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7" name="Google Shape;197;p12"/>
          <p:cNvSpPr txBox="1">
            <a:spLocks noGrp="1"/>
          </p:cNvSpPr>
          <p:nvPr>
            <p:ph type="body" idx="1"/>
          </p:nvPr>
        </p:nvSpPr>
        <p:spPr>
          <a:xfrm>
            <a:off x="4015425" y="2371675"/>
            <a:ext cx="4816800" cy="25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Automatic installation of CUDA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lazily, on first use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unless the environment contains </a:t>
            </a:r>
            <a:r>
              <a:rPr lang="en-SA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JULIA_CUDA_USE_BINARYBUILDER=false</a:t>
            </a:r>
            <a:endParaRPr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 need for Requires.jl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1600"/>
              </a:spcAft>
              <a:buSzPts val="1800"/>
              <a:buFont typeface="Roboto"/>
              <a:buChar char="●"/>
            </a:pPr>
            <a:r>
              <a:rPr lang="en-SA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Container-friendly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" name="Google Shape;198;p12"/>
          <p:cNvPicPr preferRelativeResize="0"/>
          <p:nvPr/>
        </p:nvPicPr>
        <p:blipFill rotWithShape="1">
          <a:blip r:embed="rId3">
            <a:alphaModFix/>
          </a:blip>
          <a:srcRect l="11661" t="39831" r="72305" b="39727"/>
          <a:stretch/>
        </p:blipFill>
        <p:spPr>
          <a:xfrm>
            <a:off x="5749750" y="1296140"/>
            <a:ext cx="890274" cy="851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3523" y="1197222"/>
            <a:ext cx="890274" cy="1049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5973" y="1276600"/>
            <a:ext cx="890275" cy="8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latin typeface="Roboto Slab"/>
                <a:ea typeface="Roboto Slab"/>
                <a:cs typeface="Roboto Slab"/>
                <a:sym typeface="Roboto Slab"/>
              </a:rPr>
              <a:t>Array programming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7" name="Google Shape;207;p13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4260300" cy="20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}(undef,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0.0  0.0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0.0  0.0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similar(a)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0  0  0</a:t>
            </a:r>
            <a:endParaRPr sz="1100">
              <a:solidFill>
                <a:srgbClr val="626262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4572000" y="1381075"/>
            <a:ext cx="4260300" cy="20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])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1  2  3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b = </a:t>
            </a:r>
            <a:r>
              <a:rPr lang="en-SA" sz="1100">
                <a:solidFill>
                  <a:srgbClr val="AF005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Array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1×3 Array{Int64,2}: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1  2  3</a:t>
            </a:r>
            <a:endParaRPr sz="1100">
              <a:solidFill>
                <a:srgbClr val="008700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9" name="Google Shape;209;p13"/>
          <p:cNvSpPr txBox="1">
            <a:spLocks noGrp="1"/>
          </p:cNvSpPr>
          <p:nvPr>
            <p:ph type="body" idx="1"/>
          </p:nvPr>
        </p:nvSpPr>
        <p:spPr>
          <a:xfrm>
            <a:off x="311700" y="4002000"/>
            <a:ext cx="85206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Goal: API compatibility with </a:t>
            </a:r>
            <a:r>
              <a:rPr lang="en-SA" sz="2000">
                <a:latin typeface="Roboto Mono"/>
                <a:ea typeface="Roboto Mono"/>
                <a:cs typeface="Roboto Mono"/>
                <a:sym typeface="Roboto Mono"/>
              </a:rPr>
              <a:t>Base.Array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30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latin typeface="Roboto Slab"/>
                <a:ea typeface="Roboto Slab"/>
                <a:cs typeface="Roboto Slab"/>
                <a:sym typeface="Roboto Slab"/>
              </a:rPr>
              <a:t>Array programming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42603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CUDA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ones(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2-element CuArray{Float32,1}: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1.0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CUDA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zeros(</a:t>
            </a:r>
            <a:r>
              <a:rPr lang="en-SA" sz="1100">
                <a:solidFill>
                  <a:srgbClr val="AF005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2-element CuArray{Float32,1}: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0.0</a:t>
            </a:r>
            <a:endParaRPr sz="1100">
              <a:solidFill>
                <a:srgbClr val="0087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7" name="Google Shape;217;p14"/>
          <p:cNvSpPr txBox="1">
            <a:spLocks noGrp="1"/>
          </p:cNvSpPr>
          <p:nvPr>
            <p:ph type="body" idx="1"/>
          </p:nvPr>
        </p:nvSpPr>
        <p:spPr>
          <a:xfrm>
            <a:off x="4572000" y="1381075"/>
            <a:ext cx="42603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 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CUDA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fill(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3×4 CuArray{Int64,2}: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42  42  42  42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42  42  42  42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42  42  42  4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100">
              <a:solidFill>
                <a:srgbClr val="626262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rand(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0.73055   0.843176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0.939997  0.61159</a:t>
            </a:r>
            <a:endParaRPr sz="1100">
              <a:solidFill>
                <a:srgbClr val="008700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8" name="Google Shape;218;p14"/>
          <p:cNvSpPr txBox="1">
            <a:spLocks noGrp="1"/>
          </p:cNvSpPr>
          <p:nvPr>
            <p:ph type="body" idx="1"/>
          </p:nvPr>
        </p:nvSpPr>
        <p:spPr>
          <a:xfrm>
            <a:off x="311700" y="4002000"/>
            <a:ext cx="85206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Goal: API compatibility with</a:t>
            </a:r>
            <a:r>
              <a:rPr lang="en-SA" sz="2000"/>
              <a:t> </a:t>
            </a:r>
            <a:r>
              <a:rPr lang="en-SA" sz="2000">
                <a:latin typeface="Roboto Mono"/>
                <a:ea typeface="Roboto Mono"/>
                <a:cs typeface="Roboto Mono"/>
                <a:sym typeface="Roboto Mono"/>
              </a:rPr>
              <a:t>Base.Array</a:t>
            </a:r>
            <a:endParaRPr sz="20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9" name="Google Shape;2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solidFill>
                  <a:schemeClr val="lt1"/>
                </a:solidFill>
              </a:rPr>
              <a:t>Array programming</a:t>
            </a:r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4260300" cy="3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a =</a:t>
            </a:r>
            <a:r>
              <a:rPr lang="en-SA" sz="1100">
                <a:solidFill>
                  <a:srgbClr val="AF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CuArray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AF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}(undef, (2,2));</a:t>
            </a:r>
            <a:endParaRPr sz="110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 b="1">
                <a:highlight>
                  <a:srgbClr val="FFFFFF"/>
                </a:highlight>
              </a:rPr>
              <a:t>CURAND</a:t>
            </a:r>
            <a:br>
              <a:rPr lang="en-SA" sz="1100">
                <a:highlight>
                  <a:srgbClr val="FFFFFF"/>
                </a:highlight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rand!(a)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0.73055   0.843176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0.939997  0.61159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SA" sz="1100" b="1">
                <a:highlight>
                  <a:srgbClr val="FFFFFF"/>
                </a:highlight>
              </a:rPr>
              <a:t>CUBLAS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1.32629  1.13166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1.26161  1.16663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 b="1">
                <a:highlight>
                  <a:schemeClr val="lt1"/>
                </a:highlight>
              </a:rPr>
              <a:t>CUSOLVER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LinearAlgebra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qr!(a)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CuQR{Float32,CuArray{Float32,2}}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with factors Q and R: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Float32[-0.613648 -0.78958; -0.78958 0.613648]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Float32[-1.1905 -1.00031; 0.0 -0.290454]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6" name="Google Shape;226;p15"/>
          <p:cNvSpPr txBox="1">
            <a:spLocks noGrp="1"/>
          </p:cNvSpPr>
          <p:nvPr>
            <p:ph type="body" idx="1"/>
          </p:nvPr>
        </p:nvSpPr>
        <p:spPr>
          <a:xfrm>
            <a:off x="4572000" y="1381075"/>
            <a:ext cx="4260300" cy="3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100" b="1">
                <a:highlight>
                  <a:schemeClr val="lt1"/>
                </a:highlight>
              </a:rPr>
              <a:t>CUFFT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CUFFT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plan_fft(a) </a:t>
            </a:r>
            <a:r>
              <a:rPr lang="en-SA" sz="1100">
                <a:solidFill>
                  <a:srgbClr val="626262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a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2-element </a:t>
            </a: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Complex</a:t>
            </a: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Float32</a:t>
            </a:r>
            <a: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},1}:</a:t>
            </a:r>
            <a:br>
              <a:rPr lang="en-SA" sz="1100">
                <a:solidFill>
                  <a:srgbClr val="0000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-1.99196+0.0im   0.589576+0.0im</a:t>
            </a:r>
            <a:br>
              <a:rPr lang="en-SA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-2.38968+0.0im  -0.969958+0.0im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SA" sz="1100" b="1">
                <a:highlight>
                  <a:srgbClr val="FFFFFF"/>
                </a:highlight>
              </a:rPr>
              <a:t>CUDNN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softmax(real(ans))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CuArray{Float32,2}: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0.15712  0.32963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0.84288  0.67037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A" sz="1100" b="1">
                <a:highlight>
                  <a:schemeClr val="lt1"/>
                </a:highlight>
              </a:rPr>
              <a:t>CUSPARSE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sparse(a)</a:t>
            </a:r>
            <a:br>
              <a:rPr lang="en-SA" sz="1100">
                <a:solidFill>
                  <a:schemeClr val="dk1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2×2 CuSparseMatrixCSR{Float32,Int32}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with 4 stored entries: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[1, 1]  =  -1.1905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[2, 1]  =  0.489313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[1, 2]  =  -1.00031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[2, 2]  =  -0.290454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>
                <a:solidFill>
                  <a:schemeClr val="lt1"/>
                </a:solidFill>
              </a:rPr>
              <a:t>Array programming</a:t>
            </a:r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4260300" cy="26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])</a:t>
            </a: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b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AF005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CuArray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])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map(a) </a:t>
            </a:r>
            <a:r>
              <a:rPr lang="en-SA" sz="1100" b="1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x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x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b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en-SA" sz="1100" b="1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br>
              <a:rPr lang="en-SA" sz="1100" b="1">
                <a:solidFill>
                  <a:srgbClr val="0087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2  3  4</a:t>
            </a:r>
            <a:endParaRPr sz="1100">
              <a:solidFill>
                <a:srgbClr val="626262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9  12  15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572000" y="1381075"/>
            <a:ext cx="4260300" cy="26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SA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reduce(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a)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accumulate(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b; dims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1×3 CuArray{Int64,2}:</a:t>
            </a:r>
            <a:b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4  9  15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SA" sz="1100">
                <a:solidFill>
                  <a:srgbClr val="008700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julia&gt;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findfirst(isequal(</a:t>
            </a:r>
            <a:r>
              <a:rPr lang="en-SA" sz="1100">
                <a:solidFill>
                  <a:srgbClr val="626262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), a)</a:t>
            </a:r>
            <a:br>
              <a:rPr lang="en-SA" sz="11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SA" sz="1100">
                <a:solidFill>
                  <a:srgbClr val="000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CartesianIndex(1, 2)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5" name="Google Shape;235;p17"/>
          <p:cNvSpPr txBox="1">
            <a:spLocks noGrp="1"/>
          </p:cNvSpPr>
          <p:nvPr>
            <p:ph type="body" idx="1"/>
          </p:nvPr>
        </p:nvSpPr>
        <p:spPr>
          <a:xfrm>
            <a:off x="311700" y="4002000"/>
            <a:ext cx="85206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Powerful array language: obviates need for custom kernels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marL="0" lvl="0" indent="285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SA" sz="2000">
                <a:latin typeface="Roboto"/>
                <a:ea typeface="Roboto"/>
                <a:cs typeface="Roboto"/>
                <a:sym typeface="Roboto"/>
              </a:rPr>
              <a:t>makes it possible to write generic code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33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311700" y="24043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Vector Addition Example</a:t>
            </a:r>
            <a:endParaRPr/>
          </a:p>
        </p:txBody>
      </p:sp>
      <p:pic>
        <p:nvPicPr>
          <p:cNvPr id="242" name="Google Shape;242;p22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96351" y="1452099"/>
            <a:ext cx="3637800" cy="2677616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vector_size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1024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rand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SA" sz="1400" b="0" i="0" u="none" strike="noStrike" cap="non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vector_size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rand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SA" sz="1400" b="0" i="0" u="none" strike="noStrike" cap="non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vector_size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zeros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vector_size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vadd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SA" sz="1400" b="0" i="0" u="sng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Thread.@threads</a:t>
            </a: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for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SA" sz="14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vector_size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c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    return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1321590" y="998482"/>
            <a:ext cx="142539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code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3974100" y="1526525"/>
            <a:ext cx="5099700" cy="24621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db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dc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CUDA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size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vadd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SA" sz="13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3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threadIdx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lang="en-SA" sz="13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4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@cuda </a:t>
            </a:r>
            <a:r>
              <a:rPr lang="en-SA" sz="14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threads=length(a) vadd(dc, da, db)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5466836" y="969777"/>
            <a:ext cx="248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SA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 (CUDA) kernel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22"/>
          <p:cNvCxnSpPr/>
          <p:nvPr/>
        </p:nvCxnSpPr>
        <p:spPr>
          <a:xfrm>
            <a:off x="2681225" y="3007722"/>
            <a:ext cx="17493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8" name="Google Shape;24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34</a:t>
            </a:fld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239240" y="4103959"/>
            <a:ext cx="33361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SA" sz="2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Notice: only local index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3390253" y="4578903"/>
            <a:ext cx="52854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A" sz="2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Any Ideas what is the limitation here?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>
            <a:spLocks noGrp="1"/>
          </p:cNvSpPr>
          <p:nvPr>
            <p:ph type="title"/>
          </p:nvPr>
        </p:nvSpPr>
        <p:spPr>
          <a:xfrm>
            <a:off x="186724" y="177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SA"/>
              <a:t>Enhanced GPU Vector Addition</a:t>
            </a:r>
            <a:endParaRPr/>
          </a:p>
        </p:txBody>
      </p:sp>
      <p:pic>
        <p:nvPicPr>
          <p:cNvPr id="256" name="Google Shape;256;p19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 txBox="1"/>
          <p:nvPr/>
        </p:nvSpPr>
        <p:spPr>
          <a:xfrm>
            <a:off x="1458882" y="2972828"/>
            <a:ext cx="6084917" cy="20928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300" b="0" i="0" u="none" strike="noStrike" cap="non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db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300" b="0" i="0" u="none" strike="noStrike" cap="non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CuArray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dc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CUDA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zeros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300" b="0" i="0" u="none" strike="noStrike" cap="none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size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vadd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threadIdx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blockIdx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300" b="0" i="0" u="none" strike="noStrike" cap="none">
                <a:solidFill>
                  <a:srgbClr val="00666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blockDim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SA" sz="1300" b="0" i="0" u="none" strike="noStrike" cap="non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SA" sz="13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sz="13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SA" sz="1300" b="0" i="0" u="none" strike="noStrike" cap="none">
                <a:solidFill>
                  <a:srgbClr val="92D050"/>
                </a:solidFill>
                <a:latin typeface="Consolas"/>
                <a:ea typeface="Consolas"/>
                <a:cs typeface="Consolas"/>
                <a:sym typeface="Consolas"/>
              </a:rPr>
              <a:t>@cuda </a:t>
            </a:r>
            <a:r>
              <a:rPr lang="en-SA" sz="13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threads=1024 blocks=cld(length(da),1024) vadd(dc, da, db)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158795" y="872770"/>
            <a:ext cx="7716578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SA" sz="1600" b="0" i="0" u="none" strike="noStrike" cap="none">
                <a:solidFill>
                  <a:srgbClr val="92D050"/>
                </a:solidFill>
                <a:latin typeface="Roboto"/>
                <a:ea typeface="Roboto"/>
                <a:cs typeface="Roboto"/>
                <a:sym typeface="Roboto"/>
              </a:rPr>
              <a:t>threadIdx().x + (blockIdx().x - 1) * blockDim().x = </a:t>
            </a:r>
            <a:r>
              <a:rPr lang="en-SA" sz="1600" b="0" i="0" u="none" strike="noStrike" cap="non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 + (3-1) * 256 = 515</a:t>
            </a:r>
            <a:r>
              <a:rPr lang="en-SA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SA"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Gets the global index of the thread in a multidimensional grid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9" name="Google Shape;259;p19"/>
          <p:cNvGraphicFramePr/>
          <p:nvPr/>
        </p:nvGraphicFramePr>
        <p:xfrm>
          <a:off x="186724" y="2268858"/>
          <a:ext cx="1699825" cy="21337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…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256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0" name="Google Shape;260;p19"/>
          <p:cNvGraphicFramePr/>
          <p:nvPr/>
        </p:nvGraphicFramePr>
        <p:xfrm>
          <a:off x="2254556" y="2274569"/>
          <a:ext cx="1699825" cy="21337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…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256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1" name="Google Shape;261;p19"/>
          <p:cNvGraphicFramePr/>
          <p:nvPr/>
        </p:nvGraphicFramePr>
        <p:xfrm>
          <a:off x="4322389" y="2264944"/>
          <a:ext cx="1699825" cy="21337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>
                          <a:solidFill>
                            <a:srgbClr val="FF0000"/>
                          </a:solidFill>
                        </a:rPr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…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256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2" name="Google Shape;262;p19"/>
          <p:cNvGraphicFramePr/>
          <p:nvPr/>
        </p:nvGraphicFramePr>
        <p:xfrm>
          <a:off x="6812017" y="2260519"/>
          <a:ext cx="1699825" cy="213370"/>
        </p:xfrm>
        <a:graphic>
          <a:graphicData uri="http://schemas.openxmlformats.org/drawingml/2006/table">
            <a:tbl>
              <a:tblPr>
                <a:noFill/>
                <a:tableStyleId>{D0E68DB2-7450-404F-9B94-63E3EFBFD2DD}</a:tableStyleId>
              </a:tblPr>
              <a:tblGrid>
                <a:gridCol w="3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…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SA" sz="800" u="none" strike="noStrike" cap="none"/>
                        <a:t>256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3" name="Google Shape;263;p19"/>
          <p:cNvSpPr txBox="1"/>
          <p:nvPr/>
        </p:nvSpPr>
        <p:spPr>
          <a:xfrm>
            <a:off x="6237168" y="2174441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149213" y="2617916"/>
            <a:ext cx="17748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blockIdx().x = 1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2226669" y="2616311"/>
            <a:ext cx="17748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blockIdx().x = 2</a:t>
            </a:r>
            <a:endParaRPr sz="14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4294497" y="2624331"/>
            <a:ext cx="177484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rgbClr val="00717D"/>
                </a:solidFill>
                <a:latin typeface="Consolas"/>
                <a:ea typeface="Consolas"/>
                <a:cs typeface="Consolas"/>
                <a:sym typeface="Consolas"/>
              </a:rPr>
              <a:t>blockIdx().x = 3</a:t>
            </a:r>
            <a:endParaRPr sz="1400" b="0" i="0" u="none" strike="noStrike" cap="none">
              <a:solidFill>
                <a:srgbClr val="007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6801220" y="2614706"/>
            <a:ext cx="20730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SA" sz="14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blockIdx().x = 2048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9"/>
          <p:cNvSpPr/>
          <p:nvPr/>
        </p:nvSpPr>
        <p:spPr>
          <a:xfrm rot="-5400000">
            <a:off x="945842" y="1839193"/>
            <a:ext cx="162225" cy="1488192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DA7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9"/>
          <p:cNvSpPr/>
          <p:nvPr/>
        </p:nvSpPr>
        <p:spPr>
          <a:xfrm rot="-5400000">
            <a:off x="2984795" y="1847214"/>
            <a:ext cx="162225" cy="1488192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/>
          <p:nvPr/>
        </p:nvSpPr>
        <p:spPr>
          <a:xfrm rot="-5400000">
            <a:off x="5071877" y="1835982"/>
            <a:ext cx="162225" cy="1488192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0071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/>
          <p:nvPr/>
        </p:nvSpPr>
        <p:spPr>
          <a:xfrm rot="-5400000">
            <a:off x="7535952" y="1835984"/>
            <a:ext cx="162225" cy="1488192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/>
          <p:nvPr/>
        </p:nvSpPr>
        <p:spPr>
          <a:xfrm rot="5400000">
            <a:off x="4208748" y="-2424150"/>
            <a:ext cx="307777" cy="8426851"/>
          </a:xfrm>
          <a:prstGeom prst="leftBrace">
            <a:avLst>
              <a:gd name="adj1" fmla="val 8333"/>
              <a:gd name="adj2" fmla="val 4977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368990" y="1972989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SA" sz="12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sz="12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2436820" y="1971385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SA" sz="1200" b="0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sz="12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4514273" y="1989031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SA" sz="1200" b="0" i="0" u="none" strike="noStrike" cap="none">
                <a:solidFill>
                  <a:srgbClr val="00717D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sz="1200" b="0" i="0" u="none" strike="noStrike" cap="none">
              <a:solidFill>
                <a:srgbClr val="0071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6995993" y="1977800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SA" sz="1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threadIdx().x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3630465" y="1385511"/>
            <a:ext cx="17668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SA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gridDim().x = 2048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1" descr="Julia (programming language)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6409" y="121786"/>
            <a:ext cx="890867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>
            <a:spLocks noGrp="1"/>
          </p:cNvSpPr>
          <p:nvPr>
            <p:ph type="sldNum" idx="12"/>
          </p:nvPr>
        </p:nvSpPr>
        <p:spPr>
          <a:xfrm>
            <a:off x="8456702" y="459557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SA"/>
              <a:t>36</a:t>
            </a:fld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207575" y="840225"/>
            <a:ext cx="8430900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SA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Notebook: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SA" sz="18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https://github.com/Rabab53/mit-parallel-computing-course/blob/main/Introduction_to_julia_gpu/gpu_introduction.ipynb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liaLab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2284</Words>
  <Application>Microsoft Macintosh PowerPoint</Application>
  <PresentationFormat>On-screen Show (16:9)</PresentationFormat>
  <Paragraphs>368</Paragraphs>
  <Slides>36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Noto Sans Symbols</vt:lpstr>
      <vt:lpstr>Roboto Mono</vt:lpstr>
      <vt:lpstr>Roboto Slab</vt:lpstr>
      <vt:lpstr>Consolas</vt:lpstr>
      <vt:lpstr>Times New Roman</vt:lpstr>
      <vt:lpstr>Roboto</vt:lpstr>
      <vt:lpstr>JuliaLab</vt:lpstr>
      <vt:lpstr>GPU Acceleration </vt:lpstr>
      <vt:lpstr>Typical old fashioned CPU (central processing unit)</vt:lpstr>
      <vt:lpstr>Typical old fashioned CPU (central processing unit)</vt:lpstr>
      <vt:lpstr>Typical old fashioned CPU (central processing unit)</vt:lpstr>
      <vt:lpstr>Typical old fashioned CPU (central processing unit)</vt:lpstr>
      <vt:lpstr>Modern Memory is hierarchical</vt:lpstr>
      <vt:lpstr>These days a single core has a lot of  parallelism!</vt:lpstr>
      <vt:lpstr>These days a single  core has a lot of   parallelism!</vt:lpstr>
      <vt:lpstr>Lion Cove</vt:lpstr>
      <vt:lpstr>What is the GPU (graphics processing unit) difference</vt:lpstr>
      <vt:lpstr>What is the GPU (graphics processing unit) difference</vt:lpstr>
      <vt:lpstr>What to call each of these processing elements?</vt:lpstr>
      <vt:lpstr>NVIDIA architectures and products</vt:lpstr>
      <vt:lpstr>An Ampere Streaming Multiprocessor</vt:lpstr>
      <vt:lpstr>Wait if there are 16 FP32s and 32 threads in a warp, how does that work out?</vt:lpstr>
      <vt:lpstr>An Ampere Streaming Multiprocessor</vt:lpstr>
      <vt:lpstr>Overview of  NVIDIA Ampere GPU Architecture</vt:lpstr>
      <vt:lpstr>Overview of NVIDIA HOPPER GPU Architecture</vt:lpstr>
      <vt:lpstr>Streaming multiprocessor (SM)</vt:lpstr>
      <vt:lpstr>Streaming multiprocessor (SM)</vt:lpstr>
      <vt:lpstr>How to program a GPU</vt:lpstr>
      <vt:lpstr> Mapping Software to Hardware </vt:lpstr>
      <vt:lpstr>Memory Hierarchy </vt:lpstr>
      <vt:lpstr>SIMT Programming model</vt:lpstr>
      <vt:lpstr>Existing GPUs and their Software</vt:lpstr>
      <vt:lpstr>Typical Execution Dataflow</vt:lpstr>
      <vt:lpstr>NVIDIA Ampere A100</vt:lpstr>
      <vt:lpstr>PowerPoint Presentation</vt:lpstr>
      <vt:lpstr>Installation</vt:lpstr>
      <vt:lpstr>Array programming</vt:lpstr>
      <vt:lpstr>Array programming</vt:lpstr>
      <vt:lpstr>Array programming</vt:lpstr>
      <vt:lpstr>Array programming</vt:lpstr>
      <vt:lpstr>Vector Addition Example</vt:lpstr>
      <vt:lpstr>Enhanced GPU Vector Addition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Alan Edelman</cp:lastModifiedBy>
  <cp:revision>7</cp:revision>
  <dcterms:modified xsi:type="dcterms:W3CDTF">2026-04-01T16:04:25Z</dcterms:modified>
</cp:coreProperties>
</file>